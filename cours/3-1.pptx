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3"/>
    <p:sldId id="259" r:id="rId4"/>
    <p:sldId id="260" r:id="rId5"/>
    <p:sldId id="312" r:id="rId6"/>
    <p:sldId id="313" r:id="rId7"/>
    <p:sldId id="314" r:id="rId8"/>
    <p:sldId id="280" r:id="rId9"/>
    <p:sldId id="298" r:id="rId10"/>
    <p:sldId id="315" r:id="rId11"/>
    <p:sldId id="282" r:id="rId12"/>
    <p:sldId id="258" r:id="rId13"/>
    <p:sldId id="293" r:id="rId14"/>
    <p:sldId id="294" r:id="rId15"/>
    <p:sldId id="295" r:id="rId16"/>
    <p:sldId id="296" r:id="rId17"/>
    <p:sldId id="297" r:id="rId18"/>
    <p:sldId id="290" r:id="rId20"/>
    <p:sldId id="261" r:id="rId21"/>
    <p:sldId id="288" r:id="rId22"/>
    <p:sldId id="289" r:id="rId23"/>
    <p:sldId id="264" r:id="rId24"/>
    <p:sldId id="286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-1324" y="-76"/>
      </p:cViewPr>
      <p:guideLst>
        <p:guide orient="horz" pos="2165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3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173157"/>
            <a:ext cx="103632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6955" y="2643182"/>
            <a:ext cx="8893821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924181"/>
            <a:ext cx="103632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28747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843" y="1071546"/>
            <a:ext cx="6815667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72111" y="1071546"/>
            <a:ext cx="4011084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7" y="285728"/>
            <a:ext cx="10974657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32" y="642918"/>
            <a:ext cx="1047757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90563" y="541340"/>
            <a:ext cx="8553459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29773" y="1000108"/>
            <a:ext cx="1219157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25024" y="274639"/>
            <a:ext cx="2057376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820173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2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8890412" y="4915143"/>
            <a:ext cx="3301588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6096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12192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microsoft.com/office/2007/relationships/media" Target="../media/media3.mp3"/><Relationship Id="rId1" Type="http://schemas.openxmlformats.org/officeDocument/2006/relationships/audio" Target="../media/media3.mp3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microsoft.com/office/2007/relationships/media" Target="../media/media3.mp3"/><Relationship Id="rId1" Type="http://schemas.openxmlformats.org/officeDocument/2006/relationships/audio" Target="../media/media3.mp3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microsoft.com/office/2007/relationships/media" Target="../media/media4.mp3"/><Relationship Id="rId1" Type="http://schemas.openxmlformats.org/officeDocument/2006/relationships/audio" Target="../media/media4.mp3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61963"/>
            <a:ext cx="10972800" cy="768350"/>
          </a:xfrm>
        </p:spPr>
        <p:txBody>
          <a:bodyPr>
            <a:spAutoFit/>
          </a:bodyPr>
          <a:lstStyle/>
          <a:p>
            <a:r>
              <a:rPr lang="en-US" altLang="zh-CN" dirty="0" smtClean="0"/>
              <a:t>3 </a:t>
            </a:r>
            <a:r>
              <a:rPr lang="zh-CN" altLang="en-US" dirty="0" smtClean="0"/>
              <a:t>你叫什么名字（nǐ jiào shén me mínɡ z</a:t>
            </a:r>
            <a:r>
              <a:rPr lang="en-US" altLang="zh-CN" dirty="0" smtClean="0"/>
              <a:t>i</a:t>
            </a:r>
            <a:r>
              <a:rPr lang="zh-CN" altLang="en-US" dirty="0" smtClean="0"/>
              <a:t>）？</a:t>
            </a:r>
            <a:endParaRPr lang="zh-CN" altLang="en-US" dirty="0"/>
          </a:p>
        </p:txBody>
      </p:sp>
      <p:pic>
        <p:nvPicPr>
          <p:cNvPr id="4" name="内容占位符 3" descr="timg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85135" y="1730375"/>
            <a:ext cx="6974205" cy="4110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4224338" y="2349500"/>
            <a:ext cx="567055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6000" b="1" dirty="0">
                <a:latin typeface="宋体" panose="02010600030101010101" pitchFamily="2" charset="-122"/>
              </a:rPr>
              <a:t>j</a:t>
            </a:r>
            <a:endParaRPr lang="en-US" altLang="zh-CN" sz="6000" b="1" dirty="0" smtClean="0">
              <a:latin typeface="宋体" panose="02010600030101010101" pitchFamily="2" charset="-122"/>
            </a:endParaRPr>
          </a:p>
        </p:txBody>
      </p:sp>
      <p:sp>
        <p:nvSpPr>
          <p:cNvPr id="50187" name="Text Box 11"/>
          <p:cNvSpPr txBox="1">
            <a:spLocks noChangeArrowheads="1"/>
          </p:cNvSpPr>
          <p:nvPr/>
        </p:nvSpPr>
        <p:spPr bwMode="auto">
          <a:xfrm>
            <a:off x="6384290" y="2123440"/>
            <a:ext cx="567055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6000" b="1" dirty="0" smtClean="0">
                <a:latin typeface="宋体" panose="02010600030101010101" pitchFamily="2" charset="-122"/>
              </a:rPr>
              <a:t>q</a:t>
            </a:r>
            <a:endParaRPr lang="en-US" altLang="zh-CN" sz="6000" b="1" dirty="0">
              <a:latin typeface="宋体" panose="02010600030101010101" pitchFamily="2" charset="-122"/>
            </a:endParaRPr>
          </a:p>
        </p:txBody>
      </p:sp>
      <p:sp>
        <p:nvSpPr>
          <p:cNvPr id="50188" name="Text Box 12"/>
          <p:cNvSpPr txBox="1">
            <a:spLocks noChangeArrowheads="1"/>
          </p:cNvSpPr>
          <p:nvPr/>
        </p:nvSpPr>
        <p:spPr bwMode="auto">
          <a:xfrm>
            <a:off x="8533130" y="2123440"/>
            <a:ext cx="567055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6000" b="1" dirty="0">
                <a:latin typeface="宋体" panose="02010600030101010101" pitchFamily="2" charset="-122"/>
              </a:rPr>
              <a:t>x</a:t>
            </a:r>
            <a:endParaRPr lang="en-US" altLang="zh-CN" sz="6000" b="1" dirty="0">
              <a:latin typeface="宋体" panose="02010600030101010101" pitchFamily="2" charset="-122"/>
            </a:endParaRPr>
          </a:p>
        </p:txBody>
      </p:sp>
      <p:sp>
        <p:nvSpPr>
          <p:cNvPr id="25" name="Google Shape;221;p28"/>
          <p:cNvSpPr/>
          <p:nvPr/>
        </p:nvSpPr>
        <p:spPr>
          <a:xfrm>
            <a:off x="-22860" y="212725"/>
            <a:ext cx="3231515" cy="64198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lvl="0"/>
            <a:r>
              <a:rPr lang="zh-CN" altLang="en-US" sz="40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声母  </a:t>
            </a:r>
            <a:r>
              <a:rPr lang="en-US" altLang="zh-CN" sz="4000" dirty="0"/>
              <a:t>Initials</a:t>
            </a:r>
            <a:endParaRPr lang="en-US" altLang="zh-CN" sz="40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5" name="3-6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395585" y="854710"/>
            <a:ext cx="713740" cy="638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5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50186" grpId="0"/>
      <p:bldP spid="50187" grpId="0"/>
      <p:bldP spid="5018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33375"/>
            <a:ext cx="7696200" cy="575945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endParaRPr lang="en-US" altLang="zh-CN" dirty="0" smtClean="0"/>
          </a:p>
          <a:p>
            <a:pPr eaLnBrk="1" hangingPunct="1">
              <a:buFontTx/>
              <a:buNone/>
            </a:pPr>
            <a:endParaRPr lang="en-US" altLang="zh-CN" dirty="0" smtClean="0"/>
          </a:p>
          <a:p>
            <a:pPr eaLnBrk="1" hangingPunct="1">
              <a:buFontTx/>
              <a:buNone/>
            </a:pPr>
            <a:endParaRPr lang="en-US" altLang="zh-CN" dirty="0" smtClean="0"/>
          </a:p>
          <a:p>
            <a:pPr eaLnBrk="1" hangingPunct="1">
              <a:buFontTx/>
              <a:buNone/>
            </a:pPr>
            <a:endParaRPr lang="en-US" altLang="zh-CN" dirty="0" smtClean="0"/>
          </a:p>
          <a:p>
            <a:pPr eaLnBrk="1" hangingPunct="1">
              <a:buFontTx/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dirty="0" smtClean="0"/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2024034" y="1000108"/>
            <a:ext cx="1143008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60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ia</a:t>
            </a:r>
            <a:endParaRPr lang="en-US" altLang="zh-CN" sz="6000" b="1" dirty="0" err="1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3441999" y="1000425"/>
            <a:ext cx="107157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60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ie</a:t>
            </a:r>
            <a:endParaRPr lang="en-US" altLang="zh-CN" sz="6000" b="1" dirty="0" err="1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4667240" y="928670"/>
            <a:ext cx="1571636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60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iao</a:t>
            </a:r>
            <a:endParaRPr lang="en-US" altLang="zh-CN" sz="6000" b="1" dirty="0" err="1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6453796" y="1000114"/>
            <a:ext cx="2872105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60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iou</a:t>
            </a:r>
            <a:r>
              <a:rPr lang="en-US" altLang="zh-CN" sz="6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60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iu</a:t>
            </a:r>
            <a:r>
              <a:rPr lang="en-US" altLang="zh-CN" sz="6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60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8141" name="Text Box 13"/>
          <p:cNvSpPr txBox="1">
            <a:spLocks noChangeArrowheads="1"/>
          </p:cNvSpPr>
          <p:nvPr/>
        </p:nvSpPr>
        <p:spPr bwMode="auto">
          <a:xfrm>
            <a:off x="2023720" y="3817628"/>
            <a:ext cx="95123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60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üe</a:t>
            </a:r>
            <a:endParaRPr lang="en-US" altLang="zh-CN" sz="6000" b="1" dirty="0" err="1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8208" name="Text Box 20"/>
          <p:cNvSpPr txBox="1">
            <a:spLocks noChangeArrowheads="1"/>
          </p:cNvSpPr>
          <p:nvPr/>
        </p:nvSpPr>
        <p:spPr bwMode="auto">
          <a:xfrm>
            <a:off x="7104063" y="3644900"/>
            <a:ext cx="30988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endParaRPr lang="zh-CN" altLang="zh-CN" sz="6000" b="1">
              <a:latin typeface="宋体" panose="02010600030101010101" pitchFamily="2" charset="-122"/>
            </a:endParaRPr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4047161" y="3817311"/>
            <a:ext cx="1335405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60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üan</a:t>
            </a:r>
            <a:endParaRPr lang="en-US" altLang="zh-CN" sz="6000" b="1" dirty="0" err="1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1924342" y="2372678"/>
            <a:ext cx="171958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60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iang</a:t>
            </a:r>
            <a:endParaRPr lang="en-US" altLang="zh-CN" sz="6000" b="1" dirty="0" err="1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4593582" y="2303463"/>
            <a:ext cx="171958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60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iong</a:t>
            </a:r>
            <a:endParaRPr lang="en-US" altLang="zh-CN" sz="6000" b="1" dirty="0" err="1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10088562" y="928359"/>
            <a:ext cx="1335405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60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ian</a:t>
            </a:r>
            <a:endParaRPr lang="en-US" altLang="zh-CN" sz="6000" b="1" dirty="0" err="1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6528755" y="3817629"/>
            <a:ext cx="95123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60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ün</a:t>
            </a:r>
            <a:endParaRPr lang="en-US" altLang="zh-CN" sz="6000" b="1" dirty="0" err="1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4" name="3-7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535920" y="405130"/>
            <a:ext cx="1049020" cy="594995"/>
          </a:xfrm>
          <a:prstGeom prst="rect">
            <a:avLst/>
          </a:prstGeom>
        </p:spPr>
      </p:pic>
      <p:sp>
        <p:nvSpPr>
          <p:cNvPr id="28" name="Google Shape;221;p28"/>
          <p:cNvSpPr/>
          <p:nvPr/>
        </p:nvSpPr>
        <p:spPr>
          <a:xfrm>
            <a:off x="-4273" y="245787"/>
            <a:ext cx="2483357" cy="512484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lvl="0"/>
            <a:r>
              <a:rPr lang="zh-CN" altLang="en-US" sz="32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韵母 </a:t>
            </a:r>
            <a:r>
              <a:rPr lang="en-US" altLang="zh-CN" sz="3200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F</a:t>
            </a:r>
            <a:r>
              <a:rPr lang="en-US" altLang="zh-CN" sz="3200" dirty="0"/>
              <a:t>inals</a:t>
            </a:r>
            <a:endParaRPr sz="32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43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48133" grpId="0"/>
      <p:bldP spid="48134" grpId="0"/>
      <p:bldP spid="48135" grpId="0"/>
      <p:bldP spid="48136" grpId="0"/>
      <p:bldP spid="29" grpId="0"/>
      <p:bldP spid="30" grpId="0"/>
      <p:bldP spid="31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760" y="1701165"/>
            <a:ext cx="10575925" cy="3350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470" y="1268730"/>
            <a:ext cx="10401300" cy="3138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3570" y="1557020"/>
            <a:ext cx="10756900" cy="3064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0865" y="1494155"/>
            <a:ext cx="5718810" cy="845185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altLang="zh-CN" sz="3600" u="sng" dirty="0"/>
              <a:t>     </a:t>
            </a:r>
            <a:r>
              <a:rPr lang="en-US" altLang="zh-CN" sz="3600" dirty="0"/>
              <a:t>uǐ          </a:t>
            </a:r>
            <a:r>
              <a:rPr lang="en-US" altLang="zh-CN" sz="3600" u="sng" dirty="0"/>
              <a:t>     </a:t>
            </a:r>
            <a:r>
              <a:rPr lang="en-US" altLang="zh-CN" sz="3600" dirty="0"/>
              <a:t>iè                </a:t>
            </a:r>
            <a:r>
              <a:rPr lang="en-US" altLang="zh-CN" sz="3600" u="sng" dirty="0"/>
              <a:t>     </a:t>
            </a:r>
            <a:r>
              <a:rPr lang="en-US" altLang="zh-CN" sz="3600" dirty="0"/>
              <a:t>āo </a:t>
            </a:r>
            <a:endParaRPr lang="en-US" altLang="zh-CN" sz="3600" dirty="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1840865" y="2900045"/>
            <a:ext cx="5556885" cy="84518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rtlCol="0">
            <a:normAutofit fontScale="90000"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/>
              <a:t> </a:t>
            </a:r>
            <a:r>
              <a:rPr lang="en-US" altLang="zh-CN" sz="3600" u="sng" dirty="0"/>
              <a:t>    </a:t>
            </a:r>
            <a:r>
              <a:rPr lang="en-US" altLang="zh-CN" sz="3600" dirty="0"/>
              <a:t>iǔ           </a:t>
            </a:r>
            <a:r>
              <a:rPr lang="en-US" altLang="zh-CN" sz="3600" u="sng" dirty="0"/>
              <a:t>     </a:t>
            </a:r>
            <a:r>
              <a:rPr lang="en-US" altLang="zh-CN" sz="3600" dirty="0"/>
              <a:t>uān            </a:t>
            </a:r>
            <a:r>
              <a:rPr lang="en-US" altLang="zh-CN" sz="3600" u="sng" dirty="0"/>
              <a:t>     </a:t>
            </a:r>
            <a:r>
              <a:rPr lang="en-US" altLang="zh-CN" sz="3600" dirty="0"/>
              <a:t>ǐng </a:t>
            </a:r>
            <a:endParaRPr lang="en-US" altLang="zh-CN" sz="3600" dirty="0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1840865" y="4208780"/>
            <a:ext cx="5502910" cy="84518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u="sng" dirty="0"/>
              <a:t>     </a:t>
            </a:r>
            <a:r>
              <a:rPr lang="en-US" altLang="zh-CN" sz="3600" dirty="0"/>
              <a:t>ī             </a:t>
            </a:r>
            <a:r>
              <a:rPr lang="en-US" altLang="zh-CN" sz="3600" u="sng" dirty="0"/>
              <a:t>    </a:t>
            </a:r>
            <a:r>
              <a:rPr lang="en-US" altLang="zh-CN" sz="3600" dirty="0"/>
              <a:t>iào         </a:t>
            </a:r>
            <a:r>
              <a:rPr lang="en-US" altLang="zh-CN" sz="3600" u="sng" dirty="0"/>
              <a:t>    </a:t>
            </a:r>
            <a:r>
              <a:rPr lang="en-US" altLang="zh-CN" sz="3600" dirty="0"/>
              <a:t>èn </a:t>
            </a:r>
            <a:endParaRPr lang="en-US" altLang="zh-CN" sz="3600" dirty="0"/>
          </a:p>
        </p:txBody>
      </p:sp>
      <p:sp>
        <p:nvSpPr>
          <p:cNvPr id="2" name="Google Shape;207;p26"/>
          <p:cNvSpPr/>
          <p:nvPr/>
        </p:nvSpPr>
        <p:spPr>
          <a:xfrm>
            <a:off x="0" y="101600"/>
            <a:ext cx="8830945" cy="9677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listen and write down the missing initials</a:t>
            </a:r>
            <a:endParaRPr lang="en-US" sz="32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4" name="3-4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932670" y="243840"/>
            <a:ext cx="1454150" cy="1156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39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uiExpand="1" build="p"/>
      <p:bldP spid="5" grpId="0" uiExpand="1" build="p"/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0865" y="1494155"/>
            <a:ext cx="5718810" cy="845185"/>
          </a:xfrm>
          <a:ln>
            <a:solidFill>
              <a:schemeClr val="accent1"/>
            </a:solidFill>
          </a:ln>
        </p:spPr>
        <p:txBody>
          <a:bodyPr>
            <a:normAutofit fontScale="80000"/>
          </a:bodyPr>
          <a:lstStyle/>
          <a:p>
            <a:r>
              <a:rPr lang="en-US" altLang="zh-CN" sz="3600" u="sng" dirty="0"/>
              <a:t>   </a:t>
            </a:r>
            <a:r>
              <a:rPr lang="en-US" altLang="zh-CN" sz="3600" u="sng" dirty="0">
                <a:solidFill>
                  <a:srgbClr val="FF0000"/>
                </a:solidFill>
              </a:rPr>
              <a:t>sh</a:t>
            </a:r>
            <a:r>
              <a:rPr lang="en-US" altLang="zh-CN" sz="3600" u="sng" dirty="0"/>
              <a:t>  </a:t>
            </a:r>
            <a:r>
              <a:rPr lang="en-US" altLang="zh-CN" sz="3600" dirty="0"/>
              <a:t>uǐ          </a:t>
            </a:r>
            <a:r>
              <a:rPr lang="en-US" altLang="zh-CN" sz="3600" u="sng" dirty="0"/>
              <a:t> </a:t>
            </a:r>
            <a:r>
              <a:rPr lang="en-US" altLang="zh-CN" sz="3600" u="sng" dirty="0">
                <a:solidFill>
                  <a:srgbClr val="FF0000"/>
                </a:solidFill>
              </a:rPr>
              <a:t>x </a:t>
            </a:r>
            <a:r>
              <a:rPr lang="en-US" altLang="zh-CN" sz="3600" u="sng" dirty="0"/>
              <a:t> </a:t>
            </a:r>
            <a:r>
              <a:rPr lang="en-US" altLang="zh-CN" sz="3600" dirty="0"/>
              <a:t>iè                </a:t>
            </a:r>
            <a:r>
              <a:rPr lang="en-US" altLang="zh-CN" sz="3600" u="sng" dirty="0"/>
              <a:t>  </a:t>
            </a:r>
            <a:r>
              <a:rPr lang="en-US" altLang="zh-CN" sz="3600" u="sng" dirty="0">
                <a:solidFill>
                  <a:srgbClr val="FF0000"/>
                </a:solidFill>
              </a:rPr>
              <a:t> b</a:t>
            </a:r>
            <a:r>
              <a:rPr lang="en-US" altLang="zh-CN" sz="3600" u="sng" dirty="0"/>
              <a:t>  </a:t>
            </a:r>
            <a:r>
              <a:rPr lang="en-US" altLang="zh-CN" sz="3600" dirty="0"/>
              <a:t>āo </a:t>
            </a:r>
            <a:endParaRPr lang="en-US" altLang="zh-CN" sz="3600" dirty="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1840865" y="2900045"/>
            <a:ext cx="5556885" cy="84518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rtlCol="0">
            <a:normAutofit fontScale="80000"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/>
              <a:t> </a:t>
            </a:r>
            <a:r>
              <a:rPr lang="en-US" altLang="zh-CN" sz="3600" u="sng" dirty="0"/>
              <a:t> </a:t>
            </a:r>
            <a:r>
              <a:rPr lang="en-US" altLang="zh-CN" sz="3600" u="sng" dirty="0">
                <a:solidFill>
                  <a:srgbClr val="FF0000"/>
                </a:solidFill>
              </a:rPr>
              <a:t> j</a:t>
            </a:r>
            <a:r>
              <a:rPr lang="en-US" altLang="zh-CN" sz="3600" u="sng" dirty="0"/>
              <a:t>  </a:t>
            </a:r>
            <a:r>
              <a:rPr lang="en-US" altLang="zh-CN" sz="3600" dirty="0"/>
              <a:t>iǔ           </a:t>
            </a:r>
            <a:r>
              <a:rPr lang="en-US" altLang="zh-CN" sz="3600" u="sng" dirty="0"/>
              <a:t>   </a:t>
            </a:r>
            <a:r>
              <a:rPr lang="en-US" altLang="zh-CN" sz="3600" u="sng" dirty="0">
                <a:solidFill>
                  <a:srgbClr val="FF0000"/>
                </a:solidFill>
              </a:rPr>
              <a:t>q</a:t>
            </a:r>
            <a:r>
              <a:rPr lang="en-US" altLang="zh-CN" sz="3600" u="sng" dirty="0"/>
              <a:t>  </a:t>
            </a:r>
            <a:r>
              <a:rPr lang="en-US" altLang="zh-CN" sz="3600" dirty="0"/>
              <a:t>uān            </a:t>
            </a:r>
            <a:r>
              <a:rPr lang="en-US" altLang="zh-CN" sz="3600" u="sng" dirty="0"/>
              <a:t>   </a:t>
            </a:r>
            <a:r>
              <a:rPr lang="en-US" altLang="zh-CN" sz="3600" u="sng" dirty="0">
                <a:solidFill>
                  <a:srgbClr val="FF0000"/>
                </a:solidFill>
              </a:rPr>
              <a:t>l</a:t>
            </a:r>
            <a:r>
              <a:rPr lang="en-US" altLang="zh-CN" sz="3600" u="sng" dirty="0"/>
              <a:t>  </a:t>
            </a:r>
            <a:r>
              <a:rPr lang="en-US" altLang="zh-CN" sz="3600" dirty="0"/>
              <a:t>ǐng </a:t>
            </a:r>
            <a:endParaRPr lang="en-US" altLang="zh-CN" sz="3600" dirty="0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1840865" y="4208780"/>
            <a:ext cx="5502910" cy="84518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rtlCol="0">
            <a:normAutofit fontScale="80000"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u="sng" dirty="0"/>
              <a:t>   </a:t>
            </a:r>
            <a:r>
              <a:rPr lang="en-US" altLang="zh-CN" sz="3600" u="sng" dirty="0">
                <a:solidFill>
                  <a:srgbClr val="FF0000"/>
                </a:solidFill>
              </a:rPr>
              <a:t>m</a:t>
            </a:r>
            <a:r>
              <a:rPr lang="en-US" altLang="zh-CN" sz="3600" u="sng" dirty="0"/>
              <a:t>  </a:t>
            </a:r>
            <a:r>
              <a:rPr lang="en-US" altLang="zh-CN" sz="3600" dirty="0"/>
              <a:t>ī             </a:t>
            </a:r>
            <a:r>
              <a:rPr lang="en-US" altLang="zh-CN" sz="3600" u="sng" dirty="0"/>
              <a:t> </a:t>
            </a:r>
            <a:r>
              <a:rPr lang="en-US" altLang="zh-CN" sz="3600" u="sng" dirty="0">
                <a:solidFill>
                  <a:srgbClr val="FF0000"/>
                </a:solidFill>
              </a:rPr>
              <a:t>t </a:t>
            </a:r>
            <a:r>
              <a:rPr lang="en-US" altLang="zh-CN" sz="3600" u="sng" dirty="0"/>
              <a:t> </a:t>
            </a:r>
            <a:r>
              <a:rPr lang="en-US" altLang="zh-CN" sz="3600" dirty="0"/>
              <a:t>iào         </a:t>
            </a:r>
            <a:r>
              <a:rPr lang="en-US" altLang="zh-CN" sz="3600" u="sng" dirty="0"/>
              <a:t>   </a:t>
            </a:r>
            <a:r>
              <a:rPr lang="en-US" altLang="zh-CN" sz="3600" u="sng" dirty="0">
                <a:solidFill>
                  <a:srgbClr val="FF0000"/>
                </a:solidFill>
              </a:rPr>
              <a:t>zh</a:t>
            </a:r>
            <a:r>
              <a:rPr lang="en-US" altLang="zh-CN" sz="3600" u="sng" dirty="0"/>
              <a:t> </a:t>
            </a:r>
            <a:r>
              <a:rPr lang="en-US" altLang="zh-CN" sz="3600" dirty="0"/>
              <a:t>èn </a:t>
            </a:r>
            <a:endParaRPr lang="en-US" altLang="zh-CN" sz="3600" dirty="0"/>
          </a:p>
        </p:txBody>
      </p:sp>
      <p:sp>
        <p:nvSpPr>
          <p:cNvPr id="2" name="Google Shape;207;p26"/>
          <p:cNvSpPr/>
          <p:nvPr/>
        </p:nvSpPr>
        <p:spPr>
          <a:xfrm>
            <a:off x="0" y="101600"/>
            <a:ext cx="8830945" cy="9677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listen and write down the missing initials</a:t>
            </a:r>
            <a:endParaRPr lang="en-US" sz="32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4" name="3-4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932670" y="243840"/>
            <a:ext cx="1454150" cy="1156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39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uiExpand="1" build="p"/>
      <p:bldP spid="5" grpId="0" uiExpand="1" build="p"/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9425" y="1628775"/>
            <a:ext cx="10297795" cy="29489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" name="Google Shape;171;p21"/>
          <p:cNvSpPr/>
          <p:nvPr/>
        </p:nvSpPr>
        <p:spPr>
          <a:xfrm>
            <a:off x="0" y="0"/>
            <a:ext cx="3047365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文一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O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ne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3785" y="1422400"/>
            <a:ext cx="10572115" cy="396938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fontAlgn="auto">
              <a:lnSpc>
                <a:spcPts val="3780"/>
              </a:lnSpc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New Words</a:t>
            </a:r>
            <a:r>
              <a:rPr lang="en-US" altLang="zh-CN" sz="2400" dirty="0"/>
              <a:t>:</a:t>
            </a:r>
            <a:endParaRPr lang="en-US" altLang="zh-CN" sz="2400" dirty="0"/>
          </a:p>
          <a:p>
            <a:pPr fontAlgn="auto">
              <a:lnSpc>
                <a:spcPts val="3780"/>
              </a:lnSpc>
            </a:pPr>
            <a:r>
              <a:rPr lang="en-US" altLang="zh-CN" sz="3200" dirty="0"/>
              <a:t>1.  </a:t>
            </a:r>
            <a:r>
              <a:rPr lang="zh-CN" altLang="en-US" sz="3200" dirty="0"/>
              <a:t>请问      </a:t>
            </a:r>
            <a:r>
              <a:rPr lang="en-US" altLang="zh-CN" sz="3200" dirty="0"/>
              <a:t>qǐng wèn         v.      excuse me,may I ask </a:t>
            </a:r>
            <a:endParaRPr lang="en-US" altLang="zh-CN" sz="3200" dirty="0"/>
          </a:p>
          <a:p>
            <a:pPr fontAlgn="auto">
              <a:lnSpc>
                <a:spcPts val="3780"/>
              </a:lnSpc>
            </a:pPr>
            <a:r>
              <a:rPr lang="en-US" altLang="zh-CN" sz="3200" dirty="0"/>
              <a:t>       </a:t>
            </a:r>
            <a:r>
              <a:rPr lang="zh-CN" altLang="en-US" sz="3200" dirty="0"/>
              <a:t>请       </a:t>
            </a:r>
            <a:r>
              <a:rPr lang="en-US" altLang="zh-CN" sz="3200" dirty="0"/>
              <a:t>   </a:t>
            </a:r>
            <a:r>
              <a:rPr lang="en-US" altLang="zh-CN" sz="3200" dirty="0">
                <a:sym typeface="+mn-ea"/>
              </a:rPr>
              <a:t>qǐng                 v.     please</a:t>
            </a:r>
            <a:endParaRPr lang="en-US" altLang="zh-CN" sz="3200" dirty="0">
              <a:sym typeface="+mn-ea"/>
            </a:endParaRPr>
          </a:p>
          <a:p>
            <a:pPr fontAlgn="auto">
              <a:lnSpc>
                <a:spcPts val="3780"/>
              </a:lnSpc>
            </a:pPr>
            <a:r>
              <a:rPr lang="en-US" altLang="zh-CN" sz="3200" dirty="0">
                <a:sym typeface="+mn-ea"/>
              </a:rPr>
              <a:t>        </a:t>
            </a:r>
            <a:r>
              <a:rPr lang="zh-CN" altLang="en-US" sz="3200" dirty="0">
                <a:sym typeface="+mn-ea"/>
              </a:rPr>
              <a:t>问         </a:t>
            </a:r>
            <a:r>
              <a:rPr lang="en-US" altLang="zh-CN" sz="3200" dirty="0">
                <a:sym typeface="+mn-ea"/>
              </a:rPr>
              <a:t>wèn                 v.     ask</a:t>
            </a:r>
            <a:endParaRPr lang="en-US" altLang="zh-CN" sz="3200" dirty="0"/>
          </a:p>
          <a:p>
            <a:pPr fontAlgn="auto">
              <a:lnSpc>
                <a:spcPts val="3780"/>
              </a:lnSpc>
            </a:pPr>
            <a:r>
              <a:rPr lang="en-US" altLang="zh-CN" sz="3200" dirty="0"/>
              <a:t> 2.  </a:t>
            </a:r>
            <a:r>
              <a:rPr lang="zh-CN" altLang="en-US" sz="3200" dirty="0"/>
              <a:t>叫           </a:t>
            </a:r>
            <a:r>
              <a:rPr lang="en-US" altLang="zh-CN" sz="3200" dirty="0"/>
              <a:t>jiào                  v.    call                    </a:t>
            </a:r>
            <a:endParaRPr lang="en-US" altLang="zh-CN" sz="3200" dirty="0"/>
          </a:p>
          <a:p>
            <a:pPr fontAlgn="auto">
              <a:lnSpc>
                <a:spcPts val="3780"/>
              </a:lnSpc>
            </a:pPr>
            <a:r>
              <a:rPr lang="en-US" altLang="zh-CN" sz="3200" dirty="0"/>
              <a:t>3.   </a:t>
            </a:r>
            <a:r>
              <a:rPr lang="zh-CN" altLang="en-US" sz="3200" dirty="0"/>
              <a:t>什么      </a:t>
            </a:r>
            <a:r>
              <a:rPr lang="en-US" altLang="zh-CN" sz="3200" dirty="0"/>
              <a:t>shén me       pron.  what</a:t>
            </a:r>
            <a:endParaRPr lang="en-US" altLang="zh-CN" sz="3200" dirty="0"/>
          </a:p>
          <a:p>
            <a:pPr fontAlgn="auto">
              <a:lnSpc>
                <a:spcPts val="3780"/>
              </a:lnSpc>
            </a:pPr>
            <a:r>
              <a:rPr lang="en-US" altLang="zh-CN" sz="3200" dirty="0"/>
              <a:t> 4.  </a:t>
            </a:r>
            <a:r>
              <a:rPr lang="zh-CN" altLang="en-US" sz="3200" dirty="0"/>
              <a:t>名字      </a:t>
            </a:r>
            <a:r>
              <a:rPr lang="en-US" altLang="zh-CN" sz="3200" dirty="0"/>
              <a:t>míng zi            n.     name, given or personal name </a:t>
            </a:r>
            <a:endParaRPr lang="en-US" altLang="zh-CN" sz="3200" dirty="0"/>
          </a:p>
          <a:p>
            <a:pPr fontAlgn="auto">
              <a:lnSpc>
                <a:spcPts val="3780"/>
              </a:lnSpc>
            </a:pPr>
            <a:endParaRPr lang="en-US" altLang="zh-CN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33855" y="1297940"/>
            <a:ext cx="9259570" cy="3114675"/>
          </a:xfrm>
          <a:solidFill>
            <a:schemeClr val="tx2">
              <a:lumMod val="10000"/>
              <a:lumOff val="90000"/>
            </a:schemeClr>
          </a:solidFill>
        </p:spPr>
        <p:txBody>
          <a:bodyPr>
            <a:normAutofit/>
          </a:bodyPr>
          <a:lstStyle/>
          <a:p>
            <a:pPr fontAlgn="auto">
              <a:lnSpc>
                <a:spcPts val="3780"/>
              </a:lnSpc>
            </a:pPr>
            <a:r>
              <a:rPr lang="en-US" altLang="zh-CN" dirty="0">
                <a:sym typeface="+mn-ea"/>
              </a:rPr>
              <a:t>5.   </a:t>
            </a:r>
            <a:r>
              <a:rPr lang="zh-CN" altLang="en-US" dirty="0">
                <a:sym typeface="+mn-ea"/>
              </a:rPr>
              <a:t>姓           </a:t>
            </a:r>
            <a:r>
              <a:rPr lang="en-US" altLang="zh-CN" dirty="0">
                <a:sym typeface="+mn-ea"/>
              </a:rPr>
              <a:t>xìng                 v.      be surnamed</a:t>
            </a:r>
            <a:endParaRPr lang="en-US" altLang="zh-CN" dirty="0"/>
          </a:p>
          <a:p>
            <a:pPr fontAlgn="auto">
              <a:lnSpc>
                <a:spcPts val="3780"/>
              </a:lnSpc>
            </a:pPr>
            <a:r>
              <a:rPr lang="en-US" altLang="zh-CN" dirty="0">
                <a:sym typeface="+mn-ea"/>
              </a:rPr>
              <a:t> 6.   </a:t>
            </a:r>
            <a:r>
              <a:rPr lang="zh-CN" altLang="en-US" dirty="0">
                <a:sym typeface="+mn-ea"/>
              </a:rPr>
              <a:t>认识      </a:t>
            </a:r>
            <a:r>
              <a:rPr lang="en-US" altLang="zh-CN" dirty="0">
                <a:sym typeface="+mn-ea"/>
              </a:rPr>
              <a:t>rèn shi             v.    know,recognize</a:t>
            </a:r>
            <a:endParaRPr lang="en-US" altLang="zh-CN" dirty="0"/>
          </a:p>
          <a:p>
            <a:pPr fontAlgn="auto">
              <a:lnSpc>
                <a:spcPts val="3780"/>
              </a:lnSpc>
            </a:pPr>
            <a:r>
              <a:rPr lang="en-US" altLang="zh-CN" dirty="0">
                <a:sym typeface="+mn-ea"/>
              </a:rPr>
              <a:t> 7.    </a:t>
            </a:r>
            <a:r>
              <a:rPr lang="zh-CN" altLang="en-US" dirty="0">
                <a:sym typeface="+mn-ea"/>
              </a:rPr>
              <a:t>很           </a:t>
            </a:r>
            <a:r>
              <a:rPr lang="en-US" altLang="zh-CN" dirty="0">
                <a:sym typeface="+mn-ea"/>
              </a:rPr>
              <a:t>hěn               </a:t>
            </a:r>
            <a:r>
              <a:rPr lang="en-US" altLang="zh-CN" dirty="0">
                <a:sym typeface="+mn-ea"/>
              </a:rPr>
              <a:t>adv.    very, very much               </a:t>
            </a:r>
            <a:endParaRPr lang="en-US" altLang="zh-CN" dirty="0"/>
          </a:p>
          <a:p>
            <a:pPr fontAlgn="auto">
              <a:lnSpc>
                <a:spcPts val="3780"/>
              </a:lnSpc>
            </a:pPr>
            <a:r>
              <a:rPr lang="en-US" altLang="zh-CN" dirty="0">
                <a:sym typeface="+mn-ea"/>
              </a:rPr>
              <a:t> 8.   </a:t>
            </a:r>
            <a:r>
              <a:rPr lang="zh-CN" altLang="en-US" dirty="0">
                <a:sym typeface="+mn-ea"/>
              </a:rPr>
              <a:t>高兴      </a:t>
            </a:r>
            <a:r>
              <a:rPr lang="en-US" altLang="zh-CN" dirty="0">
                <a:sym typeface="+mn-ea"/>
              </a:rPr>
              <a:t>gāo xìng        adj.   glad,happy</a:t>
            </a:r>
            <a:endParaRPr lang="en-US" altLang="zh-CN" dirty="0"/>
          </a:p>
          <a:p>
            <a:pPr fontAlgn="auto">
              <a:lnSpc>
                <a:spcPts val="3780"/>
              </a:lnSpc>
            </a:pPr>
            <a:r>
              <a:rPr lang="en-US" altLang="zh-CN" dirty="0">
                <a:sym typeface="+mn-ea"/>
              </a:rPr>
              <a:t>9.     </a:t>
            </a:r>
            <a:r>
              <a:rPr lang="zh-CN" altLang="en-US" dirty="0">
                <a:sym typeface="+mn-ea"/>
              </a:rPr>
              <a:t>也            </a:t>
            </a:r>
            <a:r>
              <a:rPr lang="en-US" altLang="zh-CN" dirty="0">
                <a:sym typeface="+mn-ea"/>
              </a:rPr>
              <a:t>yě                  adv.   also,too,as well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71" name="Google Shape;171;p21"/>
          <p:cNvSpPr/>
          <p:nvPr/>
        </p:nvSpPr>
        <p:spPr>
          <a:xfrm>
            <a:off x="0" y="0"/>
            <a:ext cx="3047365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文一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O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ne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40530" y="4966335"/>
            <a:ext cx="7646035" cy="11068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altLang="zh-CN" sz="2400" dirty="0"/>
              <a:t>Proper Names:</a:t>
            </a:r>
            <a:endParaRPr lang="en-US" altLang="zh-CN" sz="2400" dirty="0"/>
          </a:p>
          <a:p>
            <a:pPr indent="0">
              <a:lnSpc>
                <a:spcPct val="150000"/>
              </a:lnSpc>
              <a:buNone/>
            </a:pPr>
            <a:r>
              <a:rPr lang="en-US" sz="2400" dirty="0" smtClean="0">
                <a:sym typeface="+mn-ea"/>
              </a:rPr>
              <a:t>     </a:t>
            </a:r>
            <a:r>
              <a:rPr lang="zh-CN" altLang="en-US" sz="2800" dirty="0" smtClean="0">
                <a:sym typeface="+mn-ea"/>
              </a:rPr>
              <a:t>山田佑</a:t>
            </a:r>
            <a:r>
              <a:rPr lang="en-US" sz="2400" dirty="0" smtClean="0">
                <a:sym typeface="+mn-ea"/>
              </a:rPr>
              <a:t>   </a:t>
            </a:r>
            <a:r>
              <a:rPr lang="en-US" sz="2400" smtClean="0">
                <a:sym typeface="+mn-ea"/>
              </a:rPr>
              <a:t>Shān tián Yòu</a:t>
            </a:r>
            <a:r>
              <a:rPr lang="en-US" sz="2400" dirty="0" smtClean="0">
                <a:sym typeface="+mn-ea"/>
              </a:rPr>
              <a:t>      name of a Japanese student</a:t>
            </a:r>
            <a:endParaRPr lang="en-US" altLang="zh-CN" sz="2400" dirty="0">
              <a:ea typeface="方正楷体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07540" y="1270000"/>
            <a:ext cx="864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请问（qǐnɡ wèn ）   </a:t>
            </a:r>
            <a:r>
              <a:rPr lang="en-US" altLang="zh-CN" sz="3200" dirty="0">
                <a:sym typeface="+mn-ea"/>
              </a:rPr>
              <a:t>excuse me,may I ask </a:t>
            </a: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2063750" y="2708910"/>
            <a:ext cx="4493260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</a:t>
            </a:r>
            <a:r>
              <a:rPr lang="zh-CN" altLang="en-US" sz="2800"/>
              <a:t>  </a:t>
            </a:r>
            <a:r>
              <a:rPr lang="zh-CN" altLang="en-US" sz="3600">
                <a:solidFill>
                  <a:schemeClr val="accent6"/>
                </a:solidFill>
              </a:rPr>
              <a:t>你   叫   什么  名字？</a:t>
            </a:r>
            <a:endParaRPr lang="zh-CN" altLang="en-US" sz="3600"/>
          </a:p>
          <a:p>
            <a:r>
              <a:rPr lang="zh-CN" altLang="en-US" sz="2800"/>
              <a:t>（nǐ jiào shén me mínɡ z</a:t>
            </a:r>
            <a:r>
              <a:rPr lang="en-US" altLang="zh-CN" sz="2800"/>
              <a:t>i</a:t>
            </a:r>
            <a:r>
              <a:rPr lang="zh-CN" altLang="en-US" sz="2800"/>
              <a:t>）</a:t>
            </a:r>
            <a:endParaRPr lang="zh-CN" altLang="en-US" sz="2800"/>
          </a:p>
          <a:p>
            <a:r>
              <a:rPr lang="en-US" altLang="zh-CN" sz="2800"/>
              <a:t>   What's your name?</a:t>
            </a:r>
            <a:endParaRPr lang="en-US" altLang="zh-CN" sz="2800"/>
          </a:p>
        </p:txBody>
      </p:sp>
      <p:sp>
        <p:nvSpPr>
          <p:cNvPr id="4" name="文本框 3"/>
          <p:cNvSpPr txBox="1"/>
          <p:nvPr/>
        </p:nvSpPr>
        <p:spPr>
          <a:xfrm>
            <a:off x="2252345" y="4687570"/>
            <a:ext cx="63392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     </a:t>
            </a:r>
            <a:r>
              <a:rPr lang="zh-CN" altLang="en-US" sz="3200">
                <a:solidFill>
                  <a:schemeClr val="accent6"/>
                </a:solidFill>
              </a:rPr>
              <a:t>我 叫       马丁。</a:t>
            </a:r>
            <a:endParaRPr lang="zh-CN" altLang="en-US" sz="3200">
              <a:solidFill>
                <a:schemeClr val="accent6"/>
              </a:solidFill>
            </a:endParaRPr>
          </a:p>
          <a:p>
            <a:r>
              <a:rPr lang="zh-CN" altLang="en-US" sz="3200"/>
              <a:t>（wǒ jiào mǎ dīnɡ）</a:t>
            </a:r>
            <a:endParaRPr lang="zh-CN" altLang="en-US" sz="3200"/>
          </a:p>
          <a:p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30755" y="1765935"/>
            <a:ext cx="55314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   </a:t>
            </a:r>
            <a:r>
              <a:rPr lang="zh-CN" altLang="en-US" sz="3600"/>
              <a:t>你  姓      什么？</a:t>
            </a:r>
            <a:endParaRPr lang="zh-CN" altLang="en-US" sz="3600"/>
          </a:p>
          <a:p>
            <a:r>
              <a:rPr lang="zh-CN" altLang="en-US" sz="3600"/>
              <a:t>（nǐ xìnɡ shén me ）</a:t>
            </a:r>
            <a:endParaRPr lang="zh-CN" altLang="en-US" sz="3600"/>
          </a:p>
          <a:p>
            <a:r>
              <a:rPr lang="zh-CN" altLang="en-US" sz="3600"/>
              <a:t>What's your </a:t>
            </a:r>
            <a:r>
              <a:rPr lang="en-US" altLang="zh-CN" sz="3600"/>
              <a:t>surname</a:t>
            </a:r>
            <a:r>
              <a:rPr lang="zh-CN" altLang="en-US" sz="3600"/>
              <a:t> ?</a:t>
            </a:r>
            <a:endParaRPr lang="zh-CN" altLang="en-US" sz="3600"/>
          </a:p>
        </p:txBody>
      </p:sp>
      <p:sp>
        <p:nvSpPr>
          <p:cNvPr id="3" name="文本框 2"/>
          <p:cNvSpPr txBox="1"/>
          <p:nvPr/>
        </p:nvSpPr>
        <p:spPr>
          <a:xfrm>
            <a:off x="2166620" y="979170"/>
            <a:ext cx="641921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姓（xìnɡ ）</a:t>
            </a:r>
            <a:r>
              <a:rPr lang="en-US" altLang="zh-CN" sz="3200" dirty="0">
                <a:sym typeface="+mn-ea"/>
              </a:rPr>
              <a:t>v.      be surnamed</a:t>
            </a:r>
            <a:endParaRPr lang="en-US" altLang="zh-CN" sz="3200" dirty="0"/>
          </a:p>
          <a:p>
            <a:endParaRPr lang="zh-CN" altLang="en-US" sz="3200"/>
          </a:p>
        </p:txBody>
      </p:sp>
      <p:sp>
        <p:nvSpPr>
          <p:cNvPr id="4" name="文本框 3"/>
          <p:cNvSpPr txBox="1"/>
          <p:nvPr/>
        </p:nvSpPr>
        <p:spPr>
          <a:xfrm>
            <a:off x="2336165" y="3703955"/>
            <a:ext cx="41757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   </a:t>
            </a:r>
            <a:r>
              <a:rPr lang="zh-CN" altLang="en-US" sz="3600"/>
              <a:t>我   姓  李。</a:t>
            </a:r>
            <a:endParaRPr lang="zh-CN" altLang="en-US" sz="3600"/>
          </a:p>
          <a:p>
            <a:r>
              <a:rPr lang="zh-CN" altLang="en-US" sz="3600"/>
              <a:t>（wǒ xìnɡ lǐ ）</a:t>
            </a:r>
            <a:endParaRPr lang="zh-CN" altLang="en-US" sz="3600"/>
          </a:p>
          <a:p>
            <a:r>
              <a:rPr lang="zh-CN" altLang="en-US" sz="3600"/>
              <a:t>my surname is li。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43505" y="1265555"/>
            <a:ext cx="6316345" cy="575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fontAlgn="auto">
              <a:lnSpc>
                <a:spcPts val="3780"/>
              </a:lnSpc>
            </a:pPr>
            <a:r>
              <a:rPr lang="zh-CN" altLang="en-US" sz="2800" dirty="0">
                <a:sym typeface="+mn-ea"/>
              </a:rPr>
              <a:t>认识      </a:t>
            </a:r>
            <a:r>
              <a:rPr lang="en-US" altLang="zh-CN" sz="2800" dirty="0">
                <a:sym typeface="+mn-ea"/>
              </a:rPr>
              <a:t>rèn shi             v.    know,recognize</a:t>
            </a:r>
            <a:endParaRPr lang="en-US" altLang="zh-CN" sz="28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64765" y="2541905"/>
            <a:ext cx="785177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     </a:t>
            </a:r>
            <a:r>
              <a:rPr lang="zh-CN" altLang="en-US" sz="3200"/>
              <a:t>我  认识  他，   他  是  我  </a:t>
            </a:r>
            <a:r>
              <a:rPr lang="zh-CN" altLang="en-US" sz="3200" u="sng"/>
              <a:t>朋友</a:t>
            </a:r>
            <a:r>
              <a:rPr lang="zh-CN" altLang="en-US" sz="3200"/>
              <a:t>。</a:t>
            </a:r>
            <a:endParaRPr lang="zh-CN" altLang="en-US" sz="3200"/>
          </a:p>
          <a:p>
            <a:r>
              <a:rPr lang="zh-CN" altLang="en-US" sz="3200"/>
              <a:t>（wǒ rèn shi tā， tā shì wǒ </a:t>
            </a:r>
            <a:r>
              <a:rPr lang="zh-CN" altLang="en-US" sz="3200" u="sng"/>
              <a:t>pénɡ y</a:t>
            </a:r>
            <a:r>
              <a:rPr lang="en-US" altLang="zh-CN" sz="3200" u="sng"/>
              <a:t>o</a:t>
            </a:r>
            <a:r>
              <a:rPr lang="zh-CN" altLang="en-US" sz="3200" u="sng"/>
              <a:t>u</a:t>
            </a:r>
            <a:r>
              <a:rPr lang="zh-CN" altLang="en-US" sz="3200"/>
              <a:t> ）</a:t>
            </a:r>
            <a:endParaRPr lang="zh-CN" altLang="en-US" sz="3200"/>
          </a:p>
          <a:p>
            <a:r>
              <a:rPr lang="en-US" altLang="zh-CN" sz="3200"/>
              <a:t>    </a:t>
            </a:r>
            <a:r>
              <a:rPr lang="zh-CN" altLang="en-US" sz="3200"/>
              <a:t>I know him. He's my </a:t>
            </a:r>
            <a:r>
              <a:rPr lang="zh-CN" altLang="en-US" sz="3200">
                <a:solidFill>
                  <a:srgbClr val="FF0000"/>
                </a:solidFill>
              </a:rPr>
              <a:t>friend</a:t>
            </a:r>
            <a:endParaRPr lang="zh-CN" altLang="en-US" sz="3200">
              <a:solidFill>
                <a:srgbClr val="FF0000"/>
              </a:solidFill>
            </a:endParaRPr>
          </a:p>
        </p:txBody>
      </p:sp>
      <p:pic>
        <p:nvPicPr>
          <p:cNvPr id="4" name="图片 3" descr="VCG41N876907502[1]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118090" y="3995420"/>
            <a:ext cx="1701165" cy="2554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885950" y="840740"/>
            <a:ext cx="822452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3600" dirty="0">
                <a:sym typeface="+mn-ea"/>
              </a:rPr>
              <a:t>很           </a:t>
            </a:r>
            <a:r>
              <a:rPr lang="en-US" altLang="zh-CN" sz="3600" dirty="0">
                <a:sym typeface="+mn-ea"/>
              </a:rPr>
              <a:t>hěn               adv.    very, very much</a:t>
            </a:r>
            <a:r>
              <a:rPr lang="en-US" altLang="zh-CN" dirty="0">
                <a:sym typeface="+mn-ea"/>
              </a:rPr>
              <a:t>  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21815" y="2111375"/>
            <a:ext cx="62909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很好（hěn hǎo ）</a:t>
            </a:r>
            <a:r>
              <a:rPr lang="en-US" altLang="zh-CN" sz="3200"/>
              <a:t>very good</a:t>
            </a:r>
            <a:endParaRPr lang="en-US" altLang="zh-CN" sz="3200"/>
          </a:p>
        </p:txBody>
      </p:sp>
      <p:sp>
        <p:nvSpPr>
          <p:cNvPr id="6" name="文本框 5"/>
          <p:cNvSpPr txBox="1"/>
          <p:nvPr/>
        </p:nvSpPr>
        <p:spPr>
          <a:xfrm>
            <a:off x="1885950" y="3277235"/>
            <a:ext cx="6459855" cy="575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fontAlgn="auto">
              <a:lnSpc>
                <a:spcPts val="3780"/>
              </a:lnSpc>
            </a:pPr>
            <a:r>
              <a:rPr lang="zh-CN" altLang="en-US" sz="3200" dirty="0">
                <a:sym typeface="+mn-ea"/>
              </a:rPr>
              <a:t>高兴      </a:t>
            </a:r>
            <a:r>
              <a:rPr lang="en-US" altLang="zh-CN" sz="3200" dirty="0">
                <a:sym typeface="+mn-ea"/>
              </a:rPr>
              <a:t>gāo xìng        adj.   glad,happy</a:t>
            </a:r>
            <a:endParaRPr lang="en-US" altLang="zh-CN" sz="3200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70405" y="4384040"/>
            <a:ext cx="780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很高兴（hěn ɡāo xìnɡ ）</a:t>
            </a:r>
            <a:r>
              <a:rPr lang="en-US" altLang="zh-CN" sz="3200"/>
              <a:t>very  happy</a:t>
            </a:r>
            <a:r>
              <a:rPr lang="zh-CN" altLang="en-US" sz="3200"/>
              <a:t>  </a:t>
            </a:r>
            <a:endParaRPr lang="en-US" altLang="zh-CN" sz="3200"/>
          </a:p>
        </p:txBody>
      </p:sp>
      <p:sp>
        <p:nvSpPr>
          <p:cNvPr id="8" name="文本框 7"/>
          <p:cNvSpPr txBox="1"/>
          <p:nvPr/>
        </p:nvSpPr>
        <p:spPr>
          <a:xfrm>
            <a:off x="2054860" y="5267960"/>
            <a:ext cx="629094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    </a:t>
            </a:r>
            <a:r>
              <a:rPr lang="zh-CN" altLang="en-US" sz="3200"/>
              <a:t>我     很   高兴</a:t>
            </a:r>
            <a:r>
              <a:rPr lang="zh-CN" altLang="en-US" sz="3200">
                <a:sym typeface="+mn-ea"/>
              </a:rPr>
              <a:t>。</a:t>
            </a:r>
            <a:endParaRPr lang="zh-CN" altLang="en-US" sz="3200"/>
          </a:p>
          <a:p>
            <a:r>
              <a:rPr lang="zh-CN" altLang="en-US" sz="3200"/>
              <a:t>（wǒ hěn ɡāo xìnɡ）</a:t>
            </a:r>
            <a:endParaRPr lang="zh-CN" altLang="en-US" sz="3200"/>
          </a:p>
        </p:txBody>
      </p:sp>
      <p:pic>
        <p:nvPicPr>
          <p:cNvPr id="9" name="图片 8" descr="timg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57055" y="4127500"/>
            <a:ext cx="2235200" cy="2420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46655" y="1949450"/>
            <a:ext cx="3332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认识你很高兴</a:t>
            </a:r>
            <a:endParaRPr lang="zh-CN" altLang="en-US" sz="3600"/>
          </a:p>
        </p:txBody>
      </p:sp>
      <p:sp>
        <p:nvSpPr>
          <p:cNvPr id="3" name="文本框 2"/>
          <p:cNvSpPr txBox="1"/>
          <p:nvPr/>
        </p:nvSpPr>
        <p:spPr>
          <a:xfrm>
            <a:off x="2446655" y="2722245"/>
            <a:ext cx="36576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rèn shi nǐ hěn ɡāo xìnɡ</a:t>
            </a:r>
            <a:endParaRPr lang="zh-CN" altLang="en-US" sz="2800"/>
          </a:p>
          <a:p>
            <a:r>
              <a:rPr lang="en-US" altLang="zh-CN" sz="2800"/>
              <a:t>nice to meet you.</a:t>
            </a:r>
            <a:endParaRPr lang="zh-CN" altLang="en-US" sz="2800"/>
          </a:p>
        </p:txBody>
      </p:sp>
      <p:pic>
        <p:nvPicPr>
          <p:cNvPr id="4" name="图片 3" descr="timgY74T7T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4435" y="3675380"/>
            <a:ext cx="3483610" cy="24314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96695" y="4124325"/>
            <a:ext cx="4528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认识你我也</a:t>
            </a:r>
            <a:r>
              <a:rPr lang="zh-CN" altLang="en-US" sz="3600"/>
              <a:t>很高兴</a:t>
            </a:r>
            <a:endParaRPr lang="zh-CN" altLang="en-US" sz="3600"/>
          </a:p>
        </p:txBody>
      </p:sp>
      <p:sp>
        <p:nvSpPr>
          <p:cNvPr id="6" name="文本框 5"/>
          <p:cNvSpPr txBox="1"/>
          <p:nvPr/>
        </p:nvSpPr>
        <p:spPr>
          <a:xfrm>
            <a:off x="1496695" y="4921250"/>
            <a:ext cx="47244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rèn shi nǐ wǒ yě hěn ɡāo xìnɡ </a:t>
            </a:r>
            <a:endParaRPr lang="zh-CN" altLang="en-US" sz="2800"/>
          </a:p>
          <a:p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nice to meet you</a:t>
            </a:r>
            <a:r>
              <a:rPr lang="zh-CN" altLang="en-US" sz="2800">
                <a:sym typeface="+mn-ea"/>
              </a:rPr>
              <a:t>，</a:t>
            </a:r>
            <a:r>
              <a:rPr lang="en-US" altLang="zh-CN" sz="2800">
                <a:sym typeface="+mn-ea"/>
              </a:rPr>
              <a:t>too.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也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63320" y="2089785"/>
            <a:ext cx="9241790" cy="286131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4000" u="sng"/>
              <a:t>马丁</a:t>
            </a:r>
            <a:r>
              <a:rPr lang="en-US" altLang="zh-CN" sz="2000" dirty="0">
                <a:sym typeface="+mn-ea"/>
              </a:rPr>
              <a:t>M</a:t>
            </a:r>
            <a:r>
              <a:rPr sz="2000">
                <a:sym typeface="+mn-ea"/>
              </a:rPr>
              <a:t>ǎ dīng</a:t>
            </a:r>
            <a:r>
              <a:rPr lang="zh-CN" altLang="en-US" sz="4000"/>
              <a:t>很高兴，我</a:t>
            </a:r>
            <a:r>
              <a:rPr lang="zh-CN" altLang="en-US" sz="4000">
                <a:solidFill>
                  <a:srgbClr val="FF0000"/>
                </a:solidFill>
              </a:rPr>
              <a:t>也</a:t>
            </a:r>
            <a:r>
              <a:rPr lang="zh-CN" altLang="en-US" sz="4000"/>
              <a:t>很高兴。</a:t>
            </a:r>
            <a:endParaRPr lang="zh-CN" altLang="en-US" sz="4000"/>
          </a:p>
          <a:p>
            <a:pPr fontAlgn="auto">
              <a:lnSpc>
                <a:spcPct val="150000"/>
              </a:lnSpc>
            </a:pPr>
            <a:r>
              <a:rPr lang="zh-CN" altLang="en-US" sz="4000"/>
              <a:t>他是</a:t>
            </a:r>
            <a:r>
              <a:rPr lang="zh-CN" altLang="en-US" sz="4000" u="sng"/>
              <a:t>日本</a:t>
            </a:r>
            <a:r>
              <a:rPr lang="en-US" altLang="zh-CN" sz="2000" dirty="0" err="1">
                <a:ea typeface="方正楷体简体" panose="03000509000000000000" pitchFamily="65" charset="-122"/>
                <a:sym typeface="+mn-ea"/>
              </a:rPr>
              <a:t>Rì běn</a:t>
            </a:r>
            <a:r>
              <a:rPr lang="en-US" altLang="zh-CN" sz="4000" dirty="0" err="1">
                <a:ea typeface="方正楷体简体" panose="03000509000000000000" pitchFamily="65" charset="-122"/>
                <a:sym typeface="+mn-ea"/>
              </a:rPr>
              <a:t>  </a:t>
            </a:r>
            <a:r>
              <a:rPr lang="zh-CN" altLang="en-US" sz="4000"/>
              <a:t>人，我</a:t>
            </a:r>
            <a:r>
              <a:rPr lang="zh-CN" altLang="en-US" sz="4000">
                <a:solidFill>
                  <a:srgbClr val="FF0000"/>
                </a:solidFill>
              </a:rPr>
              <a:t>也</a:t>
            </a:r>
            <a:r>
              <a:rPr lang="zh-CN" altLang="en-US" sz="4000"/>
              <a:t>是日本人。</a:t>
            </a:r>
            <a:endParaRPr lang="zh-CN" altLang="en-US" sz="4000"/>
          </a:p>
          <a:p>
            <a:pPr fontAlgn="auto">
              <a:lnSpc>
                <a:spcPct val="150000"/>
              </a:lnSpc>
            </a:pPr>
            <a:r>
              <a:rPr lang="zh-CN" altLang="en-US" sz="4000"/>
              <a:t>我是</a:t>
            </a:r>
            <a:r>
              <a:rPr lang="zh-CN" altLang="en-US" sz="4000" u="sng">
                <a:solidFill>
                  <a:schemeClr val="tx1"/>
                </a:solidFill>
              </a:rPr>
              <a:t>老师</a:t>
            </a:r>
            <a:r>
              <a:rPr lang="zh-CN" altLang="en-US">
                <a:sym typeface="+mn-ea"/>
              </a:rPr>
              <a:t>lǎo shī </a:t>
            </a:r>
            <a:r>
              <a:rPr lang="zh-CN" altLang="en-US" sz="4000"/>
              <a:t>，</a:t>
            </a:r>
            <a:r>
              <a:rPr lang="zh-CN" altLang="en-US" sz="4000" u="sng"/>
              <a:t>李一民</a:t>
            </a:r>
            <a:r>
              <a:rPr lang="en-US" altLang="zh-CN" sz="2400" dirty="0">
                <a:sym typeface="+mn-ea"/>
              </a:rPr>
              <a:t>L</a:t>
            </a:r>
            <a:r>
              <a:rPr sz="2400">
                <a:sym typeface="+mn-ea"/>
              </a:rPr>
              <a:t>ǐ </a:t>
            </a:r>
            <a:r>
              <a:rPr lang="en-US" sz="2400">
                <a:sym typeface="+mn-ea"/>
              </a:rPr>
              <a:t>Y</a:t>
            </a:r>
            <a:r>
              <a:rPr sz="2400">
                <a:sym typeface="+mn-ea"/>
              </a:rPr>
              <a:t>īmín</a:t>
            </a:r>
            <a:r>
              <a:rPr lang="zh-CN" altLang="en-US" sz="4000">
                <a:solidFill>
                  <a:srgbClr val="FF0000"/>
                </a:solidFill>
              </a:rPr>
              <a:t>也</a:t>
            </a:r>
            <a:r>
              <a:rPr lang="zh-CN" altLang="en-US" sz="4000"/>
              <a:t>是老师。</a:t>
            </a:r>
            <a:endParaRPr lang="zh-CN" altLang="en-US" sz="3200"/>
          </a:p>
        </p:txBody>
      </p:sp>
      <p:pic>
        <p:nvPicPr>
          <p:cNvPr id="4" name="图片 3" descr="timgGC94BAD9"/>
          <p:cNvPicPr>
            <a:picLocks noChangeAspect="1"/>
          </p:cNvPicPr>
          <p:nvPr/>
        </p:nvPicPr>
        <p:blipFill>
          <a:blip r:embed="rId1"/>
          <a:srcRect l="7262" t="3451" r="6385"/>
          <a:stretch>
            <a:fillRect/>
          </a:stretch>
        </p:blipFill>
        <p:spPr>
          <a:xfrm>
            <a:off x="9240520" y="184785"/>
            <a:ext cx="2439670" cy="2249805"/>
          </a:xfrm>
          <a:prstGeom prst="ellipse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3080" y="1125855"/>
            <a:ext cx="11069320" cy="5000625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山田： 你好！ 请问，你叫什么名字？</a:t>
            </a:r>
            <a:endParaRPr lang="en-US" altLang="zh-CN" dirty="0" smtClean="0"/>
          </a:p>
          <a:p>
            <a:r>
              <a:rPr lang="zh-CN" altLang="en-US" sz="27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shān tián ： nǐ hǎo ！ qǐng wèn ， nǐ jiào shén me míng z</a:t>
            </a:r>
            <a:r>
              <a:rPr lang="en-US" altLang="zh-CN" sz="27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i</a:t>
            </a:r>
            <a:r>
              <a:rPr lang="zh-CN" altLang="en-US" sz="27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？</a:t>
            </a:r>
            <a:endParaRPr lang="zh-CN" altLang="en-US" sz="2700" dirty="0" smtClean="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r>
              <a:rPr lang="zh-CN" altLang="en-US" dirty="0" smtClean="0"/>
              <a:t>林娜：我叫林娜。你呢？</a:t>
            </a:r>
            <a:endParaRPr lang="en-US" altLang="zh-CN" dirty="0" smtClean="0"/>
          </a:p>
          <a:p>
            <a:r>
              <a:rPr lang="zh-CN" altLang="en-US" sz="2700" dirty="0">
                <a:solidFill>
                  <a:schemeClr val="bg2">
                    <a:lumMod val="50000"/>
                  </a:schemeClr>
                </a:solidFill>
                <a:sym typeface="+mn-ea"/>
              </a:rPr>
              <a:t>lín nà ： wǒ jiào lín nà 。 nǐ ne ？</a:t>
            </a:r>
            <a:endParaRPr lang="zh-CN" altLang="en-US" sz="27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en-US" dirty="0" smtClean="0"/>
              <a:t>山田：我姓山田，          叫山田佑。      认识你很高兴。</a:t>
            </a:r>
            <a:endParaRPr lang="en-US" altLang="zh-CN" dirty="0" smtClean="0"/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sym typeface="+mn-ea"/>
              </a:rPr>
              <a:t>shān tián ： wǒ xìng shān tián ， jiào shān tián yòu 。rèn sh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sym typeface="+mn-ea"/>
              </a:rPr>
              <a:t>i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sym typeface="+mn-ea"/>
              </a:rPr>
              <a:t> nǐ hěn gāo xìng 。</a:t>
            </a:r>
            <a:endParaRPr lang="zh-CN" altLang="en-US" dirty="0"/>
          </a:p>
          <a:p>
            <a:r>
              <a:rPr lang="zh-CN" altLang="en-US" dirty="0" smtClean="0"/>
              <a:t>林娜：认识你我也很高兴。</a:t>
            </a:r>
            <a:endParaRPr lang="zh-CN" altLang="en-US" dirty="0" smtClean="0"/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lín nà ： rèn sh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 nǐ wǒ yě hěn gāo xìng 。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0" y="0"/>
            <a:ext cx="3047365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文一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O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ne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2" name="3-9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737725" y="713105"/>
            <a:ext cx="779780" cy="725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600" dirty="0" smtClean="0"/>
              <a:t>A</a:t>
            </a:r>
            <a:r>
              <a:rPr lang="zh-CN" altLang="en-US" sz="3600" dirty="0" smtClean="0"/>
              <a:t>：</a:t>
            </a:r>
            <a:r>
              <a:rPr lang="zh-CN" altLang="en-US" sz="4000" dirty="0" smtClean="0"/>
              <a:t> 你好！ 你叫什么名字？</a:t>
            </a:r>
            <a:endParaRPr lang="en-US" altLang="zh-CN" sz="4000" dirty="0" smtClean="0"/>
          </a:p>
          <a:p>
            <a:r>
              <a:rPr lang="en-US" altLang="zh-CN" sz="3600" dirty="0" smtClean="0"/>
              <a:t>B</a:t>
            </a:r>
            <a:r>
              <a:rPr lang="zh-CN" altLang="en-US" sz="3600" dirty="0" smtClean="0"/>
              <a:t>：我叫</a:t>
            </a:r>
            <a:r>
              <a:rPr lang="en-US" altLang="zh-CN" sz="3600" dirty="0" smtClean="0"/>
              <a:t>……</a:t>
            </a:r>
            <a:r>
              <a:rPr lang="zh-CN" altLang="en-US" sz="3600" dirty="0" smtClean="0"/>
              <a:t>。你呢？</a:t>
            </a:r>
            <a:endParaRPr lang="zh-CN" altLang="en-US" sz="3600" dirty="0" smtClean="0"/>
          </a:p>
          <a:p>
            <a:r>
              <a:rPr lang="en-US" altLang="zh-CN" sz="3600" dirty="0" smtClean="0"/>
              <a:t>A</a:t>
            </a:r>
            <a:r>
              <a:rPr lang="zh-CN" altLang="en-US" sz="3600" dirty="0" smtClean="0"/>
              <a:t>：</a:t>
            </a:r>
            <a:r>
              <a:rPr lang="zh-CN" altLang="en-US" sz="3600" dirty="0" smtClean="0">
                <a:sym typeface="+mn-ea"/>
              </a:rPr>
              <a:t>我叫</a:t>
            </a:r>
            <a:r>
              <a:rPr lang="en-US" altLang="zh-CN" sz="3600" dirty="0" smtClean="0">
                <a:sym typeface="+mn-ea"/>
              </a:rPr>
              <a:t>……</a:t>
            </a:r>
            <a:r>
              <a:rPr lang="zh-CN" altLang="en-US" sz="3600" dirty="0" smtClean="0">
                <a:sym typeface="+mn-ea"/>
              </a:rPr>
              <a:t>。</a:t>
            </a:r>
            <a:endParaRPr lang="zh-CN" altLang="en-US" sz="3600" dirty="0" smtClean="0"/>
          </a:p>
        </p:txBody>
      </p:sp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4400" dirty="0" smtClean="0"/>
              <a:t>A</a:t>
            </a:r>
            <a:r>
              <a:rPr lang="zh-CN" altLang="en-US" sz="4400" dirty="0" smtClean="0"/>
              <a:t>： </a:t>
            </a:r>
            <a:r>
              <a:rPr lang="zh-CN" altLang="en-US" sz="4400" dirty="0" smtClean="0">
                <a:solidFill>
                  <a:srgbClr val="FF0000"/>
                </a:solidFill>
              </a:rPr>
              <a:t>认识</a:t>
            </a:r>
            <a:r>
              <a:rPr lang="zh-CN" altLang="en-US" sz="4400" dirty="0" smtClean="0"/>
              <a:t>你很高兴。</a:t>
            </a:r>
            <a:endParaRPr lang="zh-CN" altLang="en-US" sz="4400" dirty="0" smtClean="0"/>
          </a:p>
          <a:p>
            <a:r>
              <a:rPr lang="en-US" altLang="zh-CN" sz="4400" dirty="0" smtClean="0"/>
              <a:t>B</a:t>
            </a:r>
            <a:r>
              <a:rPr lang="zh-CN" altLang="en-US" sz="4400" dirty="0" smtClean="0"/>
              <a:t>：认识你我也很</a:t>
            </a:r>
            <a:r>
              <a:rPr lang="zh-CN" altLang="en-US" sz="4400" dirty="0" smtClean="0">
                <a:solidFill>
                  <a:srgbClr val="FF0000"/>
                </a:solidFill>
              </a:rPr>
              <a:t>高兴</a:t>
            </a:r>
            <a:r>
              <a:rPr lang="zh-CN" altLang="en-US" sz="4400" dirty="0" smtClean="0"/>
              <a:t>。</a:t>
            </a:r>
            <a:endParaRPr lang="zh-CN" altLang="en-US" sz="4400" dirty="0" smtClean="0"/>
          </a:p>
        </p:txBody>
      </p:sp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timg[3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3870" y="3796665"/>
            <a:ext cx="4291330" cy="21418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</a:t>
            </a:r>
            <a:r>
              <a:rPr lang="zh-CN" altLang="en-US" dirty="0" smtClean="0"/>
              <a:t>： 你好！ 请问，你叫</a:t>
            </a:r>
            <a:r>
              <a:rPr lang="en-US" altLang="zh-CN" dirty="0" smtClean="0"/>
              <a:t>…………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en-US" altLang="zh-CN" dirty="0" smtClean="0"/>
              <a:t>B</a:t>
            </a:r>
            <a:r>
              <a:rPr lang="zh-CN" altLang="en-US" dirty="0" smtClean="0"/>
              <a:t>：我叫</a:t>
            </a:r>
            <a:r>
              <a:rPr lang="en-US" altLang="zh-CN" dirty="0" smtClean="0"/>
              <a:t>……</a:t>
            </a:r>
            <a:r>
              <a:rPr lang="zh-CN" altLang="en-US" dirty="0" smtClean="0"/>
              <a:t>。你呢？</a:t>
            </a:r>
            <a:endParaRPr lang="en-US" altLang="zh-CN" dirty="0" smtClean="0"/>
          </a:p>
          <a:p>
            <a:r>
              <a:rPr lang="en-US" altLang="zh-CN" dirty="0" smtClean="0"/>
              <a:t>A</a:t>
            </a:r>
            <a:r>
              <a:rPr lang="zh-CN" altLang="en-US" dirty="0" smtClean="0"/>
              <a:t>：我叫</a:t>
            </a:r>
            <a:r>
              <a:rPr lang="en-US" altLang="zh-CN" dirty="0" smtClean="0"/>
              <a:t>……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smtClean="0"/>
              <a:t>       </a:t>
            </a:r>
            <a:r>
              <a:rPr lang="zh-CN" altLang="en-US" dirty="0" smtClean="0"/>
              <a:t>认识你很</a:t>
            </a:r>
            <a:r>
              <a:rPr lang="en-US" altLang="zh-CN" dirty="0" smtClean="0"/>
              <a:t>……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B</a:t>
            </a:r>
            <a:r>
              <a:rPr lang="zh-CN" altLang="en-US" dirty="0" smtClean="0"/>
              <a:t>：</a:t>
            </a:r>
            <a:r>
              <a:rPr lang="en-US" altLang="zh-CN" dirty="0" smtClean="0"/>
              <a:t>…………</a:t>
            </a:r>
            <a:r>
              <a:rPr lang="zh-CN" altLang="en-US" dirty="0" smtClean="0"/>
              <a:t>我也很高兴。</a:t>
            </a:r>
            <a:endParaRPr lang="zh-CN" altLang="en-US" dirty="0"/>
          </a:p>
        </p:txBody>
      </p:sp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2" name="图片 1" descr="VCG41794072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0" y="1191260"/>
            <a:ext cx="4088130" cy="28924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14270" y="1604645"/>
            <a:ext cx="75787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你</a:t>
            </a:r>
            <a:r>
              <a:rPr lang="zh-CN" altLang="en-US" sz="3600" u="sng"/>
              <a:t>朋友</a:t>
            </a:r>
            <a:r>
              <a:rPr lang="zh-CN" altLang="en-US" sz="3600"/>
              <a:t>（péng y</a:t>
            </a:r>
            <a:r>
              <a:rPr lang="en-US" altLang="zh-CN" sz="3600"/>
              <a:t>o</a:t>
            </a:r>
            <a:r>
              <a:rPr lang="zh-CN" altLang="en-US" sz="3600"/>
              <a:t>u）叫什么名字？</a:t>
            </a:r>
            <a:endParaRPr lang="zh-CN" altLang="en-US" sz="3600"/>
          </a:p>
          <a:p>
            <a:endParaRPr lang="zh-CN" altLang="en-US" sz="3600"/>
          </a:p>
          <a:p>
            <a:r>
              <a:rPr lang="zh-CN" altLang="en-US" sz="3600"/>
              <a:t>他</a:t>
            </a:r>
            <a:r>
              <a:rPr lang="en-US" altLang="zh-CN" sz="3600"/>
              <a:t>/</a:t>
            </a:r>
            <a:r>
              <a:rPr lang="zh-CN" altLang="en-US" sz="3600"/>
              <a:t>她（tā）</a:t>
            </a:r>
            <a:r>
              <a:rPr lang="zh-CN" altLang="en-US" sz="3600"/>
              <a:t>是哪国人？</a:t>
            </a:r>
            <a:endParaRPr lang="zh-CN" altLang="en-US" sz="3600"/>
          </a:p>
          <a:p>
            <a:endParaRPr lang="zh-CN" altLang="en-US" sz="3600"/>
          </a:p>
        </p:txBody>
      </p:sp>
      <p:pic>
        <p:nvPicPr>
          <p:cNvPr id="3" name="图片 2" descr="timg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0275" y="2483485"/>
            <a:ext cx="2420620" cy="34302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070,&quot;width&quot;:9690}"/>
</p:tagLst>
</file>

<file path=ppt/tags/tag2.xml><?xml version="1.0" encoding="utf-8"?>
<p:tagLst xmlns:p="http://schemas.openxmlformats.org/presentationml/2006/main">
  <p:tag name="KSO_WM_UNIT_PLACING_PICTURE_USER_VIEWPORT" val="{&quot;height&quot;:8000,&quot;width&quot;:5330}"/>
</p:tagLst>
</file>

<file path=ppt/tags/tag3.xml><?xml version="1.0" encoding="utf-8"?>
<p:tagLst xmlns:p="http://schemas.openxmlformats.org/presentationml/2006/main">
  <p:tag name="commondata" val="eyJoZGlkIjoiMjQzYTgzMjY2ODk2ZDhiZGMwNDYyZmE0OWQ1NzIzZWU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0</TotalTime>
  <Words>2392</Words>
  <Application>WPS 演示</Application>
  <PresentationFormat>全屏显示(4:3)</PresentationFormat>
  <Paragraphs>162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Arial</vt:lpstr>
      <vt:lpstr>宋体</vt:lpstr>
      <vt:lpstr>Wingdings</vt:lpstr>
      <vt:lpstr>Wingdings 2</vt:lpstr>
      <vt:lpstr>Arial</vt:lpstr>
      <vt:lpstr>Century</vt:lpstr>
      <vt:lpstr>Cambria</vt:lpstr>
      <vt:lpstr>Maiandra GD</vt:lpstr>
      <vt:lpstr>隶书</vt:lpstr>
      <vt:lpstr>微软雅黑</vt:lpstr>
      <vt:lpstr>Arial Unicode MS</vt:lpstr>
      <vt:lpstr>华文楷体</vt:lpstr>
      <vt:lpstr>Calibri</vt:lpstr>
      <vt:lpstr>方正楷体简体</vt:lpstr>
      <vt:lpstr>龙腾四海</vt:lpstr>
      <vt:lpstr>3 你叫什么名字（nǐ jiào shén me mínɡ zi）？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也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你叫什么名字？</dc:title>
  <dc:creator>lenovo</dc:creator>
  <cp:lastModifiedBy>沙茜</cp:lastModifiedBy>
  <cp:revision>34</cp:revision>
  <dcterms:created xsi:type="dcterms:W3CDTF">2019-02-27T03:30:00Z</dcterms:created>
  <dcterms:modified xsi:type="dcterms:W3CDTF">2024-09-25T23:56:38Z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3623AA305A004744A2B22018172AA89D</vt:lpwstr>
  </property>
</Properties>
</file>