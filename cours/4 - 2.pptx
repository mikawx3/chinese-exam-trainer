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63" r:id="rId4"/>
    <p:sldId id="286" r:id="rId5"/>
    <p:sldId id="288" r:id="rId6"/>
    <p:sldId id="264" r:id="rId7"/>
    <p:sldId id="289" r:id="rId8"/>
    <p:sldId id="29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4" y="-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 你学习法语吗？</a:t>
            </a:r>
            <a:endParaRPr lang="zh-CN" altLang="en-US" dirty="0"/>
          </a:p>
        </p:txBody>
      </p:sp>
      <p:pic>
        <p:nvPicPr>
          <p:cNvPr id="4" name="内容占位符 3" descr="法语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1000" y="1958181"/>
            <a:ext cx="6350000" cy="38100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1;p21"/>
          <p:cNvSpPr/>
          <p:nvPr/>
        </p:nvSpPr>
        <p:spPr>
          <a:xfrm>
            <a:off x="0" y="12700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文二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Two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121410"/>
            <a:ext cx="10657840" cy="16891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ts val="378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New Words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1.    </a:t>
            </a:r>
            <a:r>
              <a:rPr lang="zh-CN" altLang="en-US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吗</a:t>
            </a:r>
            <a:r>
              <a:rPr lang="zh-CN" altLang="en-US" sz="3200" dirty="0"/>
              <a:t>      </a:t>
            </a:r>
            <a:r>
              <a:rPr lang="en-US" altLang="zh-CN" sz="3200" dirty="0"/>
              <a:t>ma        part.      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6">
                    <a:lumMod val="50000"/>
                  </a:schemeClr>
                </a:solidFill>
              </a:rPr>
              <a:t>used at the end of a question </a:t>
            </a:r>
            <a:endParaRPr lang="en-US" altLang="zh-CN" sz="3200" dirty="0">
              <a:solidFill>
                <a:schemeClr val="accent6">
                  <a:lumMod val="50000"/>
                </a:schemeClr>
              </a:solidFill>
            </a:endParaRPr>
          </a:p>
          <a:p>
            <a:pPr fontAlgn="auto">
              <a:lnSpc>
                <a:spcPts val="434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2.    </a:t>
            </a:r>
            <a:r>
              <a:rPr lang="zh-CN" altLang="en-US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不</a:t>
            </a:r>
            <a:r>
              <a:rPr lang="zh-CN" altLang="en-US" sz="3200" dirty="0">
                <a:solidFill>
                  <a:schemeClr val="tx1"/>
                </a:solidFill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</a:rPr>
              <a:t> bù          adv.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      not, no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10180" y="3348990"/>
            <a:ext cx="8896350" cy="3046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sz="2400" dirty="0"/>
              <a:t>Proper Names:</a:t>
            </a:r>
            <a:endParaRPr lang="en-US" altLang="zh-CN" sz="2400" dirty="0"/>
          </a:p>
          <a:p>
            <a:pPr indent="0">
              <a:lnSpc>
                <a:spcPct val="150000"/>
              </a:lnSpc>
              <a:buNone/>
            </a:pPr>
            <a:r>
              <a:rPr lang="en-US" sz="2400" dirty="0" smtClean="0">
                <a:sym typeface="+mn-ea"/>
              </a:rPr>
              <a:t> </a:t>
            </a:r>
            <a:r>
              <a:rPr lang="en-US" sz="2800" dirty="0" smtClean="0">
                <a:sym typeface="+mn-ea"/>
              </a:rPr>
              <a:t>1.  </a:t>
            </a:r>
            <a:r>
              <a:rPr lang="zh-CN" altLang="en-US" sz="2800" dirty="0" smtClean="0">
                <a:sym typeface="+mn-ea"/>
              </a:rPr>
              <a:t>中国     </a:t>
            </a:r>
            <a:r>
              <a:rPr lang="en-US" altLang="zh-CN" sz="2800" dirty="0" smtClean="0">
                <a:sym typeface="+mn-ea"/>
              </a:rPr>
              <a:t>Z</a:t>
            </a:r>
            <a:r>
              <a:rPr lang="zh-CN" altLang="en-US" sz="2800" dirty="0" smtClean="0">
                <a:sym typeface="+mn-ea"/>
              </a:rPr>
              <a:t>hōng guó     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China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</a:t>
            </a:r>
            <a:endParaRPr lang="zh-CN" altLang="en-US" sz="2800" dirty="0" smtClean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800" dirty="0" smtClean="0">
                <a:sym typeface="+mn-ea"/>
              </a:rPr>
              <a:t>2.   </a:t>
            </a:r>
            <a:r>
              <a:rPr lang="zh-CN" altLang="en-US" sz="2800" dirty="0" smtClean="0">
                <a:sym typeface="+mn-ea"/>
              </a:rPr>
              <a:t>朱云    </a:t>
            </a:r>
            <a:r>
              <a:rPr lang="en-US" altLang="zh-CN" sz="2800" dirty="0" smtClean="0">
                <a:sym typeface="+mn-ea"/>
              </a:rPr>
              <a:t>Z</a:t>
            </a:r>
            <a:r>
              <a:rPr lang="zh-CN" altLang="en-US" sz="2800" dirty="0" smtClean="0">
                <a:sym typeface="+mn-ea"/>
              </a:rPr>
              <a:t>hū yún        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name of a Chinese college student </a:t>
            </a:r>
            <a:r>
              <a:rPr lang="zh-CN" altLang="en-US" sz="2800" dirty="0" smtClean="0">
                <a:sym typeface="+mn-ea"/>
              </a:rPr>
              <a:t>       </a:t>
            </a:r>
            <a:endParaRPr lang="zh-CN" altLang="en-US" sz="2800" dirty="0" smtClean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800" dirty="0" smtClean="0">
                <a:sym typeface="+mn-ea"/>
              </a:rPr>
              <a:t>3.  </a:t>
            </a:r>
            <a:r>
              <a:rPr lang="zh-CN" altLang="en-US" sz="2800" dirty="0" smtClean="0">
                <a:sym typeface="+mn-ea"/>
              </a:rPr>
              <a:t>英语     </a:t>
            </a:r>
            <a:r>
              <a:rPr lang="en-US" altLang="zh-CN" sz="2800" dirty="0" smtClean="0">
                <a:sym typeface="+mn-ea"/>
              </a:rPr>
              <a:t>Y</a:t>
            </a:r>
            <a:r>
              <a:rPr lang="zh-CN" altLang="en-US" sz="2800" dirty="0" smtClean="0">
                <a:sym typeface="+mn-ea"/>
              </a:rPr>
              <a:t>īng yǔ         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English(language)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800" dirty="0" smtClean="0">
                <a:sym typeface="+mn-ea"/>
              </a:rPr>
              <a:t>4.  </a:t>
            </a:r>
            <a:r>
              <a:rPr lang="zh-CN" altLang="en-US" sz="2800" dirty="0" smtClean="0">
                <a:sym typeface="+mn-ea"/>
              </a:rPr>
              <a:t>法语     </a:t>
            </a:r>
            <a:r>
              <a:rPr lang="en-US" altLang="zh-CN" sz="2800" dirty="0" smtClean="0">
                <a:sym typeface="+mn-ea"/>
              </a:rPr>
              <a:t>F</a:t>
            </a:r>
            <a:r>
              <a:rPr lang="zh-CN" altLang="en-US" sz="2800" dirty="0" smtClean="0">
                <a:sym typeface="+mn-ea"/>
              </a:rPr>
              <a:t>ǎ yǔ               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French(language)</a:t>
            </a:r>
            <a:endParaRPr lang="en-US" altLang="zh-CN" sz="28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044190" y="662940"/>
            <a:ext cx="7558405" cy="452310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eaLnBrk="1" fontAlgn="auto" latinLnBrk="0" hangingPunct="1">
              <a:lnSpc>
                <a:spcPct val="150000"/>
              </a:lnSpc>
            </a:pPr>
            <a:r>
              <a:rPr lang="en-US" altLang="zh-CN" sz="3200" dirty="0">
                <a:latin typeface="+mn-ea"/>
                <a:ea typeface="+mn-ea"/>
              </a:rPr>
              <a:t>1.  A:</a:t>
            </a:r>
            <a:r>
              <a:rPr lang="zh-CN" altLang="en-US" sz="3200" dirty="0">
                <a:latin typeface="+mn-ea"/>
                <a:ea typeface="+mn-ea"/>
              </a:rPr>
              <a:t>你是留学生</a:t>
            </a:r>
            <a:r>
              <a:rPr lang="zh-CN" altLang="en-US" sz="3200" dirty="0">
                <a:solidFill>
                  <a:srgbClr val="C00000"/>
                </a:solidFill>
                <a:latin typeface="+mn-ea"/>
                <a:ea typeface="+mn-ea"/>
              </a:rPr>
              <a:t>吗？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en-US" altLang="zh-CN" sz="3200" dirty="0">
                <a:latin typeface="+mn-ea"/>
                <a:ea typeface="+mn-ea"/>
              </a:rPr>
              <a:t>    B:</a:t>
            </a:r>
            <a:r>
              <a:rPr lang="zh-CN" altLang="en-US" sz="3200" dirty="0">
                <a:latin typeface="+mn-ea"/>
                <a:ea typeface="+mn-ea"/>
              </a:rPr>
              <a:t>是</a:t>
            </a:r>
            <a:r>
              <a:rPr lang="zh-CN" altLang="en-US" sz="3200" dirty="0">
                <a:latin typeface="+mn-ea"/>
                <a:ea typeface="+mn-ea"/>
              </a:rPr>
              <a:t>。</a:t>
            </a:r>
            <a:r>
              <a:rPr lang="en-US" altLang="zh-CN" sz="3200" dirty="0">
                <a:latin typeface="+mn-ea"/>
                <a:ea typeface="+mn-ea"/>
              </a:rPr>
              <a:t> 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latin typeface="+mn-ea"/>
                <a:ea typeface="+mn-ea"/>
              </a:rPr>
              <a:t>     </a:t>
            </a:r>
            <a:r>
              <a:rPr lang="zh-CN" altLang="en-US" sz="3200" dirty="0">
                <a:solidFill>
                  <a:srgbClr val="C00000"/>
                </a:solidFill>
                <a:latin typeface="+mn-ea"/>
                <a:ea typeface="+mn-ea"/>
              </a:rPr>
              <a:t>不</a:t>
            </a:r>
            <a:r>
              <a:rPr lang="zh-CN" altLang="en-US" sz="3200" dirty="0">
                <a:latin typeface="+mn-ea"/>
                <a:ea typeface="+mn-ea"/>
              </a:rPr>
              <a:t>是</a:t>
            </a:r>
            <a:endParaRPr lang="zh-CN" altLang="en-US" sz="3200" dirty="0"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en-US" altLang="zh-CN" sz="3200" dirty="0">
                <a:latin typeface="+mn-ea"/>
                <a:ea typeface="+mn-ea"/>
              </a:rPr>
              <a:t>2.  A:</a:t>
            </a:r>
            <a:r>
              <a:rPr lang="zh-CN" altLang="en-US" sz="3200" dirty="0">
                <a:latin typeface="+mn-ea"/>
                <a:ea typeface="+mn-ea"/>
              </a:rPr>
              <a:t>你学习汉语</a:t>
            </a:r>
            <a:r>
              <a:rPr lang="zh-CN" altLang="en-US" sz="3200" dirty="0">
                <a:solidFill>
                  <a:srgbClr val="C00000"/>
                </a:solidFill>
                <a:latin typeface="+mn-ea"/>
                <a:ea typeface="+mn-ea"/>
              </a:rPr>
              <a:t>吗？</a:t>
            </a:r>
            <a:endParaRPr lang="zh-CN" altLang="en-US" sz="3200" dirty="0">
              <a:solidFill>
                <a:srgbClr val="C00000"/>
              </a:solidFill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    B: 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我学习汉语。</a:t>
            </a:r>
            <a:endParaRPr lang="zh-CN" altLang="en-US" sz="3200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fontAlgn="auto" latinLnBrk="0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     我不学习汉语，我学习英语（yīnɡ yǔ）。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12420" y="2741015"/>
            <a:ext cx="1933575" cy="152138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不</a:t>
            </a:r>
            <a:endParaRPr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（bù）</a:t>
            </a:r>
            <a:endParaRPr lang="en-US" alt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47285" y="1523365"/>
            <a:ext cx="2512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（我是留学生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12" name="文本框 11"/>
          <p:cNvSpPr txBox="1"/>
          <p:nvPr/>
        </p:nvSpPr>
        <p:spPr>
          <a:xfrm>
            <a:off x="4947285" y="2326005"/>
            <a:ext cx="322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（我不是留学生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13" name="椭圆 12"/>
          <p:cNvSpPr/>
          <p:nvPr/>
        </p:nvSpPr>
        <p:spPr>
          <a:xfrm>
            <a:off x="0" y="662940"/>
            <a:ext cx="2181225" cy="10077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吗</a:t>
            </a:r>
            <a:endParaRPr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  <a:endParaRPr lang="en-US" alt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15" name="图片 14" descr="u=3509042835,1664910750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6966" t="2216" r="18685"/>
          <a:stretch>
            <a:fillRect/>
          </a:stretch>
        </p:blipFill>
        <p:spPr>
          <a:xfrm>
            <a:off x="9586595" y="-102870"/>
            <a:ext cx="2304415" cy="3166745"/>
          </a:xfrm>
          <a:prstGeom prst="foldedCorner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748665" y="1381760"/>
            <a:ext cx="5209540" cy="45231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1.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你是李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老师</a:t>
            </a:r>
            <a:r>
              <a:rPr lang="zh-CN" altLang="en-US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 不是。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2.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你们老师是中国人</a:t>
            </a:r>
            <a:r>
              <a:rPr lang="zh-CN" altLang="en-US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是，她是中国人。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3.他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叫</a:t>
            </a: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马丁</a:t>
            </a:r>
            <a:r>
              <a:rPr lang="en-US" altLang="zh-CN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en-US" altLang="zh-CN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他叫马丁。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2" name="图片 1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330200" y="270510"/>
            <a:ext cx="1156335" cy="8261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69990" y="1381760"/>
            <a:ext cx="5233035" cy="45231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4.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他们是留学生</a:t>
            </a:r>
            <a:r>
              <a:rPr lang="zh-CN" altLang="en-US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是。（他们是留学生。）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5.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你们一起上课</a:t>
            </a:r>
            <a:r>
              <a:rPr lang="zh-CN" altLang="en-US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   我们不一起上课。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6. 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你学习法语</a:t>
            </a:r>
            <a:r>
              <a:rPr lang="zh-CN" altLang="en-US" sz="3200" dirty="0" smtClean="0">
                <a:solidFill>
                  <a:schemeClr val="bg2">
                    <a:lumMod val="25000"/>
                  </a:schemeClr>
                </a:solidFill>
                <a:sym typeface="+mn-ea"/>
              </a:rPr>
              <a:t>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我不学习法语。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770" y="685165"/>
            <a:ext cx="11808460" cy="5714365"/>
          </a:xfrm>
        </p:spPr>
        <p:txBody>
          <a:bodyPr>
            <a:noAutofit/>
          </a:bodyPr>
          <a:lstStyle/>
          <a:p>
            <a:r>
              <a:rPr lang="zh-CN" altLang="en-US" sz="2800" dirty="0" smtClean="0"/>
              <a:t>朱云：你好！我是</a:t>
            </a:r>
            <a:r>
              <a:rPr lang="zh-CN" altLang="en-US" sz="2800" u="sng" dirty="0" smtClean="0"/>
              <a:t>中国人</a:t>
            </a:r>
            <a:r>
              <a:rPr lang="zh-CN" altLang="en-US" sz="2800" dirty="0" smtClean="0"/>
              <a:t>，我叫</a:t>
            </a:r>
            <a:r>
              <a:rPr lang="zh-CN" altLang="en-US" sz="2800" u="sng" dirty="0" smtClean="0"/>
              <a:t>朱云</a:t>
            </a:r>
            <a:r>
              <a:rPr lang="zh-CN" altLang="en-US" sz="2800" dirty="0" smtClean="0"/>
              <a:t>，</a:t>
            </a:r>
            <a:r>
              <a:rPr lang="zh-CN" altLang="en-US" sz="2800" dirty="0" smtClean="0">
                <a:sym typeface="+mn-ea"/>
              </a:rPr>
              <a:t>你叫什么名字？</a:t>
            </a:r>
            <a:endParaRPr lang="en-US" altLang="zh-CN" sz="2800" dirty="0" smtClean="0"/>
          </a:p>
          <a:p>
            <a:r>
              <a:rPr lang="en-US" altLang="zh-CN" sz="2400" dirty="0" smtClean="0"/>
              <a:t>Z</a:t>
            </a:r>
            <a:r>
              <a:rPr lang="zh-CN" altLang="en-US" sz="2400" dirty="0" smtClean="0">
                <a:sym typeface="+mn-ea"/>
              </a:rPr>
              <a:t>hū yún ： </a:t>
            </a:r>
            <a:r>
              <a:rPr lang="zh-CN" altLang="en-US" sz="2400" dirty="0" smtClean="0"/>
              <a:t>              zhōng guó rén ，    </a:t>
            </a:r>
            <a:r>
              <a:rPr lang="en-US" altLang="zh-CN" sz="2400" dirty="0" smtClean="0"/>
              <a:t>Z</a:t>
            </a:r>
            <a:r>
              <a:rPr lang="zh-CN" altLang="en-US" sz="2400" dirty="0" smtClean="0"/>
              <a:t>hū yún </a:t>
            </a:r>
            <a:r>
              <a:rPr lang="en-US" altLang="zh-CN" sz="2400" dirty="0" smtClean="0"/>
              <a:t>,</a:t>
            </a:r>
            <a:endParaRPr lang="zh-CN" altLang="en-US" sz="24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林娜：我叫林娜。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CN" sz="2400" dirty="0" smtClean="0"/>
              <a:t>L</a:t>
            </a:r>
            <a:r>
              <a:rPr lang="zh-CN" altLang="en-US" sz="2400" dirty="0" smtClean="0"/>
              <a:t>ín nà ： wǒ jiào </a:t>
            </a:r>
            <a:r>
              <a:rPr lang="en-US" altLang="zh-CN" sz="2400" dirty="0" smtClean="0"/>
              <a:t>L</a:t>
            </a:r>
            <a:r>
              <a:rPr lang="zh-CN" altLang="en-US" sz="2400" dirty="0" smtClean="0"/>
              <a:t>ín nà 。</a:t>
            </a:r>
            <a:endParaRPr lang="zh-CN" altLang="en-US" sz="2800" dirty="0" smtClean="0"/>
          </a:p>
          <a:p>
            <a:r>
              <a:rPr lang="zh-CN" altLang="en-US" sz="2800" dirty="0" smtClean="0"/>
              <a:t>朱云：你是哪国人？</a:t>
            </a:r>
            <a:endParaRPr lang="en-US" altLang="zh-CN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林娜：我是法国人。</a:t>
            </a:r>
            <a:endParaRPr lang="en-US" altLang="zh-CN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朱云：你</a:t>
            </a:r>
            <a:r>
              <a:rPr lang="zh-CN" altLang="en-US" sz="2800" u="sng" dirty="0" smtClean="0"/>
              <a:t>学习</a:t>
            </a:r>
            <a:r>
              <a:rPr lang="zh-CN" altLang="en-US" sz="2800" dirty="0" smtClean="0"/>
              <a:t>什么？   xué xí </a:t>
            </a:r>
            <a:endParaRPr lang="zh-CN" altLang="en-US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林娜：我学习</a:t>
            </a:r>
            <a:r>
              <a:rPr lang="zh-CN" altLang="en-US" sz="2800" u="sng" dirty="0" smtClean="0">
                <a:solidFill>
                  <a:schemeClr val="accent6">
                    <a:lumMod val="50000"/>
                  </a:schemeClr>
                </a:solidFill>
              </a:rPr>
              <a:t>汉语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。你呢？  hàn yǔ 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朱云：我学习</a:t>
            </a:r>
            <a:r>
              <a:rPr lang="zh-CN" altLang="en-US" sz="2800" u="sng" dirty="0" smtClean="0"/>
              <a:t>英语</a:t>
            </a:r>
            <a:r>
              <a:rPr lang="zh-CN" altLang="en-US" sz="2800" dirty="0" smtClean="0"/>
              <a:t>。yīng yǔ</a:t>
            </a:r>
            <a:endParaRPr lang="zh-CN" altLang="en-US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林娜：你学习</a:t>
            </a:r>
            <a:r>
              <a:rPr lang="zh-CN" altLang="en-US" sz="2800" u="sng" dirty="0" smtClean="0">
                <a:solidFill>
                  <a:schemeClr val="accent6">
                    <a:lumMod val="50000"/>
                  </a:schemeClr>
                </a:solidFill>
              </a:rPr>
              <a:t>法语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吗？fǎ yǔ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朱云：我不学习法语 。</a:t>
            </a:r>
            <a:endParaRPr lang="zh-CN" altLang="en-US" sz="2800" dirty="0" smtClean="0"/>
          </a:p>
        </p:txBody>
      </p:sp>
      <p:sp>
        <p:nvSpPr>
          <p:cNvPr id="5" name="Google Shape;171;p21"/>
          <p:cNvSpPr/>
          <p:nvPr/>
        </p:nvSpPr>
        <p:spPr>
          <a:xfrm>
            <a:off x="0" y="73025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文二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Two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09225" y="441325"/>
            <a:ext cx="1016635" cy="735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65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2646045" y="679450"/>
            <a:ext cx="7451725" cy="6000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1.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朱云（zhū yún）是哪国人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朱云是中国人。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2. 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林娜（lín nà）是哪国人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林娜是法国人。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3.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林娜学习什么</a:t>
            </a: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en-US" altLang="zh-CN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林娜学习汉语。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4.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朱云学习法语吗</a:t>
            </a: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？</a:t>
            </a:r>
            <a:endParaRPr lang="zh-CN" altLang="en-US" sz="3200" dirty="0" smtClean="0">
              <a:solidFill>
                <a:schemeClr val="accent6">
                  <a:lumMod val="50000"/>
                </a:schemeClr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 smtClean="0">
                <a:solidFill>
                  <a:schemeClr val="accent6">
                    <a:lumMod val="50000"/>
                  </a:schemeClr>
                </a:solidFill>
                <a:sym typeface="+mn-ea"/>
              </a:rPr>
              <a:t>   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她不学习法语。</a:t>
            </a:r>
            <a:endParaRPr lang="zh-CN" altLang="en-US" sz="32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2" name="图片 1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83820" y="551815"/>
            <a:ext cx="2253615" cy="1609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770" y="685165"/>
            <a:ext cx="11808460" cy="5714365"/>
          </a:xfrm>
        </p:spPr>
        <p:txBody>
          <a:bodyPr>
            <a:noAutofit/>
          </a:bodyPr>
          <a:lstStyle/>
          <a:p>
            <a:r>
              <a:rPr lang="zh-CN" altLang="en-US" sz="2800" dirty="0" smtClean="0"/>
              <a:t>朱云：你好！我是</a:t>
            </a:r>
            <a:r>
              <a:rPr lang="zh-CN" altLang="en-US" sz="2800" u="sng" dirty="0" smtClean="0"/>
              <a:t>中国人</a:t>
            </a:r>
            <a:r>
              <a:rPr lang="zh-CN" altLang="en-US" sz="2800" dirty="0" smtClean="0"/>
              <a:t>，我叫</a:t>
            </a:r>
            <a:r>
              <a:rPr lang="zh-CN" altLang="en-US" sz="2800" u="sng" dirty="0" smtClean="0"/>
              <a:t>朱云</a:t>
            </a:r>
            <a:r>
              <a:rPr lang="zh-CN" altLang="en-US" sz="2800" dirty="0" smtClean="0"/>
              <a:t>，</a:t>
            </a:r>
            <a:r>
              <a:rPr lang="zh-CN" altLang="en-US" sz="2800" dirty="0" smtClean="0">
                <a:sym typeface="+mn-ea"/>
              </a:rPr>
              <a:t>你</a:t>
            </a:r>
            <a:r>
              <a:rPr lang="en-US" altLang="zh-CN" sz="2800" dirty="0" smtClean="0">
                <a:sym typeface="+mn-ea"/>
              </a:rPr>
              <a:t>…………</a:t>
            </a:r>
            <a:r>
              <a:rPr lang="zh-CN" altLang="en-US" sz="2800" dirty="0" smtClean="0">
                <a:sym typeface="+mn-ea"/>
              </a:rPr>
              <a:t>？</a:t>
            </a:r>
            <a:endParaRPr lang="en-US" altLang="zh-CN" sz="2800" dirty="0" smtClean="0"/>
          </a:p>
          <a:p>
            <a:r>
              <a:rPr lang="en-US" altLang="zh-CN" sz="2400" dirty="0" smtClean="0"/>
              <a:t>Z</a:t>
            </a:r>
            <a:r>
              <a:rPr lang="zh-CN" altLang="en-US" sz="2400" dirty="0" smtClean="0">
                <a:sym typeface="+mn-ea"/>
              </a:rPr>
              <a:t>hū yún ： </a:t>
            </a:r>
            <a:r>
              <a:rPr lang="zh-CN" altLang="en-US" sz="2400" dirty="0" smtClean="0"/>
              <a:t>              zhōng guó rén ，    </a:t>
            </a:r>
            <a:r>
              <a:rPr lang="en-US" altLang="zh-CN" sz="2400" dirty="0" smtClean="0"/>
              <a:t>Z</a:t>
            </a:r>
            <a:r>
              <a:rPr lang="zh-CN" altLang="en-US" sz="2400" dirty="0" smtClean="0"/>
              <a:t>hū yún </a:t>
            </a:r>
            <a:r>
              <a:rPr lang="en-US" altLang="zh-CN" sz="2400" dirty="0" smtClean="0"/>
              <a:t>,</a:t>
            </a:r>
            <a:endParaRPr lang="zh-CN" altLang="en-US" sz="24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林娜：我叫林娜。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zh-CN" sz="2400" dirty="0" smtClean="0"/>
              <a:t>L</a:t>
            </a:r>
            <a:r>
              <a:rPr lang="zh-CN" altLang="en-US" sz="2400" dirty="0" smtClean="0"/>
              <a:t>ín nà ： wǒ jiào </a:t>
            </a:r>
            <a:r>
              <a:rPr lang="en-US" altLang="zh-CN" sz="2400" dirty="0" smtClean="0"/>
              <a:t>L</a:t>
            </a:r>
            <a:r>
              <a:rPr lang="zh-CN" altLang="en-US" sz="2400" dirty="0" smtClean="0"/>
              <a:t>ín nà 。</a:t>
            </a:r>
            <a:endParaRPr lang="zh-CN" altLang="en-US" sz="2800" dirty="0" smtClean="0"/>
          </a:p>
          <a:p>
            <a:r>
              <a:rPr lang="zh-CN" altLang="en-US" sz="2800" dirty="0" smtClean="0"/>
              <a:t>朱云：你是</a:t>
            </a:r>
            <a:r>
              <a:rPr lang="en-US" altLang="zh-CN" sz="2800" dirty="0" smtClean="0"/>
              <a:t>…………</a:t>
            </a:r>
            <a:r>
              <a:rPr lang="zh-CN" altLang="en-US" sz="2800" dirty="0" smtClean="0"/>
              <a:t>？</a:t>
            </a:r>
            <a:endParaRPr lang="en-US" altLang="zh-CN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林娜：我是法国人。</a:t>
            </a:r>
            <a:endParaRPr lang="en-US" altLang="zh-CN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朱云：你</a:t>
            </a:r>
            <a:r>
              <a:rPr lang="en-US" altLang="zh-CN" sz="2800" dirty="0" smtClean="0"/>
              <a:t>……</a:t>
            </a:r>
            <a:r>
              <a:rPr lang="zh-CN" altLang="en-US" sz="2800" dirty="0" smtClean="0"/>
              <a:t>什么？   </a:t>
            </a:r>
            <a:endParaRPr lang="zh-CN" altLang="en-US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林娜：我学习</a:t>
            </a:r>
            <a:r>
              <a:rPr lang="zh-CN" altLang="en-US" sz="2800" u="sng" dirty="0" smtClean="0">
                <a:solidFill>
                  <a:schemeClr val="accent6">
                    <a:lumMod val="50000"/>
                  </a:schemeClr>
                </a:solidFill>
              </a:rPr>
              <a:t>汉语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。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</a:rPr>
              <a:t>…………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？  hàn yǔ 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朱云：我学习</a:t>
            </a:r>
            <a:r>
              <a:rPr lang="zh-CN" altLang="en-US" sz="2800" u="sng" dirty="0" smtClean="0"/>
              <a:t>英语</a:t>
            </a:r>
            <a:r>
              <a:rPr lang="zh-CN" altLang="en-US" sz="2800" dirty="0" smtClean="0"/>
              <a:t>。yīng yǔ</a:t>
            </a:r>
            <a:endParaRPr lang="zh-CN" altLang="en-US" sz="2800" dirty="0" smtClean="0"/>
          </a:p>
          <a:p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林娜：你学习</a:t>
            </a:r>
            <a:r>
              <a:rPr lang="zh-CN" altLang="en-US" sz="2800" u="sng" dirty="0" smtClean="0">
                <a:solidFill>
                  <a:schemeClr val="accent6">
                    <a:lumMod val="50000"/>
                  </a:schemeClr>
                </a:solidFill>
              </a:rPr>
              <a:t>法语</a:t>
            </a:r>
            <a:r>
              <a:rPr lang="zh-CN" altLang="en-US" sz="2800" dirty="0" smtClean="0">
                <a:solidFill>
                  <a:schemeClr val="accent6">
                    <a:lumMod val="50000"/>
                  </a:schemeClr>
                </a:solidFill>
              </a:rPr>
              <a:t>吗？fǎ yǔ</a:t>
            </a:r>
            <a:endParaRPr lang="zh-CN" altLang="en-US" sz="28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800" dirty="0" smtClean="0"/>
              <a:t>朱云：我</a:t>
            </a:r>
            <a:r>
              <a:rPr lang="en-US" altLang="zh-CN" sz="2800" dirty="0" smtClean="0"/>
              <a:t>……</a:t>
            </a:r>
            <a:r>
              <a:rPr lang="zh-CN" altLang="en-US" sz="2800" dirty="0" smtClean="0"/>
              <a:t>学习法语 。</a:t>
            </a:r>
            <a:endParaRPr lang="zh-CN" altLang="en-US" sz="2800" dirty="0" smtClean="0"/>
          </a:p>
        </p:txBody>
      </p:sp>
      <p:sp>
        <p:nvSpPr>
          <p:cNvPr id="5" name="Google Shape;171;p21"/>
          <p:cNvSpPr/>
          <p:nvPr/>
        </p:nvSpPr>
        <p:spPr>
          <a:xfrm>
            <a:off x="0" y="73025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文二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Two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09225" y="441325"/>
            <a:ext cx="1016635" cy="735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65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1116</Words>
  <Application>WPS 演示</Application>
  <PresentationFormat>全屏显示(4:3)</PresentationFormat>
  <Paragraphs>82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Wingdings 2</vt:lpstr>
      <vt:lpstr>Arial</vt:lpstr>
      <vt:lpstr>Century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龙腾四海</vt:lpstr>
      <vt:lpstr>4  你学习法语吗？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 你学习法语吗？</dc:title>
  <dc:creator>lenovo</dc:creator>
  <cp:lastModifiedBy>沙茜</cp:lastModifiedBy>
  <cp:revision>25</cp:revision>
  <dcterms:created xsi:type="dcterms:W3CDTF">2019-02-27T06:15:00Z</dcterms:created>
  <dcterms:modified xsi:type="dcterms:W3CDTF">2021-10-29T06:10:34Z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2FF1F07864424759AD91D1A8202CAD67</vt:lpwstr>
  </property>
</Properties>
</file>