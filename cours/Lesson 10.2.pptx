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504" r:id="rId3"/>
    <p:sldId id="410" r:id="rId4"/>
    <p:sldId id="470" r:id="rId5"/>
    <p:sldId id="505" r:id="rId6"/>
    <p:sldId id="485" r:id="rId7"/>
    <p:sldId id="506" r:id="rId8"/>
    <p:sldId id="507" r:id="rId9"/>
    <p:sldId id="508" r:id="rId10"/>
    <p:sldId id="535" r:id="rId11"/>
    <p:sldId id="536" r:id="rId12"/>
    <p:sldId id="461" r:id="rId13"/>
    <p:sldId id="462" r:id="rId14"/>
    <p:sldId id="530" r:id="rId15"/>
    <p:sldId id="525" r:id="rId16"/>
    <p:sldId id="527" r:id="rId17"/>
    <p:sldId id="526" r:id="rId18"/>
    <p:sldId id="529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3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2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22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tags" Target="../tags/tag2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zhèɡe xīnɡqītiān nǐ mánɡbumánɡ？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10  这个   星 期 天  你  忙 不 忙？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10  Are you busy this sunday?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</a:t>
            </a:r>
            <a:endParaRPr lang="en-US" altLang="zh-CN" sz="266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58005"/>
            <a:ext cx="2499995" cy="2499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6150" y="0"/>
            <a:ext cx="2355850" cy="2355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10150" y="1315720"/>
            <a:ext cx="2475230" cy="422719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mánɡ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忙:busy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tīnɡshuō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听  说:hear of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chūfā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出发:set out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zhǎo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找:look for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10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063990" y="64516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393315" y="1622425"/>
            <a:ext cx="4747260" cy="37026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tā xiànzài mánɡ mɑ？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  现 在  忙   吗？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（tā xiànzài）fēichánɡ mánɡ。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（他 现 在）  非 常    忙。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měitiān nǐ mánɡ mɑ？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每 天   你 忙   吗？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22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22195" y="144780"/>
            <a:ext cx="2540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mánɡ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忙:busy</a:t>
            </a:r>
            <a:endParaRPr kumimoji="0" lang="en-US" sz="2000" i="0" u="none" strike="noStrike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1105" y="0"/>
            <a:ext cx="3350895" cy="3350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/>
        </p:nvSpPr>
        <p:spPr>
          <a:xfrm>
            <a:off x="4641215" y="1703070"/>
            <a:ext cx="6002655" cy="3668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听 说   她 的 汉 语  非 常   好。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听 说   他 的 女 朋 友   非 常    漂 亮。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听 说    这 种    面 包   非 常   好 吃。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听  说 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50390" y="2658110"/>
            <a:ext cx="2540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tīnɡshuō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听  说:hear of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/>
        </p:nvSpPr>
        <p:spPr>
          <a:xfrm>
            <a:off x="4179570" y="1430020"/>
            <a:ext cx="6459220" cy="3714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wǎnshɑnɡ 6 diǎn tā qǐnɡ pénɡyou chīfàn，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  晚 上   6 点   他  请   朋 友   吃饭，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tā zhǔnbèi wǔdiǎn chūfā。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  准 备  五 点   出发。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33500" y="2668270"/>
            <a:ext cx="2540000" cy="847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chūfā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出发:set out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/>
        </p:nvSpPr>
        <p:spPr>
          <a:xfrm>
            <a:off x="4038600" y="2080895"/>
            <a:ext cx="2666365" cy="36537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fontScale="9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zhǎo </a:t>
            </a:r>
            <a:endParaRPr lang="zh-CN" altLang="en-US" sz="222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找   +   sb</a:t>
            </a:r>
            <a:endParaRPr lang="zh-CN" altLang="en-US" sz="222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lǎoshī </a:t>
            </a:r>
            <a:endParaRPr lang="zh-CN" altLang="en-US"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老 师</a:t>
            </a:r>
            <a:endParaRPr lang="zh-CN" altLang="en-US"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pénɡyou </a:t>
            </a:r>
            <a:endParaRPr lang="zh-CN" altLang="en-US"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朋 友</a:t>
            </a:r>
            <a:endParaRPr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50390" y="2658110"/>
            <a:ext cx="2540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zhǎo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找:look for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7461250" y="2080895"/>
            <a:ext cx="2828290" cy="36537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zhǎo </a:t>
            </a:r>
            <a:endParaRPr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找   +  sth</a:t>
            </a:r>
            <a:endParaRPr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shǒujī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手 机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ɡōnɡzuò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工 作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27540" y="10160"/>
            <a:ext cx="2664460" cy="1998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985" y="3860165"/>
            <a:ext cx="2399030" cy="2997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50390" y="2658110"/>
            <a:ext cx="2540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zhǎo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找:look for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984625" y="1481455"/>
            <a:ext cx="5770880" cy="47605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sp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nǐ qù nǎr zhǎo lǎoshī？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A: 你 去 哪儿 找  老 师？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B: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我去教室（jiào shì）找老师。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nǐ zhǎo shénme？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A: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 找   什 么？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wǒ zhǎo wǒ de shǒujī。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B: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找  我 的  手 机。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01295" y="80645"/>
            <a:ext cx="3188335" cy="2363470"/>
            <a:chOff x="-362277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2277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语法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Grammar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47825" y="1595120"/>
            <a:ext cx="100361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/>
              <a:t>    There is no need to use“</a:t>
            </a:r>
            <a:r>
              <a:rPr lang="zh-CN" altLang="en-US" sz="2000"/>
              <a:t>是</a:t>
            </a:r>
            <a:r>
              <a:rPr lang="en-US" altLang="zh-CN" sz="2000"/>
              <a:t>”between the subject and adjective when the adjective concerned is used as the predicate. Usually an adverb of degree, such as “</a:t>
            </a:r>
            <a:r>
              <a:rPr lang="zh-CN" altLang="en-US" sz="2000"/>
              <a:t>很</a:t>
            </a:r>
            <a:r>
              <a:rPr lang="en-US" altLang="zh-CN" sz="2000"/>
              <a:t>”or “</a:t>
            </a:r>
            <a:r>
              <a:rPr lang="zh-CN" altLang="en-US" sz="2000"/>
              <a:t>非常</a:t>
            </a:r>
            <a:r>
              <a:rPr lang="en-US" altLang="zh-CN" sz="2000"/>
              <a:t>”</a:t>
            </a:r>
            <a:r>
              <a:rPr lang="zh-CN" altLang="en-US" sz="2000"/>
              <a:t>，</a:t>
            </a:r>
            <a:r>
              <a:rPr lang="en-US" altLang="zh-CN" sz="2000"/>
              <a:t>is added before the adjective. For example,</a:t>
            </a:r>
            <a:endParaRPr lang="en-US" altLang="zh-CN" sz="2000"/>
          </a:p>
        </p:txBody>
      </p:sp>
      <p:graphicFrame>
        <p:nvGraphicFramePr>
          <p:cNvPr id="4" name="表格 3"/>
          <p:cNvGraphicFramePr/>
          <p:nvPr/>
        </p:nvGraphicFramePr>
        <p:xfrm>
          <a:off x="2064385" y="342900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 anchor="ctr" anchorCtr="0"/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</a:t>
                      </a:r>
                      <a:endParaRPr lang="en-US" altLang="zh-CN"/>
                    </a:p>
                  </a:txBody>
                  <a:tcPr anchor="ctr" anchorCtr="0"/>
                </a:tc>
                <a:tc hMerge="1"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Adv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Adj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我的妈妈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非常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漂亮。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早上的空气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很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新鲜。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我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很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华文楷体" panose="02010600040101010101" charset="-122"/>
                          <a:ea typeface="华文楷体" panose="02010600040101010101" charset="-122"/>
                        </a:rPr>
                        <a:t>忙。</a:t>
                      </a:r>
                      <a:endParaRPr lang="zh-CN" altLang="en-US" sz="24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Affirmative-negative question(1):  </a:t>
            </a:r>
            <a:r>
              <a:rPr lang="en-US" altLang="zh-CN">
                <a:solidFill>
                  <a:srgbClr val="FF0000"/>
                </a:solidFill>
              </a:rPr>
              <a:t>Adj </a:t>
            </a:r>
            <a:r>
              <a:rPr>
                <a:solidFill>
                  <a:srgbClr val="FF0000"/>
                </a:solidFill>
              </a:rPr>
              <a:t>不</a:t>
            </a:r>
            <a:r>
              <a:rPr lang="en-US" altLang="zh-CN">
                <a:solidFill>
                  <a:srgbClr val="FF0000"/>
                </a:solidFill>
              </a:rPr>
              <a:t> Adj</a:t>
            </a:r>
            <a:r>
              <a:rPr lang="en-US" altLang="zh-CN" u="heavy">
                <a:solidFill>
                  <a:srgbClr val="FF0000"/>
                </a:solidFill>
              </a:rPr>
              <a:t> </a:t>
            </a:r>
            <a:endParaRPr lang="en-US" altLang="zh-CN" u="heavy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你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忙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忙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北航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漂亮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漂亮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苹果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新鲜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新鲜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Affirmative-negative question(1):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V </a:t>
            </a:r>
            <a:r>
              <a:rPr>
                <a:solidFill>
                  <a:srgbClr val="FF0000"/>
                </a:solidFill>
                <a:sym typeface="+mn-ea"/>
              </a:rPr>
              <a:t>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V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我们去爬山，你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去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去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你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看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看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电影？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3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你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吃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不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吃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早饭？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你</a:t>
            </a:r>
            <a:r>
              <a:rPr lang="zh-CN" altLang="en-US" sz="32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有</a:t>
            </a:r>
            <a:r>
              <a:rPr lang="zh-CN" altLang="en-US" sz="32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</a:rPr>
              <a:t>没</a:t>
            </a:r>
            <a:r>
              <a:rPr lang="zh-CN" altLang="en-US" sz="32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有</a:t>
            </a:r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</a:rPr>
              <a:t>钱？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026285" y="80645"/>
            <a:ext cx="9425940" cy="6858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zhèɡe xīnɡqītiān nǐ mánɡ bu mánɡ？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这 个  星 期 天  你  忙  不  忙？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pénɡyou：wǒ bù mánɡ。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我 不 忙。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xīnɡqītiān wǒmen qù páshān， nǐ qù bu qù？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 星 期 天  我们  去 爬 山，  你 去 不 去？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pénɡyou：nǐmen qù nǎr  páshān？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你们  去 哪儿 爬 山？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 dīnɡ：qù xīshān。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去 西 山。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pénɡyou：tīnɡshuō xīshān fēichánɡ piàoliɑnɡ， wǒ yě xiǎnɡ ɡēn nǐmen yìqǐ qù。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 听  说  西 山   非 常    漂 亮，    我 也   想  跟  你们  一起 去。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 dīnɡ：tài hǎo le。 wǒmen zǎoshɑnɡ bādiǎn chūfā。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太  好  了。 我们   早 上   八 点  出 发。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pénɡyou：wǒ qīdiǎn bàn qù zhǎo nǐ。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我 七 点  半  去  找  你。 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10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61930" y="51816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945640" y="949325"/>
            <a:ext cx="8300720" cy="54463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zhèɡe xīnɡqītiān mǎdīnɡ de pénɡyou mánɡ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这个   星 期 天  马 丁  的  朋 友   忙  吗？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 xīnɡqītiān qù zuò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马丁     星 期 天  去 做   什 么？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de pénɡyou xiǎnɡ qù páshān mɑ？ </a:t>
            </a:r>
            <a:r>
              <a:rPr 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wèishénme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马丁  的  朋 友    想   去 爬 山  吗？</a:t>
            </a:r>
            <a:r>
              <a:rPr 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为 什 么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why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jǐdiǎn chūfā？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马丁   几点   出发？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de pénɡyou jǐdiǎn qù zhǎo mǎdīnɡ？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马丁   的  朋 友  几 点  去 找   马 丁？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035175" y="371475"/>
            <a:ext cx="8568690" cy="63309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</a:t>
            </a:r>
            <a:r>
              <a:rPr lang="en-US" sz="20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这 个  星 期天  你  忙 不忙？</a:t>
            </a:r>
            <a:endParaRPr lang="en-US" sz="2000" dirty="0" smtClean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不 忙。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 </a:t>
            </a:r>
            <a:r>
              <a:rPr lang="en-US" sz="20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 期 天  我们 去爬 山，  你 去 不 去？</a:t>
            </a:r>
            <a:endParaRPr lang="en-US" sz="2000" dirty="0" smtClean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你们  去 哪儿 爬 山？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 dīnɡ：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</a:t>
            </a:r>
            <a:r>
              <a:rPr lang="en-US" sz="20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去 西 山。 </a:t>
            </a:r>
            <a:endParaRPr lang="en-US" sz="2000" dirty="0" smtClean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pénɡyou：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听  说  西 山   非 常  漂 亮，    我 也  想  跟  你们   一起 去。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 dīnɡ：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 fontAlgn="auto">
              <a:buClrTx/>
              <a:buSzTx/>
              <a:buFontTx/>
              <a:buNone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</a:t>
            </a:r>
            <a:r>
              <a:rPr lang="en-US" sz="20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太 好 了。 我们   早 上  八 点 出 发。 </a:t>
            </a:r>
            <a:endParaRPr lang="en-US" sz="2000" dirty="0" smtClean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 fontAlgn="auto">
              <a:buClrTx/>
              <a:buSzTx/>
              <a:buFontTx/>
              <a:buNone/>
            </a:pP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pénɡyou：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 fontAlgn="auto">
              <a:buClrTx/>
              <a:buSzTx/>
              <a:buFontTx/>
              <a:buNone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 友：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七 点 半  去 找  你。 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4" name="10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61930" y="51816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375" y="817245"/>
            <a:ext cx="8029575" cy="5139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561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US" altLang="en-GB" sz="16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supplementary words</a:t>
              </a: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960562" y="3332480"/>
          <a:ext cx="7649845" cy="2283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0495"/>
                <a:gridCol w="2825750"/>
                <a:gridCol w="2133600"/>
              </a:tblGrid>
              <a:tr h="116268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Identifying code</a:t>
                      </a:r>
                      <a:endParaRPr 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yàn zhèng mǎ</a:t>
                      </a:r>
                      <a:endParaRPr 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验证码</a:t>
                      </a:r>
                      <a:endParaRPr 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207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Login</a:t>
                      </a:r>
                      <a:endParaRPr 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dēng lù</a:t>
                      </a:r>
                      <a:endParaRPr lang="en-US" alt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spc="6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登录</a:t>
                      </a:r>
                      <a:endParaRPr lang="en-US" altLang="en-US" sz="2000" b="1" spc="6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5400" marR="25400" marT="6350" marB="6350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835" y="1056640"/>
            <a:ext cx="4533265" cy="177165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3251835" y="1789430"/>
            <a:ext cx="864235" cy="38735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251835" y="1403985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784850" y="2080895"/>
            <a:ext cx="458470" cy="53657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9810" y="0"/>
            <a:ext cx="5918200" cy="739775"/>
          </a:xfrm>
        </p:spPr>
        <p:txBody>
          <a:bodyPr>
            <a:normAutofit fontScale="90000"/>
          </a:bodyPr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qǐnɡ zhǎozhǎo tā zài nǎr ！</a:t>
            </a:r>
            <a:b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请   找  找  它 在  哪儿！</a:t>
            </a:r>
            <a:r>
              <a:rPr lang="zh-CN" altLang="en-US" sz="4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4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5230" y="2755265"/>
            <a:ext cx="3552825" cy="175895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1772285" y="3042285"/>
            <a:ext cx="864235" cy="38735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4905" y="3360420"/>
            <a:ext cx="543560" cy="26543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30" y="1400810"/>
            <a:ext cx="3642360" cy="377698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7624445" y="1659890"/>
            <a:ext cx="638810" cy="300355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624445" y="2222500"/>
            <a:ext cx="699770" cy="267335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443980" y="2818130"/>
            <a:ext cx="864235" cy="38735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504305" y="3496945"/>
            <a:ext cx="864235" cy="38735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071610" y="4001770"/>
            <a:ext cx="481330" cy="38735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459345" y="4001770"/>
            <a:ext cx="551815" cy="38735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624445" y="4610735"/>
            <a:ext cx="864235" cy="387350"/>
          </a:xfrm>
          <a:prstGeom prst="ellipse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94155" cy="186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5" grpId="0" bldLvl="0" animBg="1"/>
      <p:bldP spid="7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561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US" altLang="en-GB" sz="16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supplementary words</a:t>
              </a: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609850" y="80645"/>
          <a:ext cx="7649845" cy="1786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0495"/>
                <a:gridCol w="2825750"/>
                <a:gridCol w="2133600"/>
              </a:tblGrid>
              <a:tr h="1066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Search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Calibri" panose="020F0502020204030204" charset="0"/>
                          <a:cs typeface="Calibri" panose="020F0502020204030204" charset="0"/>
                        </a:rPr>
                        <a:t>sōu suǒ </a:t>
                      </a:r>
                      <a:endParaRPr lang="en-US" altLang="en-US" sz="20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Common services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Calibri" panose="020F0502020204030204" charset="0"/>
                          <a:cs typeface="Calibri" panose="020F0502020204030204" charset="0"/>
                        </a:rPr>
                        <a:t>cháng yòng fú wù </a:t>
                      </a:r>
                      <a:endParaRPr lang="en-US" altLang="en-US" sz="20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常用服务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25" y="2430780"/>
            <a:ext cx="11156315" cy="793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860" y="3811270"/>
            <a:ext cx="3440430" cy="266065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517525" y="2635250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715250" y="2635250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625455" y="2634615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773295" y="4720590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UNIT_PLACING_PICTURE_USER_VIEWPORT" val="{&quot;height&quot;:5400,&quot;width&quot;:7200}"/>
</p:tagLst>
</file>

<file path=ppt/tags/tag229.xml><?xml version="1.0" encoding="utf-8"?>
<p:tagLst xmlns:p="http://schemas.openxmlformats.org/presentationml/2006/main">
  <p:tag name="KSO_WM_UNIT_TABLE_BEAUTIFY" val="smartTable{6defc58e-b41d-447b-9c7c-3694b466df64}"/>
  <p:tag name="TABLE_ENDDRAG_ORIGIN_RECT" val="602*179"/>
  <p:tag name="TABLE_ENDDRAG_RECT" val="195*111*602*179"/>
</p:tagLst>
</file>

<file path=ppt/tags/tag230.xml><?xml version="1.0" encoding="utf-8"?>
<p:tagLst xmlns:p="http://schemas.openxmlformats.org/presentationml/2006/main">
  <p:tag name="KSO_WM_UNIT_TABLE_BEAUTIFY" val="smartTable{6defc58e-b41d-447b-9c7c-3694b466df64}"/>
  <p:tag name="TABLE_ENDDRAG_ORIGIN_RECT" val="602*179"/>
  <p:tag name="TABLE_ENDDRAG_RECT" val="195*111*602*179"/>
</p:tagLst>
</file>

<file path=ppt/tags/tag231.xml><?xml version="1.0" encoding="utf-8"?>
<p:tagLst xmlns:p="http://schemas.openxmlformats.org/presentationml/2006/main">
  <p:tag name="KSO_WPP_MARK_KEY" val="08781c0b-c35e-49f0-a8f6-37e8ce2ae018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2907</Words>
  <Application>WPS 演示</Application>
  <PresentationFormat>宽屏</PresentationFormat>
  <Paragraphs>258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Calibri</vt:lpstr>
      <vt:lpstr>Arial Unicode MS</vt:lpstr>
      <vt:lpstr>Office 主题​​</vt:lpstr>
      <vt:lpstr>         zhèɡe xīnɡqītiān nǐ mánɡbumánɡ？      10  这个   星 期 天  你  忙 不 忙？        Lesson 10  Are you busy this sunday?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Affirmative-negative question(1):  Adj 不 Adj </vt:lpstr>
      <vt:lpstr>Affirmative-negative question(1):  V 不 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qǐnɡ zhǎozhǎo tā zài nǎr ！  请   找  找  它 在  哪儿！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165</cp:revision>
  <dcterms:created xsi:type="dcterms:W3CDTF">2019-08-11T11:31:00Z</dcterms:created>
  <dcterms:modified xsi:type="dcterms:W3CDTF">2024-12-16T12:36:37Z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6809AF3319B8409BA49C0A6F5A540CE2</vt:lpwstr>
  </property>
</Properties>
</file>