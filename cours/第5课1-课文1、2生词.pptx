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33" r:id="rId3"/>
    <p:sldId id="410" r:id="rId4"/>
    <p:sldId id="461" r:id="rId5"/>
    <p:sldId id="388" r:id="rId6"/>
    <p:sldId id="389" r:id="rId7"/>
    <p:sldId id="448" r:id="rId8"/>
    <p:sldId id="391" r:id="rId9"/>
    <p:sldId id="392" r:id="rId10"/>
    <p:sldId id="393" r:id="rId11"/>
    <p:sldId id="394" r:id="rId12"/>
    <p:sldId id="395" r:id="rId13"/>
    <p:sldId id="396" r:id="rId14"/>
    <p:sldId id="349" r:id="rId15"/>
    <p:sldId id="432" r:id="rId16"/>
    <p:sldId id="348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8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3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8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NULL" TargetMode="Externa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7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1" Type="http://schemas.openxmlformats.org/officeDocument/2006/relationships/tags" Target="../tags/tag2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jpeg"/><Relationship Id="rId1" Type="http://schemas.openxmlformats.org/officeDocument/2006/relationships/tags" Target="../tags/tag23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1.xml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GIF"/><Relationship Id="rId2" Type="http://schemas.openxmlformats.org/officeDocument/2006/relationships/image" Target="../media/image34.jpe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tags" Target="../tags/tag2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r>
              <a:rPr lang="en-US" altLang="zh-CN" sz="3110" err="1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sym typeface="+mn-ea"/>
              </a:rPr>
              <a:t>        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nǐ jiā yǒu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宋体" panose="02010600030101010101" pitchFamily="2" charset="-122"/>
              </a:rPr>
              <a:t>j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ǐ kǒu rén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5       你 家  有  </a:t>
            </a:r>
            <a:r>
              <a:rPr lang="zh-CN" altLang="en-US" sz="3110">
                <a:solidFill>
                  <a:schemeClr val="bg2">
                    <a:lumMod val="10000"/>
                  </a:schemeClr>
                </a:solidFill>
                <a:sym typeface="+mn-ea"/>
              </a:rPr>
              <a:t>几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 口  人 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zh-CN" altLang="en-US" sz="35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Lesson 5    </a:t>
            </a:r>
            <a:r>
              <a:rPr lang="en-US" altLang="zh-CN" sz="2220">
                <a:solidFill>
                  <a:schemeClr val="bg2">
                    <a:lumMod val="10000"/>
                  </a:schemeClr>
                </a:solidFill>
                <a:sym typeface="+mn-ea"/>
              </a:rPr>
              <a:t>How many people are there in your family?</a:t>
            </a:r>
            <a:br>
              <a:rPr lang="en-US" altLang="zh-CN" sz="222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clrChange>
              <a:clrFrom>
                <a:srgbClr val="F4F5F9">
                  <a:alpha val="100000"/>
                </a:srgbClr>
              </a:clrFrom>
              <a:clrTo>
                <a:srgbClr val="F4F5F9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8060"/>
            <a:ext cx="3092450" cy="205994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045" y="0"/>
            <a:ext cx="2814955" cy="1875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73630" y="0"/>
            <a:ext cx="3398520" cy="685863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0000"/>
          </a:bodyPr>
          <a:p>
            <a:pPr marL="0" marR="0" indent="0" algn="l" defTabSz="914400" rtl="0" fontAlgn="base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7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sz="2700" b="1">
                <a:latin typeface="+mn-lt"/>
                <a:ea typeface="+mn-ea"/>
                <a:sym typeface="+mn-ea"/>
              </a:rPr>
              <a:t> </a:t>
            </a:r>
            <a:r>
              <a:rPr sz="2200">
                <a:effectLst/>
                <a:latin typeface="+mn-lt"/>
                <a:ea typeface="+mn-ea"/>
                <a:sym typeface="+mn-ea"/>
              </a:rPr>
              <a:t>  </a:t>
            </a:r>
            <a:r>
              <a:rPr sz="2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jiā </a:t>
            </a:r>
            <a:endParaRPr kumimoji="0" lang="zh-CN" altLang="en-US" sz="22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2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</a:t>
            </a:r>
            <a:r>
              <a:rPr lang="en-US" altLang="zh-CN" sz="27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家：n.family </a:t>
            </a:r>
            <a:endParaRPr lang="en-US" altLang="zh-CN" sz="27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yǒu 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有：v.have，there be  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4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kǒu 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口: m.a measure word  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bàbɑ 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爸爸:n.father 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ts val="2000"/>
              </a:lnSpc>
              <a:buClrTx/>
              <a:buSzTx/>
              <a:buFontTx/>
              <a:buNone/>
            </a:pP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māmɑ 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 妈妈:n.mother</a:t>
            </a:r>
            <a:endParaRPr lang="en-US" altLang="zh-CN"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ɡēɡe 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哥哥:n.elder brother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24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163945" y="0"/>
            <a:ext cx="4422775" cy="53511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</a:t>
            </a:r>
            <a:r>
              <a:rPr lang="en-US" altLang="zh-CN" sz="2000" b="1" dirty="0">
                <a:sym typeface="+mn-ea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hé </a:t>
            </a:r>
            <a:endParaRPr kumimoji="0" lang="en-US" altLang="zh-CN" sz="24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和:conj. and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z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híyuán </a:t>
            </a:r>
            <a:endParaRPr lang="zh-CN" altLang="en-US" sz="24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职 员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:n. office worker</a:t>
            </a:r>
            <a:endParaRPr lang="zh-CN" altLang="en-US" sz="24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dōu </a:t>
            </a:r>
            <a:endParaRPr lang="en-US" altLang="zh-CN" sz="24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 都:adv.all,both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4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dàxué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shēnɡ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400" strike="noStrike" noProof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 大 学 生: n.college student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b="1">
                <a:sym typeface="+mn-ea"/>
              </a:rPr>
              <a:t> </a:t>
            </a:r>
            <a:endParaRPr lang="zh-CN" altLang="en-US"/>
          </a:p>
        </p:txBody>
      </p:sp>
      <p:pic>
        <p:nvPicPr>
          <p:cNvPr id="6" name="5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9769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753725" y="140589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518410" y="763905"/>
            <a:ext cx="3978910" cy="5165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ym typeface="+mn-ea"/>
              </a:rPr>
              <a:t>   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jǐ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 几:pron.how many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zuò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  做:v.do,engage in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ɡōnɡzuò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13  工 作: n. work,job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lǜshī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14  律师:n.  lawyer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yīshēnɡ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  医 生:  n.doctor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>
                <a:solidFill>
                  <a:schemeClr val="tx1"/>
                </a:solidFill>
                <a:sym typeface="+mn-ea"/>
              </a:rPr>
              <a:t> 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5-6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210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378315" y="1041400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3" name="标题 1"/>
          <p:cNvSpPr>
            <a:spLocks noGrp="1"/>
          </p:cNvSpPr>
          <p:nvPr>
            <p:ph type="title"/>
          </p:nvPr>
        </p:nvSpPr>
        <p:spPr>
          <a:xfrm>
            <a:off x="1962150" y="220663"/>
            <a:ext cx="8348663" cy="1768475"/>
          </a:xfrm>
        </p:spPr>
        <p:txBody>
          <a:bodyPr anchor="ctr"/>
          <a:p>
            <a:r>
              <a:rPr lang="en-US" altLang="zh-CN" sz="2400" b="1"/>
              <a:t>     </a:t>
            </a:r>
            <a:endParaRPr lang="en-US" altLang="zh-CN" sz="2400" b="1"/>
          </a:p>
        </p:txBody>
      </p:sp>
      <p:sp>
        <p:nvSpPr>
          <p:cNvPr id="4098" name="内容占位符 2"/>
          <p:cNvSpPr>
            <a:spLocks noGrp="1"/>
          </p:cNvSpPr>
          <p:nvPr>
            <p:ph idx="1"/>
          </p:nvPr>
        </p:nvSpPr>
        <p:spPr>
          <a:xfrm>
            <a:off x="1417955" y="1784985"/>
            <a:ext cx="4509770" cy="3437890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anchor="t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bàbɑ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爸爸:father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māmɑ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妈妈 :mother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ɡēɡe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哥哥 : elder brother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42430" y="360680"/>
            <a:ext cx="4472305" cy="37655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dìdi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弟弟：younger brother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jiějie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姐 姐：</a:t>
            </a:r>
            <a:r>
              <a:rPr lang="en-US" altLang="zh-CN" sz="2000" strike="noStrike" noProof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</a:t>
            </a:r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sister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mèimei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妹 妹</a:t>
            </a:r>
            <a:r>
              <a:rPr lang="en-US" altLang="zh-CN" sz="2000" strike="noStrike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:younger sister</a:t>
            </a:r>
            <a:r>
              <a:rPr lang="en-US" altLang="zh-CN" sz="20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000" b="1" strike="noStrike" noProof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5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7226" name="图片 62" descr="http://pixabay.com/static/uploads/photo/2012/04/13/00/06/red-head-31117_640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550253" y="2892022"/>
            <a:ext cx="842702" cy="86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25" name="Picture 8" descr="http://img2.imgtn.bdimg.com/it/u=4267177130,2733854798&amp;fm=21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2927" y="1828588"/>
            <a:ext cx="843220" cy="84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32" name="图片 68" descr="http://img5.imgtn.bdimg.com/it/u=2352067814,1730565105&amp;fm=21&amp;gp=0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72170" y="4272280"/>
            <a:ext cx="843220" cy="73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30" name="图片 66" descr="http://pic.58pic.com/58pic/14/58/00/77Z58PICRTG_102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73554" y="854922"/>
            <a:ext cx="996533" cy="64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08" name="Picture 26" descr="http://pic.58pic.com/58pic/15/01/72/00r58PICz5q_1024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25" t="6717" r="3699" b="12685"/>
          <a:stretch>
            <a:fillRect/>
          </a:stretch>
        </p:blipFill>
        <p:spPr bwMode="auto">
          <a:xfrm>
            <a:off x="9764095" y="3042920"/>
            <a:ext cx="1213723" cy="751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28" name="图片 64" descr="http://static.freepik.com/free-photo/girl-face-cartoon_17-1113101737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2677" y="1870075"/>
            <a:ext cx="737600" cy="80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文本占位符 5124"/>
          <p:cNvSpPr>
            <a:spLocks noGrp="1"/>
          </p:cNvSpPr>
          <p:nvPr>
            <p:ph idx="1"/>
          </p:nvPr>
        </p:nvSpPr>
        <p:spPr>
          <a:xfrm>
            <a:off x="1121410" y="951230"/>
            <a:ext cx="6004560" cy="54171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 strike="noStrike" noProof="1" dirty="0"/>
              <a:t> </a:t>
            </a:r>
            <a:r>
              <a:rPr lang="en-US" altLang="zh-CN" sz="2000" b="1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有：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v. have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there be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zh-CN" altLang="en-US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yǒu  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A: 你 有  …… 吗 ？ (Do you have ……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B1 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Yes,I have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méiyǒu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B2 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没有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。( No ,I have not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。</a:t>
            </a: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我没有哥哥。</a:t>
            </a:r>
            <a:endParaRPr lang="en-US" altLang="zh-CN" sz="2000" strike="noStrike" noProof="1" dirty="0">
              <a:effectLst/>
            </a:endParaRPr>
          </a:p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211455" y="80645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1840865" y="3272790"/>
            <a:ext cx="2582545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 ɡe </a:t>
            </a:r>
            <a:endParaRPr lang="en-US" altLang="zh-CN" sz="1600" b="1" strike="noStrike" noProof="1" dirty="0">
              <a:solidFill>
                <a:schemeClr val="accent4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哥 哥</a:t>
            </a:r>
            <a:r>
              <a:rPr lang="zh-CN" altLang="en-US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1600" b="1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 brother</a:t>
            </a:r>
            <a:r>
              <a:rPr lang="en-US" altLang="zh-CN" sz="1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01255" y="2596515"/>
            <a:ext cx="3868420" cy="26327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dìdi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弟弟：younger brother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jiějie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姐 姐：</a:t>
            </a:r>
            <a:r>
              <a:rPr lang="en-US" altLang="zh-CN" sz="1600" b="1" dirty="0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</a:t>
            </a:r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sister</a:t>
            </a:r>
            <a:endParaRPr lang="en-US" altLang="zh-CN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mèimei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妹 妹</a:t>
            </a:r>
            <a:r>
              <a:rPr lang="en-US" altLang="zh-CN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:younger sister</a:t>
            </a:r>
            <a:r>
              <a:rPr lang="en-US" altLang="zh-CN" sz="1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1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grpSp>
        <p:nvGrpSpPr>
          <p:cNvPr id="4" name="组合 1"/>
          <p:cNvGrpSpPr/>
          <p:nvPr/>
        </p:nvGrpSpPr>
        <p:grpSpPr>
          <a:xfrm>
            <a:off x="-163830" y="36449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5122" name="文本占位符 5124"/>
          <p:cNvSpPr>
            <a:spLocks noGrp="1"/>
          </p:cNvSpPr>
          <p:nvPr/>
        </p:nvSpPr>
        <p:spPr>
          <a:xfrm>
            <a:off x="894715" y="1403985"/>
            <a:ext cx="10145395" cy="52203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500" b="1" strike="noStrike" noProof="1" dirty="0"/>
              <a:t> </a:t>
            </a:r>
            <a:r>
              <a:rPr lang="en-US" altLang="zh-CN" sz="2500" b="1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2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yǒu  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A: 你 有  …… 吗 ？ 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(Do you have ……</a:t>
            </a:r>
            <a:r>
              <a:rPr lang="zh-CN" altLang="en-US" sz="18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en-US" altLang="zh-CN" sz="18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</a:t>
            </a: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yǒu   </a:t>
            </a:r>
            <a:r>
              <a:rPr lang="en-US" altLang="zh-CN" sz="20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yíɡè</a:t>
            </a:r>
            <a:r>
              <a:rPr lang="en-US" altLang="zh-CN" sz="20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ɡēɡe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B1 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zh-CN" altLang="en-US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有  </a:t>
            </a:r>
            <a:r>
              <a:rPr lang="en-US" altLang="zh-CN" sz="2000" strike="noStrike" noProof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 </a:t>
            </a:r>
            <a:r>
              <a:rPr lang="en-US" altLang="zh-CN" sz="20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哥哥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zh-CN" altLang="en-US" sz="18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Yes,I have </a:t>
            </a:r>
            <a:r>
              <a:rPr lang="en-US" altLang="zh-CN" sz="1800" strike="noStrike" noProof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 </a:t>
            </a:r>
            <a:r>
              <a:rPr lang="en-US" altLang="zh-CN" sz="180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</a:t>
            </a:r>
            <a:r>
              <a:rPr sz="180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brother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zh-CN" altLang="en-US" sz="18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18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méiyǒu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méiyǒu ɡēɡe。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yǒu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liǎnɡ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ɡè mèimei、yíɡè dìdi。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B2 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 有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没 有  哥哥。</a:t>
            </a:r>
            <a:r>
              <a:rPr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 有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  妹 妹、 一个 弟弟。</a:t>
            </a:r>
            <a:endParaRPr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zh-CN" altLang="en-US" sz="18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 have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</a:t>
            </a:r>
            <a:r>
              <a:rPr sz="1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</a:t>
            </a:r>
            <a:r>
              <a:rPr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brother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 have </a:t>
            </a:r>
            <a:r>
              <a:rPr sz="18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two</a:t>
            </a:r>
            <a:r>
              <a:rPr sz="18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younger </a:t>
            </a:r>
            <a:r>
              <a:rPr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sisters and a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younger</a:t>
            </a:r>
            <a:r>
              <a:rPr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brother.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075815" y="2635885"/>
            <a:ext cx="2582545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 ɡe </a:t>
            </a:r>
            <a:endParaRPr lang="en-US" altLang="zh-CN" sz="1600" b="1" strike="noStrike" noProof="1" dirty="0">
              <a:solidFill>
                <a:schemeClr val="accent4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哥 哥</a:t>
            </a:r>
            <a:r>
              <a:rPr lang="zh-CN" altLang="en-US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1600" b="1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 brother</a:t>
            </a:r>
            <a:r>
              <a:rPr lang="en-US" altLang="zh-CN" sz="1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336280" y="1403985"/>
            <a:ext cx="2703830" cy="32156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yíɡè ɡēɡe 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一个 哥哥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（an elder brother)            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liǎnɡ</a:t>
            </a: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ɡè dìdi 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</a:t>
            </a: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个  弟弟 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two</a:t>
            </a: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younger brothers)           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sānɡè jiějie </a:t>
            </a:r>
            <a:endParaRPr kumimoji="0" lang="zh-CN" altLang="en-US" sz="1600" b="1" i="0" u="none" strike="noStrike" kern="1200" cap="none" spc="0" normalizeH="0" baseline="0" noProof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三个  姐姐 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three elder sisters）</a:t>
            </a:r>
            <a:endParaRPr lang="zh-CN" altLang="en-US" sz="1600" b="1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60625" y="196215"/>
            <a:ext cx="3046095" cy="88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v.have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there be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5" name="标题 5123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p>
            <a:br>
              <a:rPr lang="zh-CN" altLang="zh-CN" dirty="0"/>
            </a:br>
            <a:endParaRPr lang="zh-CN" altLang="zh-CN" dirty="0"/>
          </a:p>
        </p:txBody>
      </p:sp>
      <p:sp>
        <p:nvSpPr>
          <p:cNvPr id="6146" name="文本占位符 5124"/>
          <p:cNvSpPr>
            <a:spLocks noGrp="1"/>
          </p:cNvSpPr>
          <p:nvPr>
            <p:ph idx="1"/>
          </p:nvPr>
        </p:nvSpPr>
        <p:spPr>
          <a:xfrm>
            <a:off x="2147570" y="740410"/>
            <a:ext cx="8133715" cy="537654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sz="2000">
                <a:effectLst/>
                <a:latin typeface="+mn-lt"/>
                <a:ea typeface="+mn-ea"/>
                <a:sym typeface="+mn-ea"/>
              </a:rPr>
              <a:t>    </a:t>
            </a:r>
            <a:r>
              <a:rPr sz="2000" b="1"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yǒu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  ←→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 有：（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not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have </a:t>
            </a:r>
            <a:r>
              <a:rPr kumimoji="0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méiyǒu ɡēɡe、 jiějie、dìdi、 mèimei。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没 有  哥哥、  姐姐、 弟弟、 妹 妹。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 don't have an elder brother, an elder sister, a younger brother or  a younger sister. )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méiyǒu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xiōnɡdijiěmèi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没 有  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兄  弟 姐妹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 don't have any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brothers and sisters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dúshēnɡzǐ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是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独 生  子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I am an only child.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)(</a:t>
            </a:r>
            <a:r>
              <a:rPr kumimoji="0" lang="en-US" altLang="zh-CN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 son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dú shēnɡnǚ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是  </a:t>
            </a:r>
            <a:r>
              <a:rPr kumimoji="0" lang="zh-CN" altLang="en-US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独   生 女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I am an only child.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)(</a:t>
            </a:r>
            <a:r>
              <a:rPr kumimoji="0" lang="en-US" altLang="zh-CN" sz="2000" i="0" u="none" strike="noStrike" kern="1200" cap="none" spc="0" normalizeH="0" baseline="0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for daughter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zh-CN" altLang="en-US" sz="1800" i="0" u="none" strike="noStrike" kern="1200" cap="none" spc="0" normalizeH="0" baseline="0" noProof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" name="组合 1"/>
          <p:cNvGrpSpPr/>
          <p:nvPr/>
        </p:nvGrpSpPr>
        <p:grpSpPr>
          <a:xfrm>
            <a:off x="-173990" y="334010"/>
            <a:ext cx="2216150" cy="147320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7"/>
            <p:cNvSpPr txBox="1"/>
            <p:nvPr/>
          </p:nvSpPr>
          <p:spPr>
            <a:xfrm rot="-2534154">
              <a:off x="-369505" y="412576"/>
              <a:ext cx="2268244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076950" y="3390900"/>
            <a:ext cx="38100" cy="76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076950" y="3390900"/>
            <a:ext cx="38100" cy="76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26220" y="171450"/>
            <a:ext cx="2546985" cy="1798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3">
            <a:clrChange>
              <a:clrFrom>
                <a:srgbClr val="FFECEB">
                  <a:alpha val="100000"/>
                </a:srgbClr>
              </a:clrFrom>
              <a:clrTo>
                <a:srgbClr val="FFECEB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0" y="5539105"/>
            <a:ext cx="1978025" cy="13188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585470" y="1430655"/>
            <a:ext cx="3816350" cy="378396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  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jiā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家：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n.family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kǒu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口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 m.a measure word</a:t>
            </a:r>
            <a:r>
              <a:rPr kumimoji="0" lang="zh-CN" altLang="en-US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hé 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7 和: conj.and</a:t>
            </a: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jǐ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fontAlgn="base">
              <a:lnSpc>
                <a:spcPts val="2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11 几: pron. how many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7169" name="内容占位符 2"/>
          <p:cNvSpPr>
            <a:spLocks noGrp="1"/>
          </p:cNvSpPr>
          <p:nvPr/>
        </p:nvSpPr>
        <p:spPr>
          <a:xfrm>
            <a:off x="4927600" y="1819910"/>
            <a:ext cx="7264400" cy="32175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jiā yǒu jǐ kǒu rén ？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96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你 家  有  几  口  人 ？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960"/>
              </a:lnSpc>
            </a:pP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How many people are there in your family?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1960"/>
              </a:lnSpc>
              <a:buNone/>
            </a:pPr>
            <a:endParaRPr lang="en-US" altLang="zh-CN" sz="2000" strike="noStrike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96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jiā  yǒu sì kǒu rén： bàbɑ、māmɑ、 ɡēɡe hé wǒ。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960"/>
              </a:lnSpc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家  有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四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口  人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 爸 爸、妈妈、 哥哥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我。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960"/>
              </a:lnSpc>
            </a:pPr>
            <a:r>
              <a:rPr lang="zh-CN" altLang="en-US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(There are four people in my family: father, mother, elder brother and me. )</a:t>
            </a:r>
            <a:r>
              <a:rPr lang="zh-CN" altLang="en-US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内容占位符 2"/>
          <p:cNvSpPr>
            <a:spLocks noGrp="1"/>
          </p:cNvSpPr>
          <p:nvPr/>
        </p:nvSpPr>
        <p:spPr>
          <a:xfrm>
            <a:off x="3131820" y="590550"/>
            <a:ext cx="6539230" cy="25990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fontScale="9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ts val="1720"/>
              </a:lnSpc>
              <a:buNone/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nǐ jiā yǒu jǐ kǒu rén ？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你 家  有  几  口  人 ？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How many people are there in your family?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endParaRPr lang="en-US" altLang="zh-CN" sz="2000" strike="noStrike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jiā  yǒu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kǒu rén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A,B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hé wǒ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家  有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口  人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A,B……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base">
              <a:lnSpc>
                <a:spcPts val="1720"/>
              </a:lnSpc>
            </a:pPr>
            <a:r>
              <a:rPr lang="zh-CN" altLang="en-US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(There are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people in my family: </a:t>
            </a:r>
            <a:r>
              <a:rPr lang="en-US" altLang="zh-CN" sz="18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A,B……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and me</a:t>
            </a:r>
            <a:r>
              <a:rPr lang="en-US" altLang="zh-CN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 )</a:t>
            </a:r>
            <a:r>
              <a:rPr lang="zh-CN" altLang="en-US" sz="18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6910070" y="3752215"/>
            <a:ext cx="2553970" cy="22015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dìdi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弟弟：younger brother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jiějie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姐 姐：</a:t>
            </a:r>
            <a:r>
              <a:rPr lang="en-US" altLang="zh-CN" sz="1600" b="1" dirty="0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</a:t>
            </a:r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sister</a:t>
            </a:r>
            <a:endParaRPr lang="en-US" altLang="zh-CN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/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mèimei </a:t>
            </a:r>
            <a:endParaRPr lang="zh-CN" altLang="en-US" sz="1600" b="1" strike="noStrike" noProof="1">
              <a:solidFill>
                <a:schemeClr val="accent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妹 妹</a:t>
            </a:r>
            <a:r>
              <a:rPr lang="en-US" altLang="zh-CN" sz="1600" b="1">
                <a:solidFill>
                  <a:schemeClr val="accent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:younger sister</a:t>
            </a:r>
            <a:r>
              <a:rPr lang="en-US" altLang="zh-CN" sz="160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131820" y="3752215"/>
            <a:ext cx="2573020" cy="22015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bàbɑ 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爸爸:father 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māmɑ 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妈妈:mather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ɡēɡe </a:t>
            </a:r>
            <a:endParaRPr kumimoji="0" lang="en-US" altLang="zh-CN" sz="1600" b="1" i="0" u="none" strike="noStrike" kern="1200" cap="none" spc="0" normalizeH="0" baseline="0" noProof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accent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哥哥: elder brother</a:t>
            </a:r>
            <a:endParaRPr lang="en-US" altLang="zh-CN" sz="1600" b="1" dirty="0">
              <a:solidFill>
                <a:schemeClr val="accent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97810" y="127000"/>
            <a:ext cx="8601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口</a:t>
            </a:r>
            <a:r>
              <a:rPr lang="en-US" altLang="zh-CN">
                <a:solidFill>
                  <a:srgbClr val="FF0000"/>
                </a:solidFill>
              </a:rPr>
              <a:t>”here is a measure word used for the number of people in a family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114550" y="318770"/>
            <a:ext cx="8751570" cy="627951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b="1" strike="noStrike" noProof="1" dirty="0">
                <a:sym typeface="+mn-ea"/>
              </a:rPr>
              <a:t>   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dōu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都:adv. all,both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 b="1" strike="noStrike" noProof="1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 </a:t>
            </a:r>
            <a:r>
              <a:rPr lang="en-US" altLang="zh-CN" sz="2000" b="1" strike="noStrike" noProof="1" dirty="0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verb</a:t>
            </a:r>
            <a:endParaRPr lang="en-US" altLang="zh-CN" sz="2000" b="1" strike="noStrike" noProof="1" dirty="0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dōu 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都 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学习  汉语。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(We all learn Chinese.)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dōu  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 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是   留 学 生。</a:t>
            </a:r>
            <a:r>
              <a:rPr lang="en-US" altLang="zh-CN" sz="2000" strike="noStrike" noProof="1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(We are all foreign students.)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24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 </a:t>
            </a:r>
            <a:r>
              <a:rPr lang="en-US" altLang="zh-CN" sz="2400" b="1">
                <a:solidFill>
                  <a:srgbClr val="00206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Adj.</a:t>
            </a:r>
            <a:endParaRPr lang="en-US" altLang="zh-CN" sz="2400" b="1">
              <a:solidFill>
                <a:srgbClr val="00206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</a:t>
            </a:r>
            <a:r>
              <a:rPr lang="en-US" altLang="zh-CN"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</a:t>
            </a:r>
            <a:r>
              <a:rPr lang="en-US" altLang="zh-CN"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很</a:t>
            </a:r>
            <a:r>
              <a:rPr lang="en-US" altLang="zh-CN"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高兴。</a:t>
            </a:r>
            <a:endParaRPr lang="en-US" altLang="zh-CN" sz="24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endParaRPr lang="en-US" altLang="zh-CN" sz="2400" b="1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sz="2400" b="1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</a:t>
            </a:r>
            <a:r>
              <a:rPr lang="en-US" altLang="zh-CN" sz="2400" b="1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 b="1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都</a:t>
            </a:r>
            <a:r>
              <a:rPr lang="en-US" altLang="zh-CN" sz="2400" b="1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400" b="1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很好。</a:t>
            </a:r>
            <a:endParaRPr sz="2400" b="1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92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92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240915" y="392430"/>
            <a:ext cx="8185150" cy="392493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400" b="1" strike="noStrike" noProof="1" dirty="0">
                <a:sym typeface="+mn-ea"/>
              </a:rPr>
              <a:t>   </a:t>
            </a:r>
            <a:endParaRPr lang="en-US" altLang="zh-CN" sz="2400" b="1" strike="noStrike" noProof="1" dirty="0"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400" b="1" strike="noStrike" noProof="1" dirty="0">
                <a:sym typeface="+mn-ea"/>
              </a:rPr>
              <a:t>     </a:t>
            </a: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dàxué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shēnɡ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en-US" altLang="zh-CN" sz="2000" strike="noStrike" noProof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  大 学 生:college or university student   </a:t>
            </a:r>
            <a:endParaRPr lang="en-US" altLang="zh-CN" sz="2000" strike="noStrike" noProof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fontAlgn="base">
              <a:lnSpc>
                <a:spcPts val="2000"/>
              </a:lnSpc>
              <a:buClrTx/>
              <a:buSzTx/>
              <a:buFontTx/>
              <a:buNone/>
            </a:pP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en-US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他们  都   是  大 学 生  吗？</a:t>
            </a:r>
            <a:r>
              <a:rPr lang="zh-CN" altLang="en-US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du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ì，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B </a:t>
            </a:r>
            <a:r>
              <a:rPr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对， </a:t>
            </a:r>
            <a:r>
              <a:rPr sz="2000" strike="noStrike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他们   都 是  大 学 生。</a:t>
            </a:r>
            <a:endParaRPr lang="en-US" altLang="zh-CN"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endParaRPr sz="2000" strike="noStrike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66124" y="4568063"/>
            <a:ext cx="3121152" cy="208178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678305" y="5832475"/>
            <a:ext cx="8337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4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2456815" y="521335"/>
            <a:ext cx="7900035" cy="560959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fontAlgn="base">
              <a:lnSpc>
                <a:spcPts val="2000"/>
              </a:lnSpc>
            </a:pPr>
            <a:r>
              <a:rPr lang="en-US" altLang="zh-CN" sz="2400" b="1" strike="noStrike" noProof="1"/>
              <a:t>  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zuò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 做:  v. do ,engage in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ɡōnɡzuò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 工 作: n. work,job 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zuò ɡōnɡzuò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sz="2000" b="1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做  工 作</a:t>
            </a:r>
            <a:endParaRPr lang="en-US" altLang="zh-CN" sz="2000" b="1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bàbɑ</a:t>
            </a:r>
            <a:r>
              <a:rPr lang="en-US" altLang="zh-CN" sz="2000" strike="noStrike" noProof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zuò       ɡōnɡzuò？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你 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爸爸</a:t>
            </a:r>
            <a:r>
              <a:rPr lang="en-US" altLang="zh-CN" sz="2000" strike="noStrike" noProof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做  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什么   </a:t>
            </a:r>
            <a:r>
              <a:rPr lang="en-US" altLang="zh-CN" sz="2000" b="1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 作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(What does your father do?)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 我 </a:t>
            </a:r>
            <a:r>
              <a:rPr lang="en-US" altLang="zh-CN" sz="2000" strike="noStrike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爸爸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strike="noStrike" noProof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老师</a:t>
            </a: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(My father is a teacher. )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956050" y="5516880"/>
            <a:ext cx="997585" cy="74549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zuò</a:t>
            </a:r>
            <a:endParaRPr lang="en-US" altLang="zh-CN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/>
              <a:t>   做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×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2480" y="558800"/>
            <a:ext cx="2858770" cy="2870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1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06390" y="741680"/>
            <a:ext cx="294005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base">
              <a:buClrTx/>
              <a:buSzTx/>
              <a:buFontTx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lǜshī 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14  律师: n. lawyer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yīshēnɡ</a:t>
            </a:r>
            <a:endParaRPr lang="en-US" altLang="zh-CN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  <a:buFontTx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  医 生:  doctor  </a:t>
            </a:r>
            <a:endParaRPr lang="zh-CN" altLang="en-US" sz="2000"/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8228330" y="2721610"/>
            <a:ext cx="3500120" cy="3662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híyuán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职 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:n. office worker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lǎoshī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老 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:teacher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shānɡrén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商  人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:business man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ɡōnɡchénɡshī </a:t>
            </a:r>
            <a:endParaRPr lang="zh-CN" altLang="en-US" sz="2000" strike="noStrike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工  程  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 </a:t>
            </a:r>
            <a:r>
              <a: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engineer</a:t>
            </a:r>
            <a:r>
              <a:rPr sz="1600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87600" y="3096260"/>
            <a:ext cx="4956175" cy="2912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ts val="2000"/>
              </a:lnSpc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你 ……</a:t>
            </a:r>
            <a:r>
              <a:rPr lang="en-US" altLang="zh-CN" sz="200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做   什么   工 作？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(What does your …… do?)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endParaRPr lang="en-US" altLang="zh-CN" sz="2000" strike="noStrike" noProof="1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我 …… </a:t>
            </a:r>
            <a:r>
              <a:rPr lang="en-US" altLang="zh-CN" sz="20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(My …… is ……. )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endParaRPr lang="zh-CN" altLang="en-US" sz="2000"/>
          </a:p>
          <a:p>
            <a:pPr fontAlgn="base">
              <a:lnSpc>
                <a:spcPts val="2000"/>
              </a:lnSpc>
            </a:pPr>
            <a:endParaRPr lang="zh-CN" altLang="en-US" sz="2000"/>
          </a:p>
        </p:txBody>
      </p:sp>
      <p:sp>
        <p:nvSpPr>
          <p:cNvPr id="8" name="圆角矩形 7"/>
          <p:cNvSpPr/>
          <p:nvPr/>
        </p:nvSpPr>
        <p:spPr>
          <a:xfrm>
            <a:off x="2995930" y="3990975"/>
            <a:ext cx="2582545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 ɡe </a:t>
            </a:r>
            <a:endParaRPr lang="en-US" altLang="zh-CN" sz="1600" b="1" strike="noStrike" noProof="1" dirty="0">
              <a:solidFill>
                <a:schemeClr val="accent4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哥 哥</a:t>
            </a:r>
            <a:r>
              <a:rPr lang="zh-CN" altLang="en-US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1600" b="1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 brother</a:t>
            </a:r>
            <a:r>
              <a:rPr lang="en-US" altLang="zh-CN" sz="1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995930" y="5399405"/>
            <a:ext cx="2582545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 ɡe </a:t>
            </a:r>
            <a:endParaRPr lang="en-US" altLang="zh-CN" sz="1600" b="1" strike="noStrike" noProof="1" dirty="0">
              <a:solidFill>
                <a:schemeClr val="accent4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哥 哥</a:t>
            </a:r>
            <a:r>
              <a:rPr lang="zh-CN" altLang="en-US" sz="1600" b="1">
                <a:solidFill>
                  <a:schemeClr val="accent4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1600" b="1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elder brother</a:t>
            </a:r>
            <a:r>
              <a:rPr lang="en-US" altLang="zh-CN" sz="1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律师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90" y="608330"/>
            <a:ext cx="2581910" cy="1614805"/>
          </a:xfrm>
          <a:prstGeom prst="rect">
            <a:avLst/>
          </a:prstGeom>
        </p:spPr>
      </p:pic>
      <p:pic>
        <p:nvPicPr>
          <p:cNvPr id="7" name="图片 6" descr="医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405" y="421640"/>
            <a:ext cx="2976880" cy="19500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5" grpId="0"/>
      <p:bldP spid="8" grpId="0" bldLvl="0" animBg="1"/>
      <p:bldP spid="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3058160" y="259080"/>
            <a:ext cx="3685540" cy="137477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zuò        ɡōnɡzuò </a:t>
            </a:r>
            <a:endParaRPr lang="en-US" altLang="zh-CN" sz="2000" strike="noStrike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lnSpc>
                <a:spcPts val="2000"/>
              </a:lnSpc>
            </a:pP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他们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做   什么   工 作？</a:t>
            </a:r>
            <a:r>
              <a:rPr lang="en-US" altLang="zh-CN" sz="20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>
              <a:lnSpc>
                <a:spcPts val="2000"/>
              </a:lnSpc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(What do they do?)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内容占位符 3"/>
          <p:cNvPicPr>
            <a:picLocks noGrp="1"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965" y="1818640"/>
            <a:ext cx="2574290" cy="1371600"/>
          </a:xfrm>
          <a:prstGeom prst="rect">
            <a:avLst/>
          </a:prstGeom>
        </p:spPr>
      </p:pic>
      <p:pic>
        <p:nvPicPr>
          <p:cNvPr id="3" name="内容占位符 3"/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950" y="467360"/>
            <a:ext cx="1900555" cy="28524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990" y="1818640"/>
            <a:ext cx="2251710" cy="1501140"/>
          </a:xfrm>
          <a:prstGeom prst="rect">
            <a:avLst/>
          </a:prstGeom>
        </p:spPr>
      </p:pic>
      <p:pic>
        <p:nvPicPr>
          <p:cNvPr id="8" name="内容占位符 3"/>
          <p:cNvPicPr>
            <a:picLocks noGrp="1"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5" y="3810635"/>
            <a:ext cx="2564130" cy="1708150"/>
          </a:xfrm>
          <a:prstGeom prst="rect">
            <a:avLst/>
          </a:prstGeom>
        </p:spPr>
      </p:pic>
      <p:pic>
        <p:nvPicPr>
          <p:cNvPr id="10" name="内容占位符 3"/>
          <p:cNvPicPr>
            <a:picLocks noGrp="1"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115" y="3907155"/>
            <a:ext cx="2521585" cy="1679575"/>
          </a:xfrm>
          <a:prstGeom prst="rect">
            <a:avLst/>
          </a:prstGeom>
        </p:spPr>
      </p:pic>
      <p:pic>
        <p:nvPicPr>
          <p:cNvPr id="107" name="图片 106"/>
          <p:cNvPicPr/>
          <p:nvPr/>
        </p:nvPicPr>
        <p:blipFill>
          <a:blip r:embed="rId7"/>
          <a:stretch>
            <a:fillRect/>
          </a:stretch>
        </p:blipFill>
        <p:spPr>
          <a:xfrm>
            <a:off x="7530465" y="3907155"/>
            <a:ext cx="2545080" cy="1871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29945" y="5900420"/>
            <a:ext cx="311531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工程师（ɡōnɡ chénɡ shī ）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222115" y="6027420"/>
            <a:ext cx="224917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职员（zhí yuán ）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38745" y="6027420"/>
            <a:ext cx="212852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商人（shānɡ rén ）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9867265" y="1818640"/>
            <a:ext cx="164465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律师（lǜ shī）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4724400" y="3462020"/>
            <a:ext cx="2150110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医生（yī shēnɡ 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9" grpId="0" bldLvl="0" animBg="1"/>
      <p:bldP spid="11" grpId="0" bldLvl="0" animBg="1"/>
      <p:bldP spid="1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3610" y="151765"/>
            <a:ext cx="8772525" cy="6189345"/>
          </a:xfrm>
        </p:spPr>
        <p:txBody>
          <a:bodyPr/>
          <a:p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2.xml><?xml version="1.0" encoding="utf-8"?>
<p:tagLst xmlns:p="http://schemas.openxmlformats.org/presentationml/2006/main">
  <p:tag name="KSO_WM_UNIT_PLACING_PICTURE_USER_VIEWPORT" val="{&quot;height&quot;:3795,&quot;width&quot;:7125}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8.xml><?xml version="1.0" encoding="utf-8"?>
<p:tagLst xmlns:p="http://schemas.openxmlformats.org/presentationml/2006/main"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3851</Words>
  <Application>WPS 演示</Application>
  <PresentationFormat>宽屏</PresentationFormat>
  <Paragraphs>329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Arial Unicode MS</vt:lpstr>
      <vt:lpstr>Office 主题​​</vt:lpstr>
      <vt:lpstr>              nǐ jiā yǒujǐ kǒu rén ？  5       你 家  有  几  口  人  ？      Lesson 5    How many people are there in your family?          　</vt:lpstr>
      <vt:lpstr>PowerPoint 演示文稿</vt:lpstr>
      <vt:lpstr>PowerPoint 演示文稿</vt:lpstr>
      <vt:lpstr>     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106</cp:revision>
  <dcterms:created xsi:type="dcterms:W3CDTF">2019-08-11T11:31:00Z</dcterms:created>
  <dcterms:modified xsi:type="dcterms:W3CDTF">2025-09-24T23:53:57Z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616A612CB4974D229CCE07157E64469E</vt:lpwstr>
  </property>
</Properties>
</file>