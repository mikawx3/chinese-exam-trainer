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16" r:id="rId3"/>
    <p:sldId id="409" r:id="rId4"/>
    <p:sldId id="407" r:id="rId5"/>
    <p:sldId id="385" r:id="rId6"/>
    <p:sldId id="435" r:id="rId7"/>
    <p:sldId id="417" r:id="rId8"/>
    <p:sldId id="397" r:id="rId9"/>
    <p:sldId id="452" r:id="rId10"/>
    <p:sldId id="418" r:id="rId11"/>
    <p:sldId id="419" r:id="rId12"/>
    <p:sldId id="453" r:id="rId13"/>
    <p:sldId id="426" r:id="rId14"/>
    <p:sldId id="399" r:id="rId15"/>
    <p:sldId id="450" r:id="rId16"/>
    <p:sldId id="348" r:id="rId17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2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60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image" Target="../media/image22.png"/><Relationship Id="rId3" Type="http://schemas.openxmlformats.org/officeDocument/2006/relationships/tags" Target="../tags/tag22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tags" Target="../tags/tag231.xml"/><Relationship Id="rId3" Type="http://schemas.openxmlformats.org/officeDocument/2006/relationships/image" Target="../media/image24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image" Target="../media/image26.png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49.xml"/><Relationship Id="rId22" Type="http://schemas.openxmlformats.org/officeDocument/2006/relationships/image" Target="../media/image28.jpeg"/><Relationship Id="rId21" Type="http://schemas.openxmlformats.org/officeDocument/2006/relationships/tags" Target="../tags/tag248.xml"/><Relationship Id="rId20" Type="http://schemas.openxmlformats.org/officeDocument/2006/relationships/image" Target="../media/image27.png"/><Relationship Id="rId2" Type="http://schemas.openxmlformats.org/officeDocument/2006/relationships/tags" Target="../tags/tag233.xml"/><Relationship Id="rId19" Type="http://schemas.microsoft.com/office/2007/relationships/media" Target="../media/media1.mp3"/><Relationship Id="rId18" Type="http://schemas.openxmlformats.org/officeDocument/2006/relationships/audio" Target="../media/media1.mp3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tags" Target="../tags/tag23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media" Target="../media/media2.mp3"/><Relationship Id="rId4" Type="http://schemas.openxmlformats.org/officeDocument/2006/relationships/audio" Target="../media/media2.mp3"/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microsoft.com/office/2007/relationships/media" Target="../media/media2.mp3"/><Relationship Id="rId7" Type="http://schemas.openxmlformats.org/officeDocument/2006/relationships/audio" Target="../media/media2.mp3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image" Target="../media/image26.png"/><Relationship Id="rId2" Type="http://schemas.openxmlformats.org/officeDocument/2006/relationships/tags" Target="../tags/tag25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56.xml"/><Relationship Id="rId11" Type="http://schemas.openxmlformats.org/officeDocument/2006/relationships/image" Target="../media/image32.jpeg"/><Relationship Id="rId10" Type="http://schemas.openxmlformats.org/officeDocument/2006/relationships/tags" Target="../tags/tag255.xml"/><Relationship Id="rId1" Type="http://schemas.openxmlformats.org/officeDocument/2006/relationships/tags" Target="../tags/tag2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jpeg"/><Relationship Id="rId1" Type="http://schemas.openxmlformats.org/officeDocument/2006/relationships/tags" Target="../tags/tag25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jpeg"/><Relationship Id="rId1" Type="http://schemas.openxmlformats.org/officeDocument/2006/relationships/tags" Target="../tags/tag2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70" y="2235185"/>
            <a:ext cx="9144000" cy="2386800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br>
              <a:rPr lang="en-US" altLang="zh-CN" sz="3555" err="1">
                <a:ea typeface="宋体" panose="02010600030101010101" pitchFamily="2" charset="-122"/>
                <a:sym typeface="+mn-ea"/>
              </a:rPr>
            </a:br>
            <a:r>
              <a:rPr lang="en-US" altLang="zh-CN" sz="3110" err="1">
                <a:solidFill>
                  <a:schemeClr val="bg2">
                    <a:lumMod val="10000"/>
                  </a:schemeClr>
                </a:solidFill>
                <a:ea typeface="宋体" panose="02010600030101010101" pitchFamily="2" charset="-122"/>
                <a:sym typeface="+mn-ea"/>
              </a:rPr>
              <a:t>        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nǐ jiā yǒu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宋体" panose="02010600030101010101" pitchFamily="2" charset="-122"/>
              </a:rPr>
              <a:t>j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ǐ kǒu rén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5       你 家  有  </a:t>
            </a:r>
            <a:r>
              <a:rPr lang="zh-CN" altLang="en-US" sz="3110">
                <a:solidFill>
                  <a:schemeClr val="bg2">
                    <a:lumMod val="10000"/>
                  </a:schemeClr>
                </a:solidFill>
                <a:sym typeface="+mn-ea"/>
              </a:rPr>
              <a:t>几</a:t>
            </a: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 口  人  ？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  <a:t> </a:t>
            </a:r>
            <a:br>
              <a:rPr lang="en-US" altLang="zh-CN" sz="3110">
                <a:solidFill>
                  <a:schemeClr val="bg2">
                    <a:lumMod val="10000"/>
                  </a:schemeClr>
                </a:solidFill>
                <a:sym typeface="+mn-ea"/>
              </a:rPr>
            </a:br>
            <a:r>
              <a:rPr lang="zh-CN" altLang="en-US" sz="35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Lesson 5    </a:t>
            </a:r>
            <a:r>
              <a:rPr lang="en-US" altLang="zh-CN" sz="2220">
                <a:solidFill>
                  <a:schemeClr val="bg2">
                    <a:lumMod val="10000"/>
                  </a:schemeClr>
                </a:solidFill>
                <a:sym typeface="+mn-ea"/>
              </a:rPr>
              <a:t>How many people are there in your family?</a:t>
            </a:r>
            <a:br>
              <a:rPr lang="en-US" altLang="zh-CN" sz="2220" b="1"/>
            </a:br>
            <a:r>
              <a:rPr lang="zh-CN" altLang="en-US" sz="222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  <a:sym typeface="+mn-ea"/>
              </a:rPr>
              <a:t> 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8060"/>
            <a:ext cx="3092450" cy="2059940"/>
          </a:xfr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045" y="0"/>
            <a:ext cx="2814955" cy="1875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8620" t="56758" r="79051" b="27690"/>
          <a:stretch>
            <a:fillRect/>
          </a:stretch>
        </p:blipFill>
        <p:spPr>
          <a:xfrm>
            <a:off x="752475" y="459740"/>
            <a:ext cx="1504950" cy="2548890"/>
          </a:xfrm>
          <a:prstGeom prst="rect">
            <a:avLst/>
          </a:prstGeom>
        </p:spPr>
      </p:pic>
      <p:pic>
        <p:nvPicPr>
          <p:cNvPr id="12" name="图片 11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1836" t="57239" r="67108" b="27530"/>
          <a:stretch>
            <a:fillRect/>
          </a:stretch>
        </p:blipFill>
        <p:spPr>
          <a:xfrm>
            <a:off x="2407285" y="459740"/>
            <a:ext cx="1368425" cy="2531110"/>
          </a:xfrm>
          <a:prstGeom prst="rect">
            <a:avLst/>
          </a:prstGeom>
        </p:spPr>
      </p:pic>
      <p:pic>
        <p:nvPicPr>
          <p:cNvPr id="14" name="图片 13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971" t="15025" r="81606" b="73037"/>
          <a:stretch>
            <a:fillRect/>
          </a:stretch>
        </p:blipFill>
        <p:spPr>
          <a:xfrm>
            <a:off x="5757545" y="459740"/>
            <a:ext cx="1046480" cy="2309495"/>
          </a:xfrm>
          <a:prstGeom prst="rect">
            <a:avLst/>
          </a:prstGeom>
        </p:spPr>
      </p:pic>
      <p:pic>
        <p:nvPicPr>
          <p:cNvPr id="11" name="图片 10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4477" t="56651" r="56216" b="27530"/>
          <a:stretch>
            <a:fillRect/>
          </a:stretch>
        </p:blipFill>
        <p:spPr>
          <a:xfrm>
            <a:off x="4001770" y="361950"/>
            <a:ext cx="1151890" cy="2628900"/>
          </a:xfrm>
          <a:prstGeom prst="rect">
            <a:avLst/>
          </a:prstGeom>
        </p:spPr>
      </p:pic>
      <p:pic>
        <p:nvPicPr>
          <p:cNvPr id="15" name="图片 14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3088" t="14426" r="69020" b="73037"/>
          <a:stretch>
            <a:fillRect/>
          </a:stretch>
        </p:blipFill>
        <p:spPr>
          <a:xfrm>
            <a:off x="7693660" y="459740"/>
            <a:ext cx="1095375" cy="2386965"/>
          </a:xfrm>
          <a:prstGeom prst="rect">
            <a:avLst/>
          </a:prstGeom>
        </p:spPr>
      </p:pic>
      <p:pic>
        <p:nvPicPr>
          <p:cNvPr id="10" name="图片 9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4461" t="56987" r="42744" b="27530"/>
          <a:stretch>
            <a:fillRect/>
          </a:stretch>
        </p:blipFill>
        <p:spPr>
          <a:xfrm>
            <a:off x="9552940" y="523240"/>
            <a:ext cx="1382395" cy="224599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293" t="68729" r="80016" b="19508"/>
          <a:stretch>
            <a:fillRect/>
          </a:stretch>
        </p:blipFill>
        <p:spPr>
          <a:xfrm>
            <a:off x="960755" y="3195320"/>
            <a:ext cx="1446530" cy="2408555"/>
          </a:xfrm>
          <a:prstGeom prst="rect">
            <a:avLst/>
          </a:prstGeom>
          <a:ln>
            <a:noFill/>
          </a:ln>
        </p:spPr>
      </p:pic>
      <p:pic>
        <p:nvPicPr>
          <p:cNvPr id="16" name="图片 15" descr="图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2972" t="68576" r="68129" b="19508"/>
          <a:stretch>
            <a:fillRect/>
          </a:stretch>
        </p:blipFill>
        <p:spPr>
          <a:xfrm>
            <a:off x="3328670" y="3090545"/>
            <a:ext cx="1425575" cy="2618105"/>
          </a:xfrm>
          <a:prstGeom prst="rect">
            <a:avLst/>
          </a:prstGeom>
          <a:ln>
            <a:noFill/>
          </a:ln>
        </p:spPr>
      </p:pic>
      <p:pic>
        <p:nvPicPr>
          <p:cNvPr id="9" name="图片 8" descr="oooooo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9005" t="56693" r="29359" b="27530"/>
          <a:stretch>
            <a:fillRect/>
          </a:stretch>
        </p:blipFill>
        <p:spPr>
          <a:xfrm>
            <a:off x="5628005" y="3086735"/>
            <a:ext cx="1440180" cy="2621915"/>
          </a:xfrm>
          <a:prstGeom prst="rect">
            <a:avLst/>
          </a:prstGeom>
        </p:spPr>
      </p:pic>
      <p:pic>
        <p:nvPicPr>
          <p:cNvPr id="4" name="图片 3" descr="图片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6026" t="68735" r="57643" b="19508"/>
          <a:stretch>
            <a:fillRect/>
          </a:stretch>
        </p:blipFill>
        <p:spPr>
          <a:xfrm>
            <a:off x="7920355" y="3086735"/>
            <a:ext cx="953135" cy="2428875"/>
          </a:xfrm>
          <a:prstGeom prst="rect">
            <a:avLst/>
          </a:prstGeom>
          <a:ln>
            <a:noFill/>
          </a:ln>
        </p:spPr>
      </p:pic>
      <p:pic>
        <p:nvPicPr>
          <p:cNvPr id="6" name="图片 5" descr="图片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3824" t="14116" r="53026" b="73037"/>
          <a:stretch>
            <a:fillRect/>
          </a:stretch>
        </p:blipFill>
        <p:spPr>
          <a:xfrm>
            <a:off x="9728200" y="3008630"/>
            <a:ext cx="2103755" cy="2819400"/>
          </a:xfrm>
          <a:prstGeom prst="rect">
            <a:avLst/>
          </a:prstGeom>
        </p:spPr>
      </p:pic>
      <p:grpSp>
        <p:nvGrpSpPr>
          <p:cNvPr id="129037" name="组合 1"/>
          <p:cNvGrpSpPr/>
          <p:nvPr/>
        </p:nvGrpSpPr>
        <p:grpSpPr>
          <a:xfrm>
            <a:off x="-61595" y="80645"/>
            <a:ext cx="1466850" cy="1483360"/>
            <a:chOff x="-165735" y="0"/>
            <a:chExt cx="1994535" cy="1828800"/>
          </a:xfrm>
        </p:grpSpPr>
        <p:sp>
          <p:nvSpPr>
            <p:cNvPr id="2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4540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rgbClr val="00B050"/>
                  </a:solidFill>
                  <a:sym typeface="+mn-ea"/>
                </a:rPr>
                <a:t>numbers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836545" y="1031875"/>
            <a:ext cx="2476500" cy="56311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yī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一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èr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二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sān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三 ：13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shí sì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十  四 ：14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wǔ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五 ：15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41465" y="1031875"/>
            <a:ext cx="266573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liù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六 ：16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qī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七 ：17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bā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八 ：18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shí jiǔ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十  九 ：19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èr shí </a:t>
            </a:r>
            <a:endParaRPr lang="zh-CN" altLang="en-US" sz="2400" b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 十：  20  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12335" y="844233"/>
            <a:ext cx="2565400" cy="5031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sān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  十：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sì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 十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ǔ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 十 ：50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liù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六  十：60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06715" y="844550"/>
            <a:ext cx="2578735" cy="51695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qī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七 十：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70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bā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八 十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80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jiǔ shí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九  十 ：90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bǎi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百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3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513840" y="1399540"/>
            <a:ext cx="2565400" cy="41382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endParaRPr lang="zh-CN" altLang="en-US" sz="33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二十一：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二十二 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二十三：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二十四：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24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3840" y="159512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èr shí yī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1513840" y="2760980"/>
            <a:ext cx="1524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èr shí è</a:t>
            </a:r>
            <a:r>
              <a:rPr lang="zh-CN" altLang="en-US"/>
              <a:t>r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13840" y="376618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èr shí sān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66240" y="4899660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èr shí sì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61595" y="80645"/>
            <a:ext cx="2815590" cy="2680335"/>
            <a:chOff x="-165735" y="0"/>
            <a:chExt cx="1994535" cy="1828800"/>
          </a:xfrm>
        </p:grpSpPr>
        <p:sp>
          <p:nvSpPr>
            <p:cNvPr id="1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165735" y="458470"/>
              <a:ext cx="1747520" cy="3561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>
                  <a:sym typeface="+mn-ea"/>
                </a:rPr>
                <a:t>numbers</a:t>
              </a:r>
              <a:endParaRPr lang="en-US" altLang="zh-CN" sz="2800" b="1" dirty="0"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280" y="2189480"/>
            <a:ext cx="9314180" cy="2024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4294967295"/>
          </p:nvPr>
        </p:nvSpPr>
        <p:spPr>
          <a:xfrm>
            <a:off x="250190" y="1825625"/>
            <a:ext cx="11692255" cy="320738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Autofit/>
          </a:bodyPr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jiào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ínnà，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shì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ǎɡuó liúxué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shēng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叫   林娜，  我 是  法国   留 学  生。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jiā yǒu sì kǒu rén： bàbɑ、 māmɑ、 ɡēɡe hé wǒ。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 家  有  四 口  人：  爸爸、 妈妈、 哥哥 和 我。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bàbɑ shì zhíyuán， māmɑ shì lǎoshī，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ɡē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ɡe hé wǒ dōu shì dàxué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shēng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爸爸  是  职员，    妈妈  是  老师， 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哥哥 和 我  都  是  大 学 生。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课文一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one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5-5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356340" y="419100"/>
            <a:ext cx="495300" cy="495300"/>
          </a:xfrm>
          <a:prstGeom prst="rect">
            <a:avLst/>
          </a:prstGeom>
        </p:spPr>
      </p:pic>
      <p:pic>
        <p:nvPicPr>
          <p:cNvPr id="100" name="图片 99"/>
          <p:cNvPicPr/>
          <p:nvPr>
            <p:custDataLst>
              <p:tags r:id="rId4"/>
            </p:custDataLst>
          </p:nvPr>
        </p:nvPicPr>
        <p:blipFill>
          <a:blip r:embed="rId5">
            <a:clrChange>
              <a:clrFrom>
                <a:srgbClr val="3AB54A">
                  <a:alpha val="100000"/>
                </a:srgbClr>
              </a:clrFrom>
              <a:clrTo>
                <a:srgbClr val="3AB54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65110" y="419100"/>
            <a:ext cx="2806700" cy="26149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29" name="内容占位符 2"/>
          <p:cNvSpPr>
            <a:spLocks noGrp="1"/>
          </p:cNvSpPr>
          <p:nvPr>
            <p:ph idx="1"/>
          </p:nvPr>
        </p:nvSpPr>
        <p:spPr>
          <a:xfrm>
            <a:off x="3181985" y="487045"/>
            <a:ext cx="7012305" cy="588391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r>
              <a:rPr lang="en-US" altLang="zh-CN" sz="2000" b="1"/>
              <a:t>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línnà shì nǎɡuó liúxuésh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ē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nɡ？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林娜  是  哪国   留 学 生？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línnà de jiā yǒu jǐ kǒu rén？ tāmen shì shuí？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林娜  的  家  有 几  口  人？ 他们  是   谁？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línnà de bàbɑ zuò shénme ɡōnɡzuò？ māmɑ ne？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林娜 的 爸爸  做  什么   工作？   妈妈 呢？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línnà de ɡēɡe ɡōnɡzuò mɑ？ línnà ne？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林娜 的 哥哥  工 作  吗？ 林娜  呢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?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0" y="269240"/>
            <a:ext cx="2056765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问题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Question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/>
          <p:nvPr userDrawn="1">
            <p:custDataLst>
              <p:tags r:id="rId1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aseline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442720" cy="13944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10749280" y="5463540"/>
            <a:ext cx="1442720" cy="139446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324920" y="419233"/>
            <a:ext cx="2800375" cy="1771637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160">
                <a:solidFill>
                  <a:schemeClr val="accent1"/>
                </a:solidFill>
                <a:uFillTx/>
                <a:latin typeface="汉仪旗黑-85S" panose="00020600040101010101" charset="-122"/>
                <a:ea typeface="汉仪旗黑-85S" panose="00020600040101010101" charset="-122"/>
                <a:cs typeface="汉仪旗黑-85S" panose="00020600040101010101" charset="-122"/>
              </a:rPr>
              <a:t>课文一</a:t>
            </a:r>
            <a:endParaRPr lang="zh-CN" altLang="en-US" sz="3200" b="1" spc="160">
              <a:solidFill>
                <a:schemeClr val="accent1"/>
              </a:solidFill>
              <a:uFillTx/>
              <a:latin typeface="汉仪旗黑-85S" panose="00020600040101010101" charset="-122"/>
              <a:ea typeface="汉仪旗黑-85S" panose="00020600040101010101" charset="-122"/>
              <a:cs typeface="汉仪旗黑-85S" panose="00020600040101010101" charset="-122"/>
            </a:endParaRPr>
          </a:p>
          <a:p>
            <a:pPr marL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spc="160">
                <a:solidFill>
                  <a:schemeClr val="accent1"/>
                </a:solidFill>
                <a:uFillTx/>
                <a:latin typeface="汉仪旗黑-85S" panose="00020600040101010101" charset="-122"/>
                <a:ea typeface="汉仪旗黑-85S" panose="00020600040101010101" charset="-122"/>
                <a:cs typeface="汉仪旗黑-85S" panose="00020600040101010101" charset="-122"/>
              </a:rPr>
              <a:t>Text one</a:t>
            </a:r>
            <a:endParaRPr lang="en-US" altLang="zh-CN" sz="3200" b="1" spc="160">
              <a:solidFill>
                <a:schemeClr val="accent1"/>
              </a:solidFill>
              <a:uFillTx/>
              <a:latin typeface="汉仪旗黑-85S" panose="00020600040101010101" charset="-122"/>
              <a:ea typeface="汉仪旗黑-85S" panose="00020600040101010101" charset="-122"/>
              <a:cs typeface="汉仪旗黑-85S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784350" y="914400"/>
            <a:ext cx="6539865" cy="152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2600" spc="18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叫   林娜，  我 是  法国   留学生。</a:t>
            </a:r>
            <a:endParaRPr sz="2600" spc="180">
              <a:solidFill>
                <a:schemeClr val="dk1">
                  <a:lumMod val="85000"/>
                  <a:lumOff val="1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1094783" y="1036305"/>
            <a:ext cx="550673" cy="55067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en-US" altLang="zh-CN" sz="14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>
            <a:off x="1370540" y="1566800"/>
            <a:ext cx="0" cy="1114798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784350" y="2545715"/>
            <a:ext cx="6539865" cy="152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2600" spc="18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家 有 四 口  人：  爸爸、 妈妈、 哥哥 和 我。</a:t>
            </a:r>
            <a:endParaRPr sz="2600" spc="180">
              <a:solidFill>
                <a:schemeClr val="dk1">
                  <a:lumMod val="85000"/>
                  <a:lumOff val="1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1" name="椭圆 10"/>
          <p:cNvSpPr/>
          <p:nvPr>
            <p:custDataLst>
              <p:tags r:id="rId10"/>
            </p:custDataLst>
          </p:nvPr>
        </p:nvSpPr>
        <p:spPr>
          <a:xfrm>
            <a:off x="1094783" y="2667306"/>
            <a:ext cx="550673" cy="5506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en-US" altLang="zh-CN" sz="14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1370540" y="3197801"/>
            <a:ext cx="0" cy="1114798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784175" y="4176402"/>
            <a:ext cx="6207892" cy="17354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2600" spc="18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我爸爸  是  职员（zhí yuán），    </a:t>
            </a:r>
            <a:endParaRPr sz="2600" spc="180">
              <a:solidFill>
                <a:schemeClr val="dk1">
                  <a:lumMod val="85000"/>
                  <a:lumOff val="1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2600" spc="18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妈妈  是  老师，   </a:t>
            </a:r>
            <a:endParaRPr sz="2600" spc="180">
              <a:solidFill>
                <a:schemeClr val="dk1">
                  <a:lumMod val="85000"/>
                  <a:lumOff val="1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sz="2600" spc="18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哥哥 和 我  都  是  大学 生。 </a:t>
            </a:r>
            <a:endParaRPr sz="2600" spc="180">
              <a:solidFill>
                <a:schemeClr val="dk1">
                  <a:lumMod val="85000"/>
                  <a:lumOff val="1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13"/>
            </p:custDataLst>
          </p:nvPr>
        </p:nvSpPr>
        <p:spPr>
          <a:xfrm>
            <a:off x="1094783" y="4298307"/>
            <a:ext cx="550673" cy="5506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en-US" altLang="zh-CN" sz="14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4"/>
            </p:custDataLst>
          </p:nvPr>
        </p:nvCxnSpPr>
        <p:spPr>
          <a:xfrm>
            <a:off x="1370540" y="4828802"/>
            <a:ext cx="0" cy="1114798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094783" y="1047025"/>
            <a:ext cx="550672" cy="51641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/>
            <a:r>
              <a:rPr lang="en-US" altLang="zh-CN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094783" y="2659739"/>
            <a:ext cx="550672" cy="5632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/>
            <a:r>
              <a:rPr lang="en-US" altLang="zh-CN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094783" y="4302930"/>
            <a:ext cx="550672" cy="5632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p>
            <a:pPr algn="ctr"/>
            <a:r>
              <a:rPr lang="en-US" altLang="zh-CN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zh-CN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5-5">
            <a:hlinkClick r:id="" action="ppaction://media"/>
          </p:cNvPr>
          <p:cNvPicPr/>
          <p:nvPr>
            <a:audioFile r:link="rId18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11356340" y="419100"/>
            <a:ext cx="495300" cy="49530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87360" y="3505200"/>
            <a:ext cx="3267075" cy="21361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3" name="内容占位符 2"/>
          <p:cNvSpPr>
            <a:spLocks noGrp="1"/>
          </p:cNvSpPr>
          <p:nvPr>
            <p:ph idx="1"/>
          </p:nvPr>
        </p:nvSpPr>
        <p:spPr>
          <a:xfrm>
            <a:off x="2756535" y="426085"/>
            <a:ext cx="6297930" cy="605853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spAutoFit/>
          </a:bodyPr>
          <a:p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ínnà：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 jiā yǒu jǐ kǒu rén？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娜： 你 家  有  几 口  人？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hūyún：</a:t>
            </a:r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jiā yǒu sān kǒu rén。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我 家  有  三  口  人。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ínnà：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 jiā yǒu shénme rén？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娜： 你 家  有  </a:t>
            </a:r>
            <a:r>
              <a:rPr sz="190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什 么 人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hūyún：</a:t>
            </a:r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jiā yǒu bàbɑ、 māmɑ hé wǒ。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我 家  有  爸爸、 妈妈 和 我。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ínnà： </a:t>
            </a:r>
            <a:r>
              <a:rPr lang="en-US" altLang="zh-CN"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ǐ bàbɑ、 māmɑ zuò shénme ɡōnɡzuò？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林 娜： 你 爸爸、 妈妈 做   什么   工作？ </a:t>
            </a:r>
            <a:endParaRPr sz="19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hūyún：</a:t>
            </a:r>
            <a:r>
              <a:rPr lang="en-US" altLang="zh-CN"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ǒ bàbɑ shì lǜshī， māmɑ shì yī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shēnɡ</a:t>
            </a:r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sz="1900">
                <a:solidFill>
                  <a:srgbClr val="0070C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 云： 我 爸爸 是  律师，  妈妈 是  医生。 </a:t>
            </a:r>
            <a:endParaRPr sz="1900">
              <a:solidFill>
                <a:srgbClr val="0070C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课文二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Text 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two</a:t>
            </a: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0" name="Picture 24" descr="http://pic.58pic.com/58pic/14/99/05/57A58PICkW3_1024.jpg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6207" t="8507" r="6879" b="6421"/>
          <a:stretch>
            <a:fillRect/>
          </a:stretch>
        </p:blipFill>
        <p:spPr bwMode="auto">
          <a:xfrm>
            <a:off x="8164195" y="1961515"/>
            <a:ext cx="1073189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 descr="http://img2.imgtn.bdimg.com/it/u=4267177130,2733854798&amp;fm=21&amp;gp=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40875" y="1870710"/>
            <a:ext cx="903605" cy="908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图片 64" descr="http://static.freepik.com/free-photo/girl-face-cartoon_17-1113101737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35902" y="2945130"/>
            <a:ext cx="737600" cy="80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5-7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4260" y="240030"/>
            <a:ext cx="495300" cy="495300"/>
          </a:xfrm>
          <a:prstGeom prst="rect">
            <a:avLst/>
          </a:prstGeom>
        </p:spPr>
      </p:pic>
      <p:sp>
        <p:nvSpPr>
          <p:cNvPr id="42" name="心形 41"/>
          <p:cNvSpPr/>
          <p:nvPr/>
        </p:nvSpPr>
        <p:spPr>
          <a:xfrm>
            <a:off x="7632700" y="1471295"/>
            <a:ext cx="3440430" cy="2558415"/>
          </a:xfrm>
          <a:prstGeom prst="hear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3" name="内容占位符 2"/>
          <p:cNvSpPr>
            <a:spLocks noGrp="1"/>
          </p:cNvSpPr>
          <p:nvPr>
            <p:ph idx="1"/>
          </p:nvPr>
        </p:nvSpPr>
        <p:spPr>
          <a:xfrm>
            <a:off x="3828415" y="502285"/>
            <a:ext cx="5852795" cy="585343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20000"/>
          </a:bodyPr>
          <a:p>
            <a:r>
              <a:rPr lang="en-US" altLang="zh-CN" sz="2000" b="1"/>
              <a:t> 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zhūyún jiā yǒu jǐ kǒu rén？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朱云   家  有  几 口  人？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zhūyún shì dúshēnɡnǚ mɑ？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朱云  是   </a:t>
            </a:r>
            <a:r>
              <a:rPr lang="zh-CN" altLang="en-US" sz="2000" u="sng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独 生 女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吗？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buClrTx/>
              <a:buSzTx/>
            </a:pP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only child for daughter)</a:t>
            </a:r>
            <a:endParaRPr kumimoji="0" lang="zh-CN" altLang="en-US" sz="2000" i="0" u="none" strike="noStrike" kern="1200" cap="none" spc="0" normalizeH="0" baseline="0" noProof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zhūyún de bàbɑ zuò shénme ɡōnɡzuò？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朱云  的 爸爸  做  什么   工作？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zhūyún de māmɑ zuò shénme ɡōnɡzuò？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朱云  的 妈妈  做  什么   工作？ </a:t>
            </a:r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0" y="0"/>
            <a:ext cx="1934210" cy="8534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  <a:sym typeface="+mn-ea"/>
              </a:rPr>
              <a:t>问题</a:t>
            </a:r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  <a:sym typeface="+mn-ea"/>
              </a:rPr>
              <a:t>Question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/>
          <p:nvPr userDrawn="1">
            <p:custDataLst>
              <p:tags r:id="rId1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aseline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442720" cy="13944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 rot="10800000">
            <a:off x="10749280" y="5463540"/>
            <a:ext cx="1442720" cy="139446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09561" y="609583"/>
            <a:ext cx="5181638" cy="1162050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rmAutofit/>
          </a:bodyPr>
          <a:p>
            <a:pPr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300" b="1" spc="170">
                <a:solidFill>
                  <a:schemeClr val="accent1"/>
                </a:solidFill>
                <a:latin typeface="汉仪旗黑-85S" panose="00020600040101010101" charset="-122"/>
                <a:ea typeface="汉仪旗黑-85S" panose="00020600040101010101" charset="-122"/>
                <a:cs typeface="汉仪旗黑-85S" panose="00020600040101010101" charset="-122"/>
              </a:rPr>
              <a:t>课文二</a:t>
            </a:r>
            <a:endParaRPr lang="zh-CN" altLang="en-US" sz="3300" b="1" spc="170">
              <a:solidFill>
                <a:schemeClr val="accent1"/>
              </a:solidFill>
              <a:latin typeface="汉仪旗黑-85S" panose="00020600040101010101" charset="-122"/>
              <a:ea typeface="汉仪旗黑-85S" panose="00020600040101010101" charset="-122"/>
              <a:cs typeface="汉仪旗黑-85S" panose="00020600040101010101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spc="170">
                <a:solidFill>
                  <a:schemeClr val="accent1"/>
                </a:solidFill>
                <a:latin typeface="汉仪旗黑-85S" panose="00020600040101010101" charset="-122"/>
                <a:ea typeface="汉仪旗黑-85S" panose="00020600040101010101" charset="-122"/>
                <a:cs typeface="汉仪旗黑-85S" panose="00020600040101010101" charset="-122"/>
              </a:rPr>
              <a:t>Text two</a:t>
            </a:r>
            <a:endParaRPr lang="en-US" altLang="zh-CN" sz="3300" b="1" spc="170">
              <a:solidFill>
                <a:schemeClr val="accent1"/>
              </a:solidFill>
              <a:latin typeface="汉仪旗黑-85S" panose="00020600040101010101" charset="-122"/>
              <a:ea typeface="汉仪旗黑-85S" panose="00020600040101010101" charset="-122"/>
              <a:cs typeface="汉仪旗黑-85S" panose="00020600040101010101" charset="-122"/>
            </a:endParaRPr>
          </a:p>
        </p:txBody>
      </p:sp>
      <p:sp>
        <p:nvSpPr>
          <p:cNvPr id="12" name="Title 6"/>
          <p:cNvSpPr txBox="1"/>
          <p:nvPr>
            <p:custDataLst>
              <p:tags r:id="rId6"/>
            </p:custDataLst>
          </p:nvPr>
        </p:nvSpPr>
        <p:spPr>
          <a:xfrm>
            <a:off x="4648200" y="609600"/>
            <a:ext cx="6835775" cy="56388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林 娜： 你 家  有  几 口  人？ </a:t>
            </a:r>
            <a:endParaRPr sz="24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rgbClr val="0070C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我 家  有  三  口  人。 </a:t>
            </a:r>
            <a:endParaRPr sz="2400" spc="140">
              <a:ln w="3175">
                <a:noFill/>
                <a:prstDash val="dash"/>
              </a:ln>
              <a:solidFill>
                <a:srgbClr val="0070C0"/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林 娜： 你 家  有  </a:t>
            </a:r>
            <a:r>
              <a:rPr sz="2400" spc="140">
                <a:ln w="3175">
                  <a:noFill/>
                  <a:prstDash val="dash"/>
                </a:ln>
                <a:solidFill>
                  <a:srgbClr val="C0000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什 么</a:t>
            </a: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人？ </a:t>
            </a:r>
            <a:endParaRPr sz="24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rgbClr val="0070C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我 家  有  爸爸、 妈妈 和 我。</a:t>
            </a: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sz="24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林 娜： 你 爸爸、 妈妈 做   什么   工作？ </a:t>
            </a:r>
            <a:endParaRPr sz="24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81000" lvl="0" indent="-3810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2400" spc="140">
                <a:ln w="3175">
                  <a:noFill/>
                  <a:prstDash val="dash"/>
                </a:ln>
                <a:solidFill>
                  <a:srgbClr val="0070C0"/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朱 云： 我 爸爸 是  律师，  妈妈 是  医生。</a:t>
            </a:r>
            <a:r>
              <a:rPr sz="2400" spc="14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sz="2400" spc="14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0" name="5-7">
            <a:hlinkClick r:id="" action="ppaction://media"/>
          </p:cNvPr>
          <p:cNvPicPr/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4260" y="240030"/>
            <a:ext cx="495300" cy="4953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0635" y="2521585"/>
            <a:ext cx="3014345" cy="31464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3" name="内容占位符 2"/>
          <p:cNvSpPr>
            <a:spLocks noGrp="1"/>
          </p:cNvSpPr>
          <p:nvPr>
            <p:ph idx="1"/>
          </p:nvPr>
        </p:nvSpPr>
        <p:spPr>
          <a:xfrm>
            <a:off x="2747010" y="1662430"/>
            <a:ext cx="7472680" cy="4219575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 anchor="t">
            <a:spAutoFit/>
          </a:bodyPr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你 家  有  几 口  人？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我 家  有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你 家  有   什 么 人？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我 家  有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他们  做   什么   工作？ </a:t>
            </a:r>
            <a:endParaRPr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 我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是 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是  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lang="en-US" altLang="zh-CN"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……</a:t>
            </a:r>
            <a:endParaRPr lang="en-US" altLang="zh-CN" sz="2400"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sz="2400"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家庭主妇 </a:t>
            </a:r>
            <a:r>
              <a:rPr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（jiā tínɡ zhǔ fù</a:t>
            </a:r>
            <a:r>
              <a:rPr lang="en-US" altLang="zh-CN"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,housewife</a:t>
            </a:r>
            <a:r>
              <a:rPr sz="24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）</a:t>
            </a:r>
            <a:endParaRPr sz="24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完成对话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the dialogues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 descr="4faf807ae405ee702babdf4c5122a2ab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25385" y="837565"/>
            <a:ext cx="3276600" cy="2186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7" name="内容占位符 2"/>
          <p:cNvSpPr>
            <a:spLocks noGrp="1"/>
          </p:cNvSpPr>
          <p:nvPr>
            <p:ph idx="1"/>
          </p:nvPr>
        </p:nvSpPr>
        <p:spPr>
          <a:xfrm>
            <a:off x="3473450" y="2444115"/>
            <a:ext cx="4592955" cy="180784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qǐnɡ jièshào nǐ de jiā。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    介绍   你  的 家。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Please introduce your 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family</a:t>
            </a:r>
            <a:r>
              <a:rPr lang="zh-CN" altLang="en-US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200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说一说</a:t>
            </a:r>
            <a:r>
              <a:rPr lang="zh-CN" altLang="en-US" dirty="0" smtClean="0">
                <a:solidFill>
                  <a:srgbClr val="FF0000"/>
                </a:solidFill>
              </a:rPr>
              <a:t>（我家）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4827270"/>
          </a:xfrm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400" dirty="0" smtClean="0"/>
              <a:t>我家有</a:t>
            </a:r>
            <a:r>
              <a:rPr lang="zh-CN" altLang="en-US" sz="2400" u="sng" dirty="0" smtClean="0"/>
              <a:t>            </a:t>
            </a:r>
            <a:r>
              <a:rPr lang="zh-CN" altLang="en-US" sz="2400" dirty="0" smtClean="0"/>
              <a:t>口人。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爸爸、</a:t>
            </a:r>
            <a:r>
              <a:rPr lang="en-US" altLang="zh-CN" sz="2400" dirty="0" smtClean="0"/>
              <a:t>……</a:t>
            </a:r>
            <a:r>
              <a:rPr lang="zh-CN" altLang="en-US" sz="2400" dirty="0" smtClean="0"/>
              <a:t>一个哥哥、</a:t>
            </a:r>
            <a:r>
              <a:rPr lang="en-US" altLang="zh-CN" sz="2400" dirty="0" smtClean="0"/>
              <a:t>……</a:t>
            </a:r>
            <a:r>
              <a:rPr sz="2400" dirty="0" smtClean="0"/>
              <a:t>和我。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我爸爸是</a:t>
            </a:r>
            <a:r>
              <a:rPr lang="zh-CN" altLang="en-US" sz="2400" u="sng" dirty="0" smtClean="0"/>
              <a:t>             </a:t>
            </a:r>
            <a:r>
              <a:rPr lang="zh-CN" altLang="en-US" sz="2400" dirty="0" smtClean="0"/>
              <a:t>。</a:t>
            </a:r>
            <a:endParaRPr lang="zh-CN" altLang="en-US" sz="2400" dirty="0" smtClean="0"/>
          </a:p>
          <a:p>
            <a:pPr>
              <a:buNone/>
            </a:pPr>
            <a:r>
              <a:rPr lang="zh-CN" altLang="en-US" sz="2400" dirty="0" smtClean="0"/>
              <a:t>我妈妈不工作，她是</a:t>
            </a:r>
            <a:r>
              <a:rPr lang="zh-CN" altLang="en-US" sz="2400" dirty="0" smtClean="0">
                <a:solidFill>
                  <a:srgbClr val="0070C0"/>
                </a:solidFill>
              </a:rPr>
              <a:t>家庭主妇</a:t>
            </a:r>
            <a:r>
              <a:rPr lang="en-US" altLang="zh-CN" sz="2400" dirty="0" err="1" smtClean="0">
                <a:solidFill>
                  <a:srgbClr val="0070C0"/>
                </a:solidFill>
              </a:rPr>
              <a:t>ji</a:t>
            </a:r>
            <a:r>
              <a:rPr lang="zh-CN" altLang="zh-CN" sz="2400" dirty="0" smtClean="0">
                <a:solidFill>
                  <a:srgbClr val="0070C0"/>
                </a:solidFill>
              </a:rPr>
              <a:t>ā</a:t>
            </a:r>
            <a:r>
              <a:rPr lang="en-US" altLang="zh-CN" sz="2400" dirty="0" smtClean="0">
                <a:solidFill>
                  <a:srgbClr val="0070C0"/>
                </a:solidFill>
              </a:rPr>
              <a:t>t</a:t>
            </a:r>
            <a:r>
              <a:rPr lang="zh-CN" altLang="zh-CN" sz="2400" dirty="0" smtClean="0">
                <a:solidFill>
                  <a:srgbClr val="0070C0"/>
                </a:solidFill>
              </a:rPr>
              <a:t>í</a:t>
            </a:r>
            <a:r>
              <a:rPr lang="en-US" altLang="zh-CN" sz="2400" dirty="0" err="1" smtClean="0">
                <a:solidFill>
                  <a:srgbClr val="0070C0"/>
                </a:solidFill>
              </a:rPr>
              <a:t>ngzh</a:t>
            </a:r>
            <a:r>
              <a:rPr lang="zh-CN" altLang="zh-CN" sz="2400" dirty="0" smtClean="0">
                <a:solidFill>
                  <a:srgbClr val="0070C0"/>
                </a:solidFill>
              </a:rPr>
              <a:t>ǔ</a:t>
            </a:r>
            <a:r>
              <a:rPr lang="en-US" altLang="zh-CN" sz="2400" dirty="0" smtClean="0">
                <a:solidFill>
                  <a:srgbClr val="0070C0"/>
                </a:solidFill>
              </a:rPr>
              <a:t>f</a:t>
            </a:r>
            <a:r>
              <a:rPr lang="zh-CN" altLang="zh-CN" sz="2400" dirty="0" smtClean="0">
                <a:solidFill>
                  <a:srgbClr val="0070C0"/>
                </a:solidFill>
              </a:rPr>
              <a:t>ù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 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我哥哥</a:t>
            </a:r>
            <a:r>
              <a:rPr lang="en-US" sz="2400" u="sng" dirty="0" smtClean="0"/>
              <a:t>                                     </a:t>
            </a:r>
            <a:r>
              <a:rPr lang="zh-CN" altLang="en-US" sz="2400" dirty="0" smtClean="0"/>
              <a:t>。</a:t>
            </a:r>
            <a:r>
              <a:rPr lang="zh-CN" altLang="en-US" sz="2400" u="sng" dirty="0" smtClean="0"/>
              <a:t>       </a:t>
            </a:r>
            <a:endParaRPr lang="en-US" altLang="zh-CN" sz="2400" dirty="0" smtClean="0"/>
          </a:p>
          <a:p>
            <a:pPr>
              <a:buNone/>
            </a:pPr>
            <a:r>
              <a:rPr lang="zh-CN" altLang="en-US" sz="2400" dirty="0" smtClean="0"/>
              <a:t>我是留学生。</a:t>
            </a:r>
            <a:endParaRPr lang="zh-CN" altLang="en-US" sz="2400" dirty="0" smtClean="0"/>
          </a:p>
          <a:p>
            <a:pPr>
              <a:buNone/>
            </a:pPr>
            <a:r>
              <a:rPr lang="zh-CN" altLang="en-US" sz="2400" dirty="0" smtClean="0"/>
              <a:t>我是</a:t>
            </a:r>
            <a:r>
              <a:rPr lang="zh-CN" altLang="en-US" sz="2400" u="sng" dirty="0" smtClean="0"/>
              <a:t>研究（yán jiū）生</a:t>
            </a:r>
            <a:r>
              <a:rPr lang="zh-CN" altLang="en-US" sz="2400" dirty="0" smtClean="0"/>
              <a:t>。graduate student</a:t>
            </a:r>
            <a:endParaRPr lang="zh-CN" altLang="en-US" sz="2400" dirty="0" smtClean="0"/>
          </a:p>
          <a:p>
            <a:pPr>
              <a:buNone/>
            </a:pPr>
            <a:r>
              <a:rPr sz="2400" dirty="0" smtClean="0"/>
              <a:t>（我是</a:t>
            </a:r>
            <a:r>
              <a:rPr sz="2400" dirty="0" smtClean="0"/>
              <a:t>博士（bó shì）生。doctoral student）</a:t>
            </a:r>
            <a:endParaRPr sz="2400" dirty="0" smtClean="0"/>
          </a:p>
        </p:txBody>
      </p:sp>
      <p:pic>
        <p:nvPicPr>
          <p:cNvPr id="4" name="图片 3" descr="家庭主妇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60177" y="226992"/>
            <a:ext cx="2768421" cy="20717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3610" y="151765"/>
            <a:ext cx="8772525" cy="6189345"/>
          </a:xfrm>
        </p:spPr>
        <p:txBody>
          <a:bodyPr/>
          <a:p>
            <a:endParaRPr lang="zh-CN" altLang="en-US" sz="2800" b="1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28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29.xml><?xml version="1.0" encoding="utf-8"?>
<p:tagLst xmlns:p="http://schemas.openxmlformats.org/presentationml/2006/main">
  <p:tag name="KSO_WM_UNIT_PLACING_PICTURE_USER_VIEWPORT" val="{&quot;height&quot;:4562,&quot;width&quot;:8990}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2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643_1*a*1"/>
  <p:tag name="KSO_WM_TEMPLATE_CATEGORY" val="diagram"/>
  <p:tag name="KSO_WM_TEMPLATE_INDEX" val="2021264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e602b3eeb714258aa3a3df8f3ccf25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8a67d1ff8509437283ecf27ab1ff24ad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39b0d9c0c9383becde77756"/>
  <p:tag name="KSO_WM_TEMPLATE_ASSEMBLE_GROUPID" val="639b0d9c0c9383becde77756"/>
</p:tagLst>
</file>

<file path=ppt/tags/tag236.xml><?xml version="1.0" encoding="utf-8"?>
<p:tagLst xmlns:p="http://schemas.openxmlformats.org/presentationml/2006/main">
  <p:tag name="KSO_WM_UNIT_SUBTYPE" val="a"/>
  <p:tag name="KSO_WM_UNIT_PRESET_TEXT" val="单击此处输入您的正文，文字是您思想的提炼，为了最终演示的良好效果，请尽量言简意赅的阐述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5779_2*m_h_f*1_1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5779_2*m_h_i*1_1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05779_2*m_h_i*1_1_3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396,&quot;left&quot;:86.20338582677165,&quot;top&quot;:72,&quot;width&quot;:569.2466141732283}"/>
</p:tagLst>
</file>

<file path=ppt/tags/tag239.xml><?xml version="1.0" encoding="utf-8"?>
<p:tagLst xmlns:p="http://schemas.openxmlformats.org/presentationml/2006/main">
  <p:tag name="KSO_WM_UNIT_SUBTYPE" val="a"/>
  <p:tag name="KSO_WM_UNIT_PRESET_TEXT" val="单击此处输入您的正文，文字是您思想的提炼，为了最终演示的良好效果，请尽量言简意赅的阐述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5779_2*m_h_f*1_2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5779_2*m_h_i*1_2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05779_2*m_h_i*1_2_3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6"/>
  <p:tag name="KSO_WM_UNIT_LINE_FILL_TYPE" val="2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2.xml><?xml version="1.0" encoding="utf-8"?>
<p:tagLst xmlns:p="http://schemas.openxmlformats.org/presentationml/2006/main">
  <p:tag name="KSO_WM_UNIT_SUBTYPE" val="a"/>
  <p:tag name="KSO_WM_UNIT_PRESET_TEXT" val="单击此处输入您的正文，文字是您思想的提炼，为了最终演示的良好效果，请尽量言简意赅的阐述观点。"/>
  <p:tag name="KSO_WM_UNIT_NOCLEAR" val="0"/>
  <p:tag name="KSO_WM_UNIT_VALUE" val="5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05779_2*m_h_f*1_3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5779_2*m_h_i*1_3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05779_2*m_h_i*1_3_3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7"/>
  <p:tag name="KSO_WM_UNIT_LINE_FILL_TYPE" val="2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2"/>
  <p:tag name="KSO_WM_UNIT_ID" val="diagram20205779_2*m_h_i*1_1_2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2"/>
  <p:tag name="KSO_WM_UNIT_ID" val="diagram20205779_2*m_h_i*1_2_2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2"/>
  <p:tag name="KSO_WM_UNIT_ID" val="diagram20205779_2*m_h_i*1_3_2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396,&quot;left&quot;:86.20338582677165,&quot;top&quot;:72,&quot;width&quot;:569.2466141732283}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#wm#"/>
  <p:tag name="KSO_WM_TEMPLATE_CATEGORY" val="diagram"/>
  <p:tag name="KSO_WM_TEMPLATE_INDEX" val="2021264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,{&quot;bottom&quot;:0,&quot;bottomAbs&quot;:false,&quot;left&quot;:0,&quot;leftAbs&quot;:false,&quot;right&quot;:0,&quot;rightAbs&quot;:false,&quot;top&quot;:0,&quot;topAbs&quot;:false,&quot;type&quot;:&quot;frame&quot;}],&quot;direction&quot;:1,&quot;id&quot;:&quot;2022-12-15T20:05:48&quot;,&quot;maxSize&quot;:{&quot;size1&quot;:66.25015536944072},&quot;minSize&quot;:{&quot;size1&quot;:48.75015536944071},&quot;normalSize&quot;:{&quot;size1&quot;:65.78140536944072},&quot;subLayout&quot;:[{&quot;id&quot;:&quot;2022-12-15T20:05:48&quot;,&quot;margin&quot;:{&quot;bottom&quot;:2.5399999618530273,&quot;left&quot;:1.6929999589920044,&quot;right&quot;:0,&quot;top&quot;:2.5399999618530273},&quot;type&quot;:0},{&quot;id&quot;:&quot;2022-12-15T20:05:48&quot;,&quot;maxSize&quot;:{&quot;size1&quot;:51.13324089050293},&quot;minSize&quot;:{&quot;size1&quot;:31.13324089050293},&quot;normalSize&quot;:{&quot;size1&quot;:48.066574223836255},&quot;subLayout&quot;:[{&quot;id&quot;:&quot;2022-12-15T20:05:48&quot;,&quot;margin&quot;:{&quot;bottom&quot;:0,&quot;left&quot;:0.847000002861023,&quot;right&quot;:2.5399999618530273,&quot;top&quot;:2.5399999618530273},&quot;type&quot;:0},{&quot;id&quot;:&quot;2022-12-15T20:05:48&quot;,&quot;margin&quot;:{&quot;bottom&quot;:2.5399999618530273,&quot;left&quot;:0.847000002861023,&quot;right&quot;:2.5399999618530273,&quot;top&quot;:0.4230000674724579},&quot;type&quot;:0}],&quot;type&quot;:0}],&quot;type&quot;:0}"/>
  <p:tag name="KSO_WM_SLIDE_CAN_ADD_NAVIGATION" val="1"/>
  <p:tag name="KSO_WM_SLIDE_BACKGROUND" val="[&quot;general&quot;,&quot;frame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71ea2c47edf80c4a5df18b"/>
  <p:tag name="KSO_WM_SLIDE_ID" val="diagram2021264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720*348"/>
  <p:tag name="KSO_WM_SLIDE_POSITION" val="120*95"/>
  <p:tag name="KSO_WM_TAG_VERSION" val="1.0"/>
  <p:tag name="KSO_WM_CHIP_FILLPROP" val="[[{&quot;text_align&quot;:&quot;lb&quot;,&quot;text_direction&quot;:&quot;horizontal&quot;,&quot;support_big_font&quot;:true,&quot;picture_toward&quot;:0,&quot;picture_dockside&quot;:[],&quot;fill_id&quot;:&quot;e57bfa1d5aa74e19b89ecbda2d730518&quot;,&quot;fill_align&quot;:&quot;lb&quot;,&quot;chip_types&quot;:[&quot;header&quot;]},{&quot;text_align&quot;:&quot;lt&quot;,&quot;text_direction&quot;:&quot;horizontal&quot;,&quot;support_big_font&quot;:true,&quot;picture_toward&quot;:0,&quot;picture_dockside&quot;:[],&quot;fill_id&quot;:&quot;7a0967d824244b51bc38bbc9e0ecbbb2&quot;,&quot;fill_align&quot;:&quot;lt&quot;,&quot;chip_types&quot;:[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4327c07703e44616b342edeb10877556&quot;,&quot;fill_align&quot;:&quot;rm&quot;,&quot;chip_types&quot;:[&quot;diagram&quot;,&quot;pictext&quot;,&quot;picture&quot;,&quot;chart&quot;,&quot;table&quot;,&quot;video&quot;]}]]"/>
  <p:tag name="KSO_WM_SLIDE_LAYOUT" val="a_d"/>
  <p:tag name="KSO_WM_SLIDE_LAYOUT_CNT" val="1_2"/>
  <p:tag name="KSO_WM_CHIP_DECFILLPROP" val="[]"/>
  <p:tag name="KSO_WM_CHIP_GROUPID" val="5e71ea2c47edf80c4a5df18a"/>
  <p:tag name="KSO_WM_SLIDE_BK_DARK_LIGHT" val="2"/>
  <p:tag name="KSO_WM_SLIDE_BACKGROUND_TYPE" val="frame"/>
  <p:tag name="KSO_WM_SLIDE_SUPPORT_FEATURE_TYPE" val="0"/>
  <p:tag name="KSO_WM_TEMPLATE_ASSEMBLE_XID" val="639b0d9c0c9383becde77756"/>
  <p:tag name="KSO_WM_TEMPLATE_ASSEMBLE_GROUPID" val="639b0d9c0c9383becde77756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  <p:tag name="KSO_WM_UNIT_FILL_FORE_SCHEMECOLOR_INDEX_BRIGHTNESS" val="0"/>
  <p:tag name="KSO_WM_UNIT_FILL_FORE_SCHEMECOLOR_INDEX" val="1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013_1*a*1"/>
  <p:tag name="KSO_WM_TEMPLATE_CATEGORY" val="diagram"/>
  <p:tag name="KSO_WM_TEMPLATE_INDEX" val="2021301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a959c8af2be40e8a9c68d561c1094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1cb18e954c9848a09e8712c101ddcb49"/>
  <p:tag name="KSO_WM_UNIT_TEXT_FILL_FORE_SCHEMECOLOR_INDEX_BRIGHTNESS" val="0"/>
  <p:tag name="KSO_WM_UNIT_TEXT_FILL_FORE_SCHEMECOLOR_INDEX" val="13"/>
  <p:tag name="KSO_WM_UNIT_TEXT_FILL_TYPE" val="1"/>
  <p:tag name="KSO_WM_TEMPLATE_ASSEMBLE_XID" val="60656f234054ed1e2fb80400"/>
  <p:tag name="KSO_WM_TEMPLATE_ASSEMBLE_GROUPID" val="60656f234054ed1e2fb80400"/>
</p:tagLst>
</file>

<file path=ppt/tags/tag25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，往往事半功倍。当您的内容到达这个限度时，或许已经不纯粹作用于演示，极大可能运用于阅读领域；无论是传播观点、知识分享还是汇报工作，内容的详尽固然重要，但请一定注意信息框架的清晰，这样才能使内容层次分明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013_1*f*1"/>
  <p:tag name="KSO_WM_TEMPLATE_CATEGORY" val="diagram"/>
  <p:tag name="KSO_WM_TEMPLATE_INDEX" val="2021301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315"/>
  <p:tag name="KSO_WM_UNIT_SHOW_EDIT_AREA_INDICATION" val="1"/>
  <p:tag name="KSO_WM_CHIP_GROUPID" val="5e6b05596848fb12bee65ac8"/>
  <p:tag name="KSO_WM_CHIP_XID" val="5e6b05596848fb12bee65aca"/>
  <p:tag name="KSO_WM_UNIT_DEC_AREA_ID" val="c30aba1e5a2d47d8bb43a62330e065e3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11e0e960eb874830a02055b65e84ae36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0656f234054ed1e2fb80400"/>
  <p:tag name="KSO_WM_TEMPLATE_ASSEMBLE_GROUPID" val="60656f234054ed1e2fb80400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#wm#"/>
  <p:tag name="KSO_WM_TEMPLATE_CATEGORY" val="diagram"/>
  <p:tag name="KSO_WM_TEMPLATE_INDEX" val="2021301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,{&quot;bottom&quot;:0,&quot;bottomAbs&quot;:false,&quot;left&quot;:0,&quot;leftAbs&quot;:false,&quot;right&quot;:0,&quot;rightAbs&quot;:false,&quot;top&quot;:0,&quot;topAbs&quot;:false,&quot;type&quot;:&quot;frame&quot;}],&quot;direction&quot;:1,&quot;id&quot;:&quot;2021-04-01T15:29:48&quot;,&quot;maxSize&quot;:{&quot;size1&quot;:47.49963919321696},&quot;minSize&quot;:{&quot;size1&quot;:41.19963919321696},&quot;normalSize&quot;:{&quot;size1&quot;:47.49963919321696},&quot;subLayout&quot;:[{&quot;id&quot;:&quot;2021-04-01T15:29:48&quot;,&quot;maxSize&quot;:{&quot;size1&quot;:46.69968620137898},&quot;minSize&quot;:{&quot;size1&quot;:19.999686201378978},&quot;normalSize&quot;:{&quot;size1&quot;:25.83301953471231},&quot;subLayout&quot;:[{&quot;id&quot;:&quot;2021-04-01T15:29:48&quot;,&quot;margin&quot;:{&quot;bottom&quot;:0.02600000612437725,&quot;left&quot;:1.6929999589920044,&quot;right&quot;:0,&quot;top&quot;:1.6929999589920044},&quot;type&quot;:0},{&quot;id&quot;:&quot;2021-04-01T15:29:48&quot;,&quot;margin&quot;:{&quot;bottom&quot;:1.6929999589920044,&quot;left&quot;:1.6929999589920044,&quot;right&quot;:0,&quot;top&quot;:0.8199999928474426},&quot;type&quot;:0}],&quot;type&quot;:0},{&quot;id&quot;:&quot;2021-04-01T15:29:48&quot;,&quot;margin&quot;:{&quot;bottom&quot;:1.6929999589920044,&quot;left&quot;:1.2699999809265137,&quot;right&quot;:1.6929999589920044,&quot;top&quot;:1.6929999589920044},&quot;type&quot;:0}],&quot;type&quot;:0}"/>
  <p:tag name="KSO_WM_SLIDE_BACKGROUND" val="[&quot;general&quot;,&quot;frame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868286bf8da9b67401ed"/>
  <p:tag name="KSO_WM_CHIP_FILLPROP" val="[[{&quot;text_align&quot;:&quot;lb&quot;,&quot;text_direction&quot;:&quot;horizontal&quot;,&quot;support_big_font&quot;:false,&quot;picture_toward&quot;:0,&quot;picture_dockside&quot;:[],&quot;fill_id&quot;:&quot;722accd572074b41a2d4cf8c733c9957&quot;,&quot;fill_align&quot;:&quot;lb&quot;,&quot;chip_types&quot;:[&quot;header&quot;]},{&quot;text_align&quot;:&quot;lt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lt&quot;,&quot;chip_types&quot;:[&quot;pictext&quot;,&quot;text&quot;,&quot;picture&quot;,&quot;chart&quot;,&quot;table&quot;,&quot;video&quot;]},{&quot;text_align&quot;:&quot;lm&quot;,&quot;text_direction&quot;:&quot;horizontal&quot;,&quot;support_features&quot;:[&quot;collage&quot;],&quot;support_big_font&quot;:false,&quot;picture_toward&quot;:0,&quot;picture_dockside&quot;:[],&quot;fill_id&quot;:&quot;e836bed5e59843b5bc0179a1591ebf37&quot;,&quot;fill_align&quot;:&quot;rm&quot;,&quot;chip_types&quot;:[&quot;diagram&quot;,&quot;pictext&quot;,&quot;text&quot;,&quot;picture&quot;,&quot;chart&quot;,&quot;table&quot;,&quot;video&quot;]}],[{&quot;text_align&quot;:&quot;lb&quot;,&quot;text_direction&quot;:&quot;horizontal&quot;,&quot;support_big_font&quot;:false,&quot;picture_toward&quot;:0,&quot;picture_dockside&quot;:[],&quot;fill_id&quot;:&quot;722accd572074b41a2d4cf8c733c9957&quot;,&quot;fill_align&quot;:&quot;lb&quot;,&quot;chip_types&quot;:[&quot;text&quot;,&quot;header&quot;]},{&quot;text_align&quot;:&quot;lt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lt&quot;,&quot;chip_types&quot;:[&quot;picture&quot;]},{&quot;text_align&quot;:&quot;lm&quot;,&quot;text_direction&quot;:&quot;horizontal&quot;,&quot;support_features&quot;:[&quot;collage&quot;],&quot;support_big_font&quot;:false,&quot;picture_toward&quot;:0,&quot;picture_dockside&quot;:[],&quot;fill_id&quot;:&quot;e836bed5e59843b5bc0179a1591ebf37&quot;,&quot;fill_align&quot;:&quot;rm&quot;,&quot;chip_types&quot;:[&quot;pictext&quot;,&quot;picture&quot;,&quot;chart&quot;,&quot;table&quot;,&quot;video&quot;]}]]"/>
  <p:tag name="KSO_WM_SLIDE_ID" val="diagram20213013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864*444"/>
  <p:tag name="KSO_WM_SLIDE_POSITION" val="48*48"/>
  <p:tag name="KSO_WM_CHIP_DECFILLPROP" val="[]"/>
  <p:tag name="KSO_WM_SLIDE_CAN_ADD_NAVIGATION" val="1"/>
  <p:tag name="KSO_WM_CHIP_GROUPID" val="5ed8b357afe44fab1839c14c"/>
  <p:tag name="KSO_WM_SLIDE_BK_DARK_LIGHT" val="2"/>
  <p:tag name="KSO_WM_SLIDE_BACKGROUND_TYPE" val="frame"/>
  <p:tag name="KSO_WM_SLIDE_SUPPORT_FEATURE_TYPE" val="1"/>
  <p:tag name="KSO_WM_TEMPLATE_ASSEMBLE_XID" val="60656f234054ed1e2fb80400"/>
  <p:tag name="KSO_WM_TEMPLATE_ASSEMBLE_GROUPID" val="60656f234054ed1e2fb80400"/>
</p:tagLst>
</file>

<file path=ppt/tags/tag257.xml><?xml version="1.0" encoding="utf-8"?>
<p:tagLst xmlns:p="http://schemas.openxmlformats.org/presentationml/2006/main">
  <p:tag name="KSO_WM_UNIT_PLACING_PICTURE_USER_VIEWPORT" val="{&quot;height&quot;:10800,&quot;width&quot;:16187}"/>
</p:tagLst>
</file>

<file path=ppt/tags/tag258.xml><?xml version="1.0" encoding="utf-8"?>
<p:tagLst xmlns:p="http://schemas.openxmlformats.org/presentationml/2006/main">
  <p:tag name="KSO_WM_UNIT_PLACING_PICTURE_USER_VIEWPORT" val="{&quot;height&quot;:3262.5228346456693,&quot;width&quot;:4359.71811023622}"/>
</p:tagLst>
</file>

<file path=ppt/tags/tag259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60.xml><?xml version="1.0" encoding="utf-8"?>
<p:tagLst xmlns:p="http://schemas.openxmlformats.org/presentationml/2006/main"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2454</Words>
  <Application>WPS 演示</Application>
  <PresentationFormat>宽屏</PresentationFormat>
  <Paragraphs>202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Segoe UI</vt:lpstr>
      <vt:lpstr>Wingdings</vt:lpstr>
      <vt:lpstr>Arial Unicode MS</vt:lpstr>
      <vt:lpstr>华文楷体</vt:lpstr>
      <vt:lpstr>华文行楷</vt:lpstr>
      <vt:lpstr>楷体</vt:lpstr>
      <vt:lpstr>Office 主题​​</vt:lpstr>
      <vt:lpstr>              nǐ jiā yǒujǐ kǒu rén ？  5       你 家  有  几  口  人  ？      Lesson 5    How many people are there in your family?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说一说（我家）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102</cp:revision>
  <dcterms:created xsi:type="dcterms:W3CDTF">2019-08-11T11:31:00Z</dcterms:created>
  <dcterms:modified xsi:type="dcterms:W3CDTF">2024-03-21T06:48:32Z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2052-12.1.0.16412</vt:lpwstr>
  </property>
  <property fmtid="{D5CDD505-2E9C-101B-9397-08002B2CF9AE}" pid="3" name="ICV">
    <vt:lpwstr>C3BE588F6EE14EB1B84CE937C59D9038</vt:lpwstr>
  </property>
</Properties>
</file>