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91" r:id="rId4"/>
    <p:sldId id="292" r:id="rId5"/>
    <p:sldId id="293" r:id="rId6"/>
    <p:sldId id="261" r:id="rId7"/>
    <p:sldId id="284" r:id="rId8"/>
    <p:sldId id="283" r:id="rId9"/>
    <p:sldId id="285" r:id="rId10"/>
    <p:sldId id="286" r:id="rId11"/>
    <p:sldId id="262" r:id="rId12"/>
    <p:sldId id="271" r:id="rId13"/>
    <p:sldId id="290" r:id="rId14"/>
    <p:sldId id="302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24" y="-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173157"/>
            <a:ext cx="103632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16955" y="2643182"/>
            <a:ext cx="8893821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924181"/>
            <a:ext cx="103632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28747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3843" y="1071546"/>
            <a:ext cx="6815667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572111" y="1071546"/>
            <a:ext cx="4011084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7" y="285728"/>
            <a:ext cx="10974657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32" y="642918"/>
            <a:ext cx="1047757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90563" y="541340"/>
            <a:ext cx="8553459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29773" y="1000108"/>
            <a:ext cx="1219157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25024" y="274639"/>
            <a:ext cx="2057376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820173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2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8890412" y="4915143"/>
            <a:ext cx="3301588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1219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6096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3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12192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microsoft.com/office/2007/relationships/media" Target="../media/media1.mp3"/><Relationship Id="rId2" Type="http://schemas.openxmlformats.org/officeDocument/2006/relationships/audio" Target="../media/media1.mp3"/><Relationship Id="rId1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microsoft.com/office/2007/relationships/media" Target="../media/media1.mp3"/><Relationship Id="rId2" Type="http://schemas.openxmlformats.org/officeDocument/2006/relationships/audio" Target="../media/media1.mp3"/><Relationship Id="rId1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microsoft.com/office/2007/relationships/media" Target="../media/media1.mp3"/><Relationship Id="rId2" Type="http://schemas.openxmlformats.org/officeDocument/2006/relationships/audio" Target="../media/media1.mp3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61963"/>
            <a:ext cx="10972800" cy="768350"/>
          </a:xfrm>
        </p:spPr>
        <p:txBody>
          <a:bodyPr>
            <a:spAutoFit/>
          </a:bodyPr>
          <a:lstStyle/>
          <a:p>
            <a:r>
              <a:rPr lang="en-US" altLang="zh-CN" dirty="0" smtClean="0"/>
              <a:t>4 </a:t>
            </a:r>
            <a:r>
              <a:rPr lang="zh-CN" altLang="en-US" dirty="0" smtClean="0"/>
              <a:t> 你学习法语吗（nǐ xué xí fǎ yǔ ma）？</a:t>
            </a:r>
            <a:endParaRPr lang="zh-CN" altLang="en-US" dirty="0"/>
          </a:p>
        </p:txBody>
      </p:sp>
      <p:pic>
        <p:nvPicPr>
          <p:cNvPr id="4" name="内容占位符 3" descr="法语.jpg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21000" y="1958181"/>
            <a:ext cx="6350000" cy="3810000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phonetic  E</a:t>
            </a:r>
            <a:r>
              <a:rPr lang="en-US" altLang="zh-CN"/>
              <a:t>xercise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5960" y="1628775"/>
            <a:ext cx="11020425" cy="39770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9425" y="1917065"/>
            <a:ext cx="11220450" cy="3180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3730" y="2132965"/>
            <a:ext cx="10948670" cy="24930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1;p21"/>
          <p:cNvSpPr/>
          <p:nvPr/>
        </p:nvSpPr>
        <p:spPr>
          <a:xfrm>
            <a:off x="0" y="127000"/>
            <a:ext cx="3047365" cy="54737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课 </a:t>
            </a:r>
            <a:r>
              <a:rPr lang="zh-CN" altLang="en-US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文一 </a:t>
            </a: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Text </a:t>
            </a:r>
            <a:r>
              <a:rPr lang="en-US" alt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O</a:t>
            </a:r>
            <a:r>
              <a:rPr lang="en-US" alt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ne</a:t>
            </a:r>
            <a:endParaRPr lang="en-US" altLang="en-GB" sz="2800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7850" y="894715"/>
            <a:ext cx="11369675" cy="558482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fontAlgn="auto">
              <a:lnSpc>
                <a:spcPts val="3780"/>
              </a:lnSpc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New Words</a:t>
            </a:r>
            <a:r>
              <a:rPr lang="en-US" altLang="zh-CN" sz="2400" dirty="0"/>
              <a:t>:          </a:t>
            </a:r>
            <a:r>
              <a:rPr lang="zh-CN" altLang="en-US" sz="2400" dirty="0"/>
              <a:t>留学生</a:t>
            </a:r>
            <a:r>
              <a:rPr lang="en-US" altLang="zh-CN" sz="2400" dirty="0"/>
              <a:t>  </a:t>
            </a:r>
            <a:endParaRPr lang="en-US" altLang="zh-CN" sz="2400" dirty="0"/>
          </a:p>
          <a:p>
            <a:pPr fontAlgn="auto">
              <a:lnSpc>
                <a:spcPts val="4340"/>
              </a:lnSpc>
            </a:pPr>
            <a:r>
              <a:rPr lang="en-US" altLang="zh-CN" sz="3200" dirty="0"/>
              <a:t>1.  </a:t>
            </a:r>
            <a:r>
              <a:rPr lang="zh-CN" altLang="en-US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留学生</a:t>
            </a:r>
            <a:r>
              <a:rPr lang="zh-CN" altLang="en-US" sz="3200" dirty="0"/>
              <a:t>    </a:t>
            </a:r>
            <a:r>
              <a:rPr lang="en-US" altLang="zh-CN" sz="3200" dirty="0"/>
              <a:t> liú xué shēng      n.    </a:t>
            </a: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</a:rPr>
              <a:t>student studying abroad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</a:endParaRPr>
          </a:p>
          <a:p>
            <a:pPr fontAlgn="auto">
              <a:lnSpc>
                <a:spcPts val="4340"/>
              </a:lnSpc>
            </a:pPr>
            <a:r>
              <a:rPr lang="en-US" altLang="zh-CN" sz="3200" dirty="0"/>
              <a:t>2.   </a:t>
            </a:r>
            <a:r>
              <a:rPr lang="zh-CN" altLang="en-US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她 </a:t>
            </a:r>
            <a:r>
              <a:rPr lang="zh-CN" altLang="en-US" sz="3200" dirty="0"/>
              <a:t>                    </a:t>
            </a:r>
            <a:r>
              <a:rPr lang="en-US" altLang="zh-CN" sz="3200" dirty="0"/>
              <a:t>tā                 pron.      </a:t>
            </a:r>
            <a:r>
              <a:rPr lang="en-US" altLang="zh-CN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</a:rPr>
              <a:t>she, her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</a:endParaRPr>
          </a:p>
          <a:p>
            <a:pPr fontAlgn="auto">
              <a:lnSpc>
                <a:spcPts val="4340"/>
              </a:lnSpc>
            </a:pPr>
            <a:r>
              <a:rPr lang="en-US" altLang="zh-CN" sz="3200" dirty="0"/>
              <a:t>3.   </a:t>
            </a:r>
            <a:r>
              <a:rPr lang="zh-CN" altLang="en-US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学习    </a:t>
            </a:r>
            <a:r>
              <a:rPr lang="zh-CN" altLang="en-US" sz="3200" dirty="0"/>
              <a:t>       </a:t>
            </a:r>
            <a:r>
              <a:rPr lang="en-US" altLang="zh-CN" sz="3200" dirty="0"/>
              <a:t>xué xí               v.              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</a:rPr>
              <a:t>learn, study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</a:endParaRPr>
          </a:p>
          <a:p>
            <a:pPr fontAlgn="auto">
              <a:lnSpc>
                <a:spcPts val="4340"/>
              </a:lnSpc>
            </a:pPr>
            <a:r>
              <a:rPr lang="en-US" altLang="zh-CN" sz="3200" dirty="0"/>
              <a:t>4.   </a:t>
            </a:r>
            <a:r>
              <a:rPr lang="zh-CN" altLang="en-US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他们</a:t>
            </a:r>
            <a:r>
              <a:rPr lang="zh-CN" altLang="en-US" sz="3200" dirty="0"/>
              <a:t>            </a:t>
            </a:r>
            <a:r>
              <a:rPr lang="en-US" altLang="zh-CN" sz="3200" dirty="0"/>
              <a:t>tā men            pron.         </a:t>
            </a: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</a:rPr>
              <a:t> they, them 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</a:endParaRPr>
          </a:p>
          <a:p>
            <a:pPr fontAlgn="auto">
              <a:lnSpc>
                <a:spcPts val="4340"/>
              </a:lnSpc>
            </a:pPr>
            <a:r>
              <a:rPr lang="en-US" altLang="zh-CN" sz="3200" dirty="0"/>
              <a:t>         </a:t>
            </a:r>
            <a:r>
              <a:rPr lang="zh-CN" altLang="en-US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们</a:t>
            </a:r>
            <a:r>
              <a:rPr lang="zh-CN" altLang="en-US" sz="3200" dirty="0"/>
              <a:t>              </a:t>
            </a:r>
            <a:r>
              <a:rPr lang="en-US" altLang="zh-CN" sz="3200" dirty="0"/>
              <a:t>men                  suf.   </a:t>
            </a:r>
            <a:r>
              <a:rPr lang="en-US" altLang="zh-CN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</a:rPr>
              <a:t>used to form a plural number when</a:t>
            </a:r>
            <a:endParaRPr lang="en-US" altLang="zh-CN" sz="2400" dirty="0">
              <a:solidFill>
                <a:schemeClr val="accent6">
                  <a:lumMod val="50000"/>
                </a:schemeClr>
              </a:solidFill>
            </a:endParaRPr>
          </a:p>
          <a:p>
            <a:pPr fontAlgn="auto">
              <a:lnSpc>
                <a:spcPts val="4340"/>
              </a:lnSpc>
            </a:pPr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</a:rPr>
              <a:t>                                                                                     added  to a personal pronoun or a noun</a:t>
            </a:r>
            <a:endParaRPr lang="en-US" altLang="zh-CN" sz="2400" dirty="0">
              <a:solidFill>
                <a:schemeClr val="accent6">
                  <a:lumMod val="50000"/>
                </a:schemeClr>
              </a:solidFill>
            </a:endParaRPr>
          </a:p>
          <a:p>
            <a:pPr fontAlgn="auto">
              <a:lnSpc>
                <a:spcPts val="4340"/>
              </a:lnSpc>
            </a:pPr>
            <a:r>
              <a:rPr lang="en-US" altLang="zh-CN" sz="3200" dirty="0"/>
              <a:t>5. </a:t>
            </a:r>
            <a:r>
              <a:rPr lang="zh-CN" altLang="en-US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一起   </a:t>
            </a:r>
            <a:r>
              <a:rPr lang="zh-CN" altLang="en-US" sz="3200" dirty="0"/>
              <a:t>           </a:t>
            </a:r>
            <a:r>
              <a:rPr lang="en-US" altLang="zh-CN" sz="3200" dirty="0"/>
              <a:t>yì qǐ                adv.         </a:t>
            </a: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</a:rPr>
              <a:t>together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</a:endParaRPr>
          </a:p>
          <a:p>
            <a:pPr fontAlgn="auto">
              <a:lnSpc>
                <a:spcPts val="4340"/>
              </a:lnSpc>
            </a:pPr>
            <a:r>
              <a:rPr lang="en-US" altLang="zh-CN" sz="3200" dirty="0"/>
              <a:t>6. </a:t>
            </a:r>
            <a:r>
              <a:rPr lang="zh-CN" altLang="en-US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上课</a:t>
            </a:r>
            <a:r>
              <a:rPr lang="zh-CN" altLang="en-US" sz="3200" dirty="0"/>
              <a:t>           </a:t>
            </a:r>
            <a:r>
              <a:rPr lang="en-US" altLang="zh-CN" sz="3200" dirty="0"/>
              <a:t> shàng kè          v.       </a:t>
            </a: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</a:rPr>
              <a:t> attend class,go to class,have class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</a:endParaRPr>
          </a:p>
          <a:p>
            <a:pPr fontAlgn="auto">
              <a:lnSpc>
                <a:spcPts val="4340"/>
              </a:lnSpc>
            </a:pPr>
            <a:r>
              <a:rPr lang="en-US" altLang="zh-CN" sz="3200" dirty="0"/>
              <a:t>7.  </a:t>
            </a:r>
            <a:r>
              <a:rPr lang="zh-CN" altLang="en-US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说 </a:t>
            </a:r>
            <a:r>
              <a:rPr lang="zh-CN" altLang="en-US" sz="3200" dirty="0"/>
              <a:t>                </a:t>
            </a:r>
            <a:r>
              <a:rPr lang="en-US" altLang="zh-CN" sz="3200" dirty="0"/>
              <a:t>shuō                v.        </a:t>
            </a: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</a:rPr>
              <a:t>speak, say, talk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063115" y="1979930"/>
            <a:ext cx="8896350" cy="2399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altLang="zh-CN" sz="2400" dirty="0"/>
              <a:t>Proper Names:</a:t>
            </a:r>
            <a:endParaRPr lang="en-US" altLang="zh-CN" sz="2400" dirty="0"/>
          </a:p>
          <a:p>
            <a:pPr indent="0">
              <a:lnSpc>
                <a:spcPct val="150000"/>
              </a:lnSpc>
              <a:buNone/>
            </a:pPr>
            <a:r>
              <a:rPr lang="en-US" sz="2400" dirty="0" smtClean="0">
                <a:sym typeface="+mn-ea"/>
              </a:rPr>
              <a:t>     </a:t>
            </a:r>
            <a:r>
              <a:rPr lang="en-US" sz="2800" dirty="0" smtClean="0">
                <a:sym typeface="+mn-ea"/>
              </a:rPr>
              <a:t>1        </a:t>
            </a:r>
            <a:r>
              <a:rPr lang="zh-CN" altLang="en-US" sz="2800" dirty="0" smtClean="0">
                <a:sym typeface="+mn-ea"/>
              </a:rPr>
              <a:t>法国         </a:t>
            </a:r>
            <a:r>
              <a:rPr lang="en-US" altLang="zh-CN" sz="2800" dirty="0" smtClean="0">
                <a:sym typeface="+mn-ea"/>
              </a:rPr>
              <a:t>F</a:t>
            </a:r>
            <a:r>
              <a:rPr lang="zh-CN" altLang="en-US" sz="2800" dirty="0" smtClean="0">
                <a:sym typeface="+mn-ea"/>
              </a:rPr>
              <a:t>ǎ guó              </a:t>
            </a:r>
            <a:r>
              <a:rPr lang="en-US" altLang="zh-CN" sz="2800" dirty="0" smtClean="0">
                <a:sym typeface="+mn-ea"/>
              </a:rPr>
              <a:t>France</a:t>
            </a:r>
            <a:endParaRPr lang="zh-CN" altLang="en-US" sz="2800" dirty="0" smtClean="0"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2800" dirty="0" smtClean="0">
                <a:sym typeface="+mn-ea"/>
              </a:rPr>
              <a:t>    </a:t>
            </a:r>
            <a:r>
              <a:rPr lang="en-US" altLang="zh-CN" sz="2800" dirty="0" smtClean="0">
                <a:sym typeface="+mn-ea"/>
              </a:rPr>
              <a:t>2         </a:t>
            </a:r>
            <a:r>
              <a:rPr lang="zh-CN" altLang="en-US" sz="2800" dirty="0" smtClean="0">
                <a:sym typeface="+mn-ea"/>
              </a:rPr>
              <a:t>汉语</a:t>
            </a:r>
            <a:r>
              <a:rPr lang="zh-CN" altLang="en-US" sz="2800" dirty="0" smtClean="0">
                <a:sym typeface="+mn-ea"/>
              </a:rPr>
              <a:t>        </a:t>
            </a:r>
            <a:r>
              <a:rPr lang="en-US" altLang="zh-CN" sz="2800" dirty="0" smtClean="0">
                <a:sym typeface="+mn-ea"/>
              </a:rPr>
              <a:t>H</a:t>
            </a:r>
            <a:r>
              <a:rPr lang="zh-CN" altLang="en-US" sz="2800" dirty="0" smtClean="0">
                <a:sym typeface="+mn-ea"/>
              </a:rPr>
              <a:t>àn yǔ             </a:t>
            </a:r>
            <a:r>
              <a:rPr lang="en-US" altLang="zh-CN" sz="2800" dirty="0" smtClean="0">
                <a:sym typeface="+mn-ea"/>
              </a:rPr>
              <a:t>Chinese</a:t>
            </a:r>
            <a:r>
              <a:rPr lang="zh-CN" altLang="en-US" sz="2800" dirty="0" smtClean="0">
                <a:sym typeface="+mn-ea"/>
              </a:rPr>
              <a:t>（</a:t>
            </a:r>
            <a:r>
              <a:rPr lang="en-US" altLang="zh-CN" sz="2800" dirty="0" smtClean="0">
                <a:sym typeface="+mn-ea"/>
              </a:rPr>
              <a:t>language</a:t>
            </a:r>
            <a:r>
              <a:rPr lang="zh-CN" altLang="en-US" sz="2800" dirty="0" smtClean="0">
                <a:sym typeface="+mn-ea"/>
              </a:rPr>
              <a:t>）</a:t>
            </a:r>
            <a:endParaRPr lang="zh-CN" altLang="en-US" sz="2800" dirty="0" smtClean="0"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2800" dirty="0" smtClean="0">
                <a:sym typeface="+mn-ea"/>
              </a:rPr>
              <a:t>     </a:t>
            </a:r>
            <a:r>
              <a:rPr lang="en-US" altLang="zh-CN" sz="2800" dirty="0" smtClean="0">
                <a:sym typeface="+mn-ea"/>
              </a:rPr>
              <a:t>3        </a:t>
            </a:r>
            <a:r>
              <a:rPr lang="zh-CN" altLang="en-US" sz="2800" dirty="0" smtClean="0">
                <a:sym typeface="+mn-ea"/>
              </a:rPr>
              <a:t>泰国</a:t>
            </a:r>
            <a:r>
              <a:rPr lang="zh-CN" altLang="en-US" sz="2800" dirty="0" smtClean="0">
                <a:sym typeface="+mn-ea"/>
              </a:rPr>
              <a:t>       </a:t>
            </a:r>
            <a:r>
              <a:rPr lang="en-US" altLang="zh-CN" sz="2800" dirty="0" smtClean="0">
                <a:sym typeface="+mn-ea"/>
              </a:rPr>
              <a:t>T</a:t>
            </a:r>
            <a:r>
              <a:rPr lang="zh-CN" altLang="en-US" sz="2800" dirty="0" smtClean="0">
                <a:sym typeface="+mn-ea"/>
              </a:rPr>
              <a:t>ài guó              </a:t>
            </a:r>
            <a:r>
              <a:rPr lang="en-US" altLang="zh-CN" sz="2800" dirty="0" smtClean="0">
                <a:sym typeface="+mn-ea"/>
              </a:rPr>
              <a:t>Thailand</a:t>
            </a:r>
            <a:endParaRPr lang="en-US" altLang="zh-CN" sz="2800" dirty="0" smtClean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152775" y="481965"/>
            <a:ext cx="4864735" cy="3784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eaLnBrk="1" fontAlgn="auto" latinLnBrk="0" hangingPunct="1">
              <a:lnSpc>
                <a:spcPct val="150000"/>
              </a:lnSpc>
            </a:pPr>
            <a:r>
              <a:rPr lang="zh-CN" altLang="en-US" sz="3200" dirty="0">
                <a:latin typeface="+mn-ea"/>
                <a:ea typeface="+mn-ea"/>
              </a:rPr>
              <a:t>她是留学生。</a:t>
            </a:r>
            <a:endParaRPr lang="zh-CN" altLang="en-US" sz="3200" dirty="0">
              <a:latin typeface="+mn-ea"/>
              <a:ea typeface="+mn-ea"/>
            </a:endParaRPr>
          </a:p>
          <a:p>
            <a:pPr eaLnBrk="1" fontAlgn="auto" latinLnBrk="0" hangingPunct="1">
              <a:lnSpc>
                <a:spcPct val="150000"/>
              </a:lnSpc>
            </a:pPr>
            <a:r>
              <a:rPr lang="zh-CN" altLang="en-US" sz="3200" dirty="0">
                <a:latin typeface="+mn-ea"/>
                <a:ea typeface="+mn-ea"/>
              </a:rPr>
              <a:t>她是</a:t>
            </a:r>
            <a:r>
              <a:rPr lang="zh-CN" altLang="en-US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哪nǎ</a:t>
            </a:r>
            <a:r>
              <a:rPr lang="zh-CN" altLang="en-US" sz="3200" dirty="0">
                <a:latin typeface="+mn-ea"/>
                <a:ea typeface="+mn-ea"/>
              </a:rPr>
              <a:t>国留学生？</a:t>
            </a:r>
            <a:endParaRPr lang="zh-CN" altLang="en-US" sz="3200" dirty="0">
              <a:latin typeface="+mn-ea"/>
              <a:ea typeface="+mn-ea"/>
            </a:endParaRPr>
          </a:p>
          <a:p>
            <a:pPr eaLnBrk="1" fontAlgn="auto" latinLnBrk="0" hangingPunct="1">
              <a:lnSpc>
                <a:spcPct val="150000"/>
              </a:lnSpc>
            </a:pPr>
            <a:r>
              <a:rPr lang="zh-CN" altLang="en-US" sz="3200" dirty="0">
                <a:latin typeface="+mn-ea"/>
                <a:ea typeface="+mn-ea"/>
              </a:rPr>
              <a:t>她是法国留学生。</a:t>
            </a:r>
            <a:endParaRPr lang="zh-CN" altLang="en-US" sz="3200" dirty="0">
              <a:latin typeface="+mn-ea"/>
              <a:ea typeface="+mn-ea"/>
            </a:endParaRPr>
          </a:p>
          <a:p>
            <a:pPr eaLnBrk="1" fontAlgn="auto" latinLnBrk="0" hangingPunct="1">
              <a:lnSpc>
                <a:spcPct val="150000"/>
              </a:lnSpc>
            </a:pPr>
            <a:r>
              <a:rPr lang="zh-CN" altLang="en-US" sz="3200" dirty="0">
                <a:latin typeface="+mn-ea"/>
                <a:ea typeface="+mn-ea"/>
              </a:rPr>
              <a:t>我</a:t>
            </a:r>
            <a:r>
              <a:rPr lang="zh-CN" altLang="en-US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也</a:t>
            </a:r>
            <a:r>
              <a:rPr lang="zh-CN" altLang="en-US" sz="3200" dirty="0">
                <a:latin typeface="+mn-ea"/>
                <a:ea typeface="+mn-ea"/>
              </a:rPr>
              <a:t>是留学生。</a:t>
            </a:r>
            <a:endParaRPr lang="zh-CN" altLang="en-US" sz="3200" dirty="0">
              <a:latin typeface="+mn-ea"/>
              <a:ea typeface="+mn-ea"/>
            </a:endParaRPr>
          </a:p>
          <a:p>
            <a:pPr eaLnBrk="1" fontAlgn="auto" latinLnBrk="0" hangingPunct="1">
              <a:lnSpc>
                <a:spcPct val="150000"/>
              </a:lnSpc>
            </a:pPr>
            <a:r>
              <a:rPr lang="zh-CN" altLang="en-US" sz="3200" dirty="0">
                <a:latin typeface="+mn-ea"/>
                <a:ea typeface="+mn-ea"/>
              </a:rPr>
              <a:t>你是</a:t>
            </a:r>
            <a:r>
              <a:rPr lang="zh-CN" altLang="en-US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哪国</a:t>
            </a:r>
            <a:r>
              <a:rPr lang="zh-CN" altLang="en-US" sz="3200" dirty="0">
                <a:latin typeface="+mn-ea"/>
                <a:ea typeface="+mn-ea"/>
              </a:rPr>
              <a:t>留学生？</a:t>
            </a:r>
            <a:endParaRPr lang="zh-CN" altLang="en-US" sz="3200" dirty="0">
              <a:latin typeface="+mn-ea"/>
              <a:ea typeface="+mn-ea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61925" y="1614805"/>
            <a:ext cx="2774315" cy="106108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留学生</a:t>
            </a:r>
            <a:endParaRPr lang="zh-CN" altLang="en-US"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sz="2400" dirty="0">
                <a:sym typeface="+mn-ea"/>
              </a:rPr>
              <a:t>liú xué shēng</a:t>
            </a:r>
            <a:endParaRPr lang="en-US" altLang="zh-CN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632585" y="4573270"/>
            <a:ext cx="1907540" cy="106108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学习</a:t>
            </a:r>
            <a:r>
              <a:rPr lang="en-US" altLang="zh-CN" sz="3200" dirty="0">
                <a:sym typeface="+mn-ea"/>
              </a:rPr>
              <a:t>xué xí </a:t>
            </a:r>
            <a:endParaRPr lang="zh-CN" altLang="en-US"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89350" y="4508500"/>
            <a:ext cx="4797425" cy="20300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pPr eaLnBrk="1" fontAlgn="auto" latinLnBrk="0" hangingPunct="1">
              <a:lnSpc>
                <a:spcPct val="150000"/>
              </a:lnSpc>
            </a:pPr>
            <a:r>
              <a:rPr lang="zh-CN" altLang="en-US" sz="2800" dirty="0">
                <a:latin typeface="+mn-ea"/>
                <a:ea typeface="+mn-ea"/>
              </a:rPr>
              <a:t>我学习汉语</a:t>
            </a:r>
            <a:r>
              <a:rPr lang="en-US" altLang="zh-CN" sz="2800" dirty="0" smtClean="0">
                <a:sym typeface="+mn-ea"/>
              </a:rPr>
              <a:t>H</a:t>
            </a:r>
            <a:r>
              <a:rPr lang="zh-CN" altLang="en-US" sz="2800" dirty="0" smtClean="0">
                <a:sym typeface="+mn-ea"/>
              </a:rPr>
              <a:t>àn yǔ</a:t>
            </a:r>
            <a:r>
              <a:rPr lang="zh-CN" altLang="en-US" sz="2800" dirty="0">
                <a:latin typeface="+mn-ea"/>
                <a:ea typeface="+mn-ea"/>
              </a:rPr>
              <a:t>。</a:t>
            </a:r>
            <a:endParaRPr lang="zh-CN" altLang="en-US" sz="2800" dirty="0">
              <a:latin typeface="+mn-ea"/>
              <a:ea typeface="+mn-ea"/>
            </a:endParaRPr>
          </a:p>
          <a:p>
            <a:pPr eaLnBrk="1" fontAlgn="auto" latinLnBrk="0" hangingPunct="1">
              <a:lnSpc>
                <a:spcPct val="150000"/>
              </a:lnSpc>
            </a:pPr>
            <a:r>
              <a:rPr lang="zh-CN" altLang="en-US" sz="2800" dirty="0">
                <a:latin typeface="+mn-ea"/>
                <a:ea typeface="+mn-ea"/>
              </a:rPr>
              <a:t>你们学习什么</a:t>
            </a:r>
            <a:r>
              <a:rPr lang="zh-CN" altLang="en-US" sz="2800" dirty="0">
                <a:latin typeface="+mn-ea"/>
                <a:ea typeface="+mn-ea"/>
              </a:rPr>
              <a:t>shén me </a:t>
            </a:r>
            <a:r>
              <a:rPr lang="zh-CN" altLang="en-US" sz="2800" dirty="0">
                <a:latin typeface="+mn-ea"/>
                <a:ea typeface="+mn-ea"/>
              </a:rPr>
              <a:t>？</a:t>
            </a:r>
            <a:endParaRPr lang="zh-CN" altLang="en-US" sz="2800" dirty="0">
              <a:latin typeface="+mn-ea"/>
              <a:ea typeface="+mn-ea"/>
            </a:endParaRPr>
          </a:p>
          <a:p>
            <a:pPr eaLnBrk="1" fontAlgn="auto" latinLnBrk="0" hangingPunct="1">
              <a:lnSpc>
                <a:spcPct val="150000"/>
              </a:lnSpc>
            </a:pPr>
            <a:r>
              <a:rPr lang="zh-CN" altLang="en-US" sz="2800" dirty="0">
                <a:latin typeface="+mn-ea"/>
                <a:ea typeface="+mn-ea"/>
              </a:rPr>
              <a:t>我</a:t>
            </a:r>
            <a:r>
              <a:rPr lang="zh-CN" altLang="en-US" sz="2800" dirty="0">
                <a:latin typeface="+mn-ea"/>
                <a:ea typeface="+mn-ea"/>
              </a:rPr>
              <a:t>们</a:t>
            </a:r>
            <a:r>
              <a:rPr lang="zh-CN" altLang="en-US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也</a:t>
            </a:r>
            <a:r>
              <a:rPr lang="zh-CN" altLang="en-US" sz="2800" dirty="0">
                <a:latin typeface="+mn-ea"/>
                <a:ea typeface="+mn-ea"/>
              </a:rPr>
              <a:t>学习汉语。</a:t>
            </a:r>
            <a:endParaRPr lang="zh-CN" altLang="en-US" sz="2800" dirty="0">
              <a:latin typeface="+mn-ea"/>
              <a:ea typeface="+mn-ea"/>
            </a:endParaRPr>
          </a:p>
        </p:txBody>
      </p:sp>
      <p:pic>
        <p:nvPicPr>
          <p:cNvPr id="3" name="图片 2" descr="timg[10]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8156" t="9359" r="10356"/>
          <a:stretch>
            <a:fillRect/>
          </a:stretch>
        </p:blipFill>
        <p:spPr>
          <a:xfrm>
            <a:off x="8380095" y="453390"/>
            <a:ext cx="3328670" cy="2394585"/>
          </a:xfrm>
          <a:prstGeom prst="cloud">
            <a:avLst/>
          </a:prstGeom>
        </p:spPr>
      </p:pic>
      <p:pic>
        <p:nvPicPr>
          <p:cNvPr id="10" name="图片 9" descr="timgRH8YF391"/>
          <p:cNvPicPr>
            <a:picLocks noChangeAspect="1"/>
          </p:cNvPicPr>
          <p:nvPr/>
        </p:nvPicPr>
        <p:blipFill>
          <a:blip r:embed="rId3"/>
          <a:srcRect l="1293" t="2633" r="4960" b="522"/>
          <a:stretch>
            <a:fillRect/>
          </a:stretch>
        </p:blipFill>
        <p:spPr>
          <a:xfrm>
            <a:off x="7416800" y="3331845"/>
            <a:ext cx="4464685" cy="2592070"/>
          </a:xfrm>
          <a:prstGeom prst="cloudCallou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871595" y="384810"/>
            <a:ext cx="7246620" cy="3784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eaLnBrk="1" fontAlgn="auto" latinLnBrk="0" hangingPunct="1">
              <a:lnSpc>
                <a:spcPct val="150000"/>
              </a:lnSpc>
            </a:pPr>
            <a:r>
              <a:rPr lang="zh-CN" altLang="en-US" sz="3200" dirty="0">
                <a:latin typeface="+mn-ea"/>
                <a:ea typeface="+mn-ea"/>
              </a:rPr>
              <a:t>我们</a:t>
            </a:r>
            <a:r>
              <a:rPr lang="zh-CN" altLang="en-US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一起</a:t>
            </a:r>
            <a:r>
              <a:rPr lang="zh-CN" altLang="en-US" sz="3200" dirty="0">
                <a:latin typeface="+mn-ea"/>
                <a:ea typeface="+mn-ea"/>
              </a:rPr>
              <a:t>学习。</a:t>
            </a:r>
            <a:endParaRPr lang="zh-CN" altLang="en-US" sz="3200" dirty="0">
              <a:latin typeface="+mn-ea"/>
              <a:ea typeface="+mn-ea"/>
            </a:endParaRPr>
          </a:p>
          <a:p>
            <a:pPr eaLnBrk="1" fontAlgn="auto" latinLnBrk="0" hangingPunct="1">
              <a:lnSpc>
                <a:spcPct val="150000"/>
              </a:lnSpc>
            </a:pPr>
            <a:r>
              <a:rPr lang="zh-CN" altLang="en-US" sz="3200" dirty="0">
                <a:latin typeface="+mn-ea"/>
                <a:ea typeface="+mn-ea"/>
              </a:rPr>
              <a:t>你们一起学习什么？</a:t>
            </a:r>
            <a:endParaRPr lang="zh-CN" altLang="en-US" sz="3200" dirty="0">
              <a:latin typeface="+mn-ea"/>
              <a:ea typeface="+mn-ea"/>
            </a:endParaRPr>
          </a:p>
          <a:p>
            <a:pPr eaLnBrk="1" fontAlgn="auto" latinLnBrk="0" hangingPunct="1">
              <a:lnSpc>
                <a:spcPct val="150000"/>
              </a:lnSpc>
            </a:pPr>
            <a:r>
              <a:rPr lang="zh-CN" altLang="en-US" sz="3200" dirty="0">
                <a:latin typeface="+mn-ea"/>
                <a:ea typeface="+mn-ea"/>
              </a:rPr>
              <a:t>我们一起学习汉语。</a:t>
            </a:r>
            <a:endParaRPr lang="zh-CN" altLang="en-US" sz="3200" dirty="0">
              <a:latin typeface="+mn-ea"/>
              <a:ea typeface="+mn-ea"/>
            </a:endParaRPr>
          </a:p>
          <a:p>
            <a:pPr eaLnBrk="1" fontAlgn="auto" latinLnBrk="0" hangingPunct="1">
              <a:lnSpc>
                <a:spcPct val="150000"/>
              </a:lnSpc>
            </a:pPr>
            <a:r>
              <a:rPr lang="zh-CN" altLang="en-US" sz="3200" dirty="0">
                <a:latin typeface="+mn-ea"/>
                <a:ea typeface="+mn-ea"/>
              </a:rPr>
              <a:t>         他们</a:t>
            </a:r>
            <a:r>
              <a:rPr lang="zh-CN" altLang="en-US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一起</a:t>
            </a:r>
            <a:r>
              <a:rPr lang="zh-CN" altLang="en-US" sz="3200" dirty="0">
                <a:latin typeface="+mn-ea"/>
                <a:ea typeface="+mn-ea"/>
              </a:rPr>
              <a:t>上课</a:t>
            </a:r>
            <a:r>
              <a:rPr lang="en-US" altLang="zh-CN" sz="3200" dirty="0">
                <a:sym typeface="+mn-ea"/>
              </a:rPr>
              <a:t> shàng kè </a:t>
            </a:r>
            <a:r>
              <a:rPr lang="zh-CN" altLang="en-US" sz="3200" dirty="0">
                <a:latin typeface="+mn-ea"/>
                <a:ea typeface="+mn-ea"/>
              </a:rPr>
              <a:t>。</a:t>
            </a:r>
            <a:endParaRPr lang="zh-CN" altLang="en-US" sz="3200" dirty="0">
              <a:latin typeface="+mn-ea"/>
              <a:ea typeface="+mn-ea"/>
            </a:endParaRPr>
          </a:p>
          <a:p>
            <a:pPr eaLnBrk="1" fontAlgn="auto" latinLnBrk="0" hangingPunct="1">
              <a:lnSpc>
                <a:spcPct val="150000"/>
              </a:lnSpc>
            </a:pPr>
            <a:r>
              <a:rPr lang="zh-CN" altLang="en-US" sz="3200" dirty="0">
                <a:latin typeface="+mn-ea"/>
                <a:ea typeface="+mn-ea"/>
              </a:rPr>
              <a:t>          我们一起</a:t>
            </a:r>
            <a:r>
              <a:rPr lang="zh-CN" altLang="en-US" sz="3200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玩儿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（</a:t>
            </a:r>
            <a:r>
              <a:rPr lang="en-US" altLang="zh-CN" sz="2000" dirty="0" smtClean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w</a:t>
            </a:r>
            <a:r>
              <a:rPr lang="zh-CN" altLang="zh-CN" sz="2000" dirty="0" smtClean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á</a:t>
            </a:r>
            <a:r>
              <a:rPr lang="en-US" altLang="zh-CN" sz="2000" dirty="0" smtClean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nr</a:t>
            </a:r>
            <a:r>
              <a:rPr lang="zh-CN" altLang="en-US" sz="2000" dirty="0" smtClean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，</a:t>
            </a:r>
            <a:r>
              <a:rPr lang="en-US" altLang="zh-CN" sz="2000" dirty="0" smtClean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play</a:t>
            </a:r>
            <a:r>
              <a:rPr lang="zh-CN" altLang="en-US" sz="2000" dirty="0" smtClean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）</a:t>
            </a:r>
            <a:r>
              <a:rPr lang="zh-CN" altLang="en-US" sz="3200" dirty="0">
                <a:latin typeface="+mn-ea"/>
                <a:ea typeface="+mn-ea"/>
              </a:rPr>
              <a:t>。</a:t>
            </a:r>
            <a:endParaRPr lang="zh-CN" altLang="en-US" sz="3200" dirty="0">
              <a:latin typeface="+mn-ea"/>
              <a:ea typeface="+mn-ea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894715" y="127000"/>
            <a:ext cx="1955800" cy="106108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3600" dirty="0">
                <a:sym typeface="+mn-ea"/>
              </a:rPr>
              <a:t>一起</a:t>
            </a:r>
            <a:endParaRPr lang="zh-CN" altLang="en-US" sz="3600" dirty="0">
              <a:sym typeface="+mn-ea"/>
            </a:endParaRPr>
          </a:p>
          <a:p>
            <a:pPr algn="ctr"/>
            <a:r>
              <a:rPr lang="en-US" altLang="zh-CN" sz="2800" dirty="0">
                <a:sym typeface="+mn-ea"/>
              </a:rPr>
              <a:t>yì qǐ </a:t>
            </a:r>
            <a:endParaRPr lang="en-US" altLang="zh-CN" sz="2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pic>
        <p:nvPicPr>
          <p:cNvPr id="2" name="图片 1" descr="timg20Q4TNKV"/>
          <p:cNvPicPr>
            <a:picLocks noChangeAspect="1"/>
          </p:cNvPicPr>
          <p:nvPr/>
        </p:nvPicPr>
        <p:blipFill>
          <a:blip r:embed="rId1"/>
          <a:srcRect l="1357" t="-160" r="1349" b="1253"/>
          <a:stretch>
            <a:fillRect/>
          </a:stretch>
        </p:blipFill>
        <p:spPr>
          <a:xfrm>
            <a:off x="8265795" y="267335"/>
            <a:ext cx="3429000" cy="2213610"/>
          </a:xfrm>
          <a:prstGeom prst="roundRect">
            <a:avLst/>
          </a:prstGeom>
        </p:spPr>
      </p:pic>
      <p:sp>
        <p:nvSpPr>
          <p:cNvPr id="9" name="椭圆 8"/>
          <p:cNvSpPr/>
          <p:nvPr/>
        </p:nvSpPr>
        <p:spPr>
          <a:xfrm>
            <a:off x="3232150" y="4852035"/>
            <a:ext cx="2440305" cy="106108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3600" dirty="0">
                <a:sym typeface="+mn-ea"/>
              </a:rPr>
              <a:t>上课</a:t>
            </a:r>
            <a:endParaRPr lang="zh-CN" altLang="en-US" sz="3600" dirty="0">
              <a:sym typeface="+mn-ea"/>
            </a:endParaRPr>
          </a:p>
          <a:p>
            <a:pPr algn="ctr"/>
            <a:r>
              <a:rPr lang="en-US" altLang="zh-CN" sz="2800" dirty="0">
                <a:sym typeface="+mn-ea"/>
              </a:rPr>
              <a:t>shàng kè </a:t>
            </a:r>
            <a:endParaRPr lang="en-US" altLang="zh-CN" sz="2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902325" y="4387215"/>
            <a:ext cx="5792470" cy="23069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pPr eaLnBrk="1" fontAlgn="auto" latinLnBrk="0" hangingPunct="1">
              <a:lnSpc>
                <a:spcPct val="150000"/>
              </a:lnSpc>
            </a:pPr>
            <a:r>
              <a:rPr lang="zh-CN" altLang="en-US" sz="3200" dirty="0">
                <a:solidFill>
                  <a:schemeClr val="tx1"/>
                </a:solidFill>
                <a:latin typeface="+mn-ea"/>
                <a:ea typeface="+mn-ea"/>
              </a:rPr>
              <a:t>我们</a:t>
            </a:r>
            <a:r>
              <a:rPr lang="zh-CN" altLang="en-US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一起</a:t>
            </a:r>
            <a:r>
              <a:rPr lang="zh-CN" altLang="en-US" sz="3200" dirty="0">
                <a:latin typeface="+mn-ea"/>
                <a:ea typeface="+mn-ea"/>
              </a:rPr>
              <a:t>上课</a:t>
            </a:r>
            <a:r>
              <a:rPr lang="en-US" altLang="zh-CN" sz="3200" dirty="0">
                <a:sym typeface="+mn-ea"/>
              </a:rPr>
              <a:t> shàng kè </a:t>
            </a:r>
            <a:r>
              <a:rPr lang="zh-CN" altLang="en-US" sz="3200" dirty="0">
                <a:latin typeface="+mn-ea"/>
                <a:ea typeface="+mn-ea"/>
              </a:rPr>
              <a:t>。</a:t>
            </a:r>
            <a:endParaRPr lang="zh-CN" altLang="en-US" sz="3200" dirty="0">
              <a:latin typeface="+mn-ea"/>
              <a:ea typeface="+mn-ea"/>
            </a:endParaRPr>
          </a:p>
          <a:p>
            <a:pPr eaLnBrk="1" fontAlgn="auto" latinLnBrk="0" hangingPunct="1">
              <a:lnSpc>
                <a:spcPct val="150000"/>
              </a:lnSpc>
            </a:pPr>
            <a:r>
              <a:rPr lang="zh-CN" altLang="en-US" sz="3200" dirty="0">
                <a:latin typeface="+mn-ea"/>
                <a:ea typeface="+mn-ea"/>
              </a:rPr>
              <a:t>你们</a:t>
            </a:r>
            <a:r>
              <a:rPr lang="zh-CN" altLang="en-US" sz="32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上</a:t>
            </a:r>
            <a:r>
              <a:rPr lang="zh-CN" altLang="en-US" sz="3200" dirty="0">
                <a:latin typeface="+mn-ea"/>
                <a:ea typeface="+mn-ea"/>
              </a:rPr>
              <a:t>什么</a:t>
            </a:r>
            <a:r>
              <a:rPr lang="zh-CN" altLang="en-US" sz="32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课</a:t>
            </a:r>
            <a:r>
              <a:rPr lang="zh-CN" altLang="en-US" sz="3200" dirty="0">
                <a:latin typeface="+mn-ea"/>
                <a:ea typeface="+mn-ea"/>
              </a:rPr>
              <a:t>？</a:t>
            </a:r>
            <a:endParaRPr lang="zh-CN" altLang="en-US" sz="3200" dirty="0">
              <a:latin typeface="+mn-ea"/>
              <a:ea typeface="+mn-ea"/>
            </a:endParaRPr>
          </a:p>
          <a:p>
            <a:pPr eaLnBrk="1" fontAlgn="auto" latinLnBrk="0" hangingPunct="1">
              <a:lnSpc>
                <a:spcPct val="150000"/>
              </a:lnSpc>
            </a:pPr>
            <a:r>
              <a:rPr lang="zh-CN" altLang="en-US" sz="3200" dirty="0">
                <a:latin typeface="+mn-ea"/>
                <a:ea typeface="+mn-ea"/>
              </a:rPr>
              <a:t>我们</a:t>
            </a:r>
            <a:r>
              <a:rPr lang="zh-CN" altLang="en-US" sz="3200" dirty="0">
                <a:solidFill>
                  <a:srgbClr val="FF0000"/>
                </a:solidFill>
                <a:latin typeface="+mn-ea"/>
                <a:ea typeface="+mn-ea"/>
              </a:rPr>
              <a:t>上</a:t>
            </a:r>
            <a:r>
              <a:rPr lang="zh-CN" altLang="en-US" sz="32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汉语课</a:t>
            </a:r>
            <a:r>
              <a:rPr lang="zh-CN" altLang="en-US" sz="3200" dirty="0">
                <a:latin typeface="+mn-ea"/>
                <a:ea typeface="+mn-ea"/>
              </a:rPr>
              <a:t>。</a:t>
            </a:r>
            <a:endParaRPr lang="zh-CN" altLang="en-US" sz="3200" dirty="0">
              <a:latin typeface="+mn-ea"/>
              <a:ea typeface="+mn-ea"/>
            </a:endParaRPr>
          </a:p>
        </p:txBody>
      </p:sp>
      <p:pic>
        <p:nvPicPr>
          <p:cNvPr id="12" name="图片 11" descr="VCG219c1c71172[1]"/>
          <p:cNvPicPr>
            <a:picLocks noChangeAspect="1"/>
          </p:cNvPicPr>
          <p:nvPr/>
        </p:nvPicPr>
        <p:blipFill>
          <a:blip r:embed="rId2"/>
          <a:srcRect t="10772" r="3761" b="10829"/>
          <a:stretch>
            <a:fillRect/>
          </a:stretch>
        </p:blipFill>
        <p:spPr>
          <a:xfrm>
            <a:off x="1592580" y="2658745"/>
            <a:ext cx="3185160" cy="1728470"/>
          </a:xfrm>
          <a:prstGeom prst="round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4432300" y="828040"/>
            <a:ext cx="4599305" cy="30460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pPr eaLnBrk="1" fontAlgn="auto" latinLnBrk="0" hangingPunct="1">
              <a:lnSpc>
                <a:spcPct val="150000"/>
              </a:lnSpc>
            </a:pPr>
            <a:r>
              <a:rPr lang="zh-CN" altLang="en-US" sz="3200" dirty="0">
                <a:latin typeface="+mn-ea"/>
                <a:ea typeface="+mn-ea"/>
              </a:rPr>
              <a:t>我说</a:t>
            </a:r>
            <a:r>
              <a:rPr lang="zh-CN" altLang="en-US" sz="3200" dirty="0">
                <a:latin typeface="+mn-ea"/>
                <a:ea typeface="+mn-ea"/>
              </a:rPr>
              <a:t>汉语</a:t>
            </a:r>
            <a:r>
              <a:rPr lang="en-US" altLang="zh-CN" sz="3200" dirty="0" smtClean="0">
                <a:sym typeface="+mn-ea"/>
              </a:rPr>
              <a:t>H</a:t>
            </a:r>
            <a:r>
              <a:rPr lang="zh-CN" altLang="en-US" sz="3200" dirty="0" smtClean="0">
                <a:sym typeface="+mn-ea"/>
              </a:rPr>
              <a:t>àn yǔ</a:t>
            </a:r>
            <a:r>
              <a:rPr lang="zh-CN" altLang="en-US" sz="3200" dirty="0">
                <a:latin typeface="+mn-ea"/>
                <a:ea typeface="+mn-ea"/>
              </a:rPr>
              <a:t>。</a:t>
            </a:r>
            <a:endParaRPr lang="zh-CN" altLang="en-US" sz="3200" dirty="0">
              <a:latin typeface="+mn-ea"/>
              <a:ea typeface="+mn-ea"/>
            </a:endParaRPr>
          </a:p>
          <a:p>
            <a:pPr eaLnBrk="1" fontAlgn="auto" latinLnBrk="0" hangingPunct="1">
              <a:lnSpc>
                <a:spcPct val="150000"/>
              </a:lnSpc>
            </a:pPr>
            <a:r>
              <a:rPr lang="zh-CN" altLang="en-US" sz="3200" dirty="0">
                <a:latin typeface="+mn-ea"/>
                <a:ea typeface="+mn-ea"/>
              </a:rPr>
              <a:t>她也说汉语。</a:t>
            </a:r>
            <a:endParaRPr lang="zh-CN" altLang="en-US" sz="3200" dirty="0">
              <a:latin typeface="+mn-ea"/>
              <a:ea typeface="+mn-ea"/>
            </a:endParaRPr>
          </a:p>
          <a:p>
            <a:pPr eaLnBrk="1" fontAlgn="auto" latinLnBrk="0" hangingPunct="1">
              <a:lnSpc>
                <a:spcPct val="150000"/>
              </a:lnSpc>
            </a:pPr>
            <a:r>
              <a:rPr lang="zh-CN" altLang="en-US" sz="3200" dirty="0">
                <a:latin typeface="+mn-ea"/>
                <a:ea typeface="+mn-ea"/>
              </a:rPr>
              <a:t>我们</a:t>
            </a:r>
            <a:r>
              <a:rPr lang="zh-CN" altLang="en-US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一起</a:t>
            </a:r>
            <a:r>
              <a:rPr lang="zh-CN" altLang="en-US" sz="3200" dirty="0">
                <a:latin typeface="+mn-ea"/>
                <a:ea typeface="+mn-ea"/>
              </a:rPr>
              <a:t>说汉语。</a:t>
            </a:r>
            <a:endParaRPr lang="zh-CN" altLang="en-US" sz="3200" dirty="0">
              <a:latin typeface="+mn-ea"/>
              <a:ea typeface="+mn-ea"/>
            </a:endParaRPr>
          </a:p>
          <a:p>
            <a:pPr eaLnBrk="1" fontAlgn="auto" latinLnBrk="0" hangingPunct="1">
              <a:lnSpc>
                <a:spcPct val="150000"/>
              </a:lnSpc>
            </a:pPr>
            <a:r>
              <a:rPr lang="zh-CN" altLang="en-US" sz="3200" dirty="0">
                <a:latin typeface="+mn-ea"/>
                <a:ea typeface="+mn-ea"/>
              </a:rPr>
              <a:t>你说什么？</a:t>
            </a:r>
            <a:endParaRPr lang="zh-CN" altLang="en-US" sz="3200" dirty="0">
              <a:latin typeface="+mn-ea"/>
              <a:ea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805305" y="680085"/>
            <a:ext cx="1907540" cy="106108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3200" dirty="0">
                <a:sym typeface="+mn-ea"/>
              </a:rPr>
              <a:t>说</a:t>
            </a:r>
            <a:r>
              <a:rPr lang="en-US" altLang="zh-CN" sz="3200" dirty="0">
                <a:sym typeface="+mn-ea"/>
              </a:rPr>
              <a:t>shuō  </a:t>
            </a:r>
            <a:endParaRPr lang="zh-CN" altLang="en-US"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图片 5" descr="timg2Z3IJW5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81365" y="511810"/>
            <a:ext cx="801370" cy="811530"/>
          </a:xfrm>
          <a:prstGeom prst="rect">
            <a:avLst/>
          </a:prstGeom>
        </p:spPr>
      </p:pic>
      <p:pic>
        <p:nvPicPr>
          <p:cNvPr id="3" name="图片 2" descr="VCG21gic2630953[1]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030" y="3557905"/>
            <a:ext cx="4013835" cy="2673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课文一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4000" dirty="0" smtClean="0"/>
              <a:t>林娜是法国留学生，她学习汉语。</a:t>
            </a:r>
            <a:endParaRPr lang="zh-CN" altLang="en-US" sz="4000" dirty="0" smtClean="0"/>
          </a:p>
          <a:p>
            <a:r>
              <a:rPr lang="zh-CN" altLang="en-US" sz="28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（</a:t>
            </a:r>
            <a:r>
              <a:rPr lang="en-US" altLang="zh-CN" sz="28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L</a:t>
            </a:r>
            <a:r>
              <a:rPr lang="en-US" altLang="zh-CN" sz="28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ín nà shì fǎ guó liú xué shēng ， tā xué xí hàn yǔ .</a:t>
            </a:r>
            <a:r>
              <a:rPr lang="zh-CN" altLang="en-US" sz="28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）</a:t>
            </a:r>
            <a:endParaRPr lang="en-US" altLang="zh-CN" sz="2800" dirty="0" smtClean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zh-CN" altLang="en-US" sz="4000" dirty="0" smtClean="0"/>
              <a:t>阿明是泰国留学生，他也学习汉语。</a:t>
            </a:r>
            <a:endParaRPr lang="zh-CN" altLang="en-US" sz="4000" dirty="0" smtClean="0"/>
          </a:p>
          <a:p>
            <a:r>
              <a:rPr lang="en-US" altLang="zh-CN" sz="28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2800" cap="all" dirty="0" smtClean="0">
                <a:solidFill>
                  <a:schemeClr val="tx2">
                    <a:lumMod val="75000"/>
                    <a:lumOff val="25000"/>
                  </a:schemeClr>
                </a:solidFill>
                <a:uFillTx/>
              </a:rPr>
              <a:t>ā </a:t>
            </a:r>
            <a:r>
              <a:rPr lang="en-US" altLang="zh-CN" sz="28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míng shì tài guó liú xué shēng ， tā yě xué xí hàn yǔ .)</a:t>
            </a:r>
            <a:endParaRPr lang="en-US" altLang="zh-CN" sz="4000" dirty="0" smtClean="0"/>
          </a:p>
          <a:p>
            <a:r>
              <a:rPr lang="zh-CN" altLang="en-US" sz="4000" dirty="0" smtClean="0"/>
              <a:t>他们一起上课，一起说汉语。</a:t>
            </a:r>
            <a:endParaRPr lang="en-US" altLang="zh-CN" sz="4000" dirty="0" smtClean="0"/>
          </a:p>
          <a:p>
            <a:r>
              <a:rPr lang="en-US" altLang="zh-CN" sz="28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(tā men </a:t>
            </a:r>
            <a:r>
              <a:rPr lang="en-US" altLang="zh-CN" sz="2800" dirty="0">
                <a:sym typeface="+mn-ea"/>
              </a:rPr>
              <a:t>yì </a:t>
            </a:r>
            <a:r>
              <a:rPr lang="en-US" altLang="zh-CN" sz="28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qǐ shàng kè ， </a:t>
            </a:r>
            <a:r>
              <a:rPr lang="en-US" altLang="zh-CN" sz="2800" dirty="0">
                <a:sym typeface="+mn-ea"/>
              </a:rPr>
              <a:t>yì </a:t>
            </a:r>
            <a:r>
              <a:rPr lang="en-US" altLang="zh-CN" sz="28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 qǐ shuō hàn yǔ.)</a:t>
            </a:r>
            <a:endParaRPr lang="en-US" altLang="zh-CN" sz="2800" dirty="0" smtClean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altLang="zh-CN" sz="2800" dirty="0" smtClean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图片 3" descr="一起.jpg"/>
          <p:cNvPicPr>
            <a:picLocks noChangeAspect="1"/>
          </p:cNvPicPr>
          <p:nvPr/>
        </p:nvPicPr>
        <p:blipFill>
          <a:blip r:embed="rId1"/>
          <a:srcRect l="2060" t="-4484" b="6168"/>
          <a:stretch>
            <a:fillRect/>
          </a:stretch>
        </p:blipFill>
        <p:spPr>
          <a:xfrm>
            <a:off x="8472805" y="4133850"/>
            <a:ext cx="3109595" cy="2297430"/>
          </a:xfrm>
          <a:prstGeom prst="roundRect">
            <a:avLst/>
          </a:prstGeom>
        </p:spPr>
      </p:pic>
      <p:sp>
        <p:nvSpPr>
          <p:cNvPr id="5" name="Google Shape;171;p21"/>
          <p:cNvSpPr/>
          <p:nvPr/>
        </p:nvSpPr>
        <p:spPr>
          <a:xfrm>
            <a:off x="0" y="127000"/>
            <a:ext cx="3047365" cy="54737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课 </a:t>
            </a:r>
            <a:r>
              <a:rPr lang="zh-CN" altLang="en-US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文一 </a:t>
            </a: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Text </a:t>
            </a:r>
            <a:r>
              <a:rPr lang="en-US" alt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O</a:t>
            </a:r>
            <a:r>
              <a:rPr lang="en-US" alt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ne</a:t>
            </a:r>
            <a:endParaRPr lang="en-US" altLang="en-GB" sz="2800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pic>
        <p:nvPicPr>
          <p:cNvPr id="6" name="4-5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718800" y="575310"/>
            <a:ext cx="681355" cy="5416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问题wèn tí 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、林娜是哪国人？</a:t>
            </a:r>
            <a:endParaRPr lang="en-US" altLang="zh-CN" dirty="0" smtClean="0"/>
          </a:p>
          <a:p>
            <a:r>
              <a:rPr lang="en-US" altLang="zh-CN" dirty="0" smtClean="0"/>
              <a:t>       </a:t>
            </a:r>
            <a:r>
              <a:rPr lang="zh-CN" altLang="en-US" dirty="0" smtClean="0">
                <a:solidFill>
                  <a:schemeClr val="accent6">
                    <a:lumMod val="50000"/>
                  </a:schemeClr>
                </a:solidFill>
              </a:rPr>
              <a:t>林娜是法国人。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、林娜学习什么？</a:t>
            </a:r>
            <a:endParaRPr lang="en-US" altLang="zh-CN" dirty="0" smtClean="0"/>
          </a:p>
          <a:p>
            <a:r>
              <a:rPr lang="en-US" altLang="zh-CN" dirty="0" smtClean="0"/>
              <a:t>        </a:t>
            </a:r>
            <a:r>
              <a:rPr lang="zh-CN" altLang="en-US" dirty="0" smtClean="0">
                <a:solidFill>
                  <a:schemeClr val="accent6">
                    <a:lumMod val="50000"/>
                  </a:schemeClr>
                </a:solidFill>
              </a:rPr>
              <a:t>林娜学习汉语。</a:t>
            </a:r>
            <a:endParaRPr lang="en-US" altLang="zh-CN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、阿明是哪国留学生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r>
              <a:rPr lang="en-US" altLang="zh-CN" dirty="0" smtClean="0"/>
              <a:t>        </a:t>
            </a:r>
            <a:r>
              <a:rPr lang="zh-CN" altLang="en-US" dirty="0" smtClean="0">
                <a:solidFill>
                  <a:schemeClr val="accent6">
                    <a:lumMod val="50000"/>
                  </a:schemeClr>
                </a:solidFill>
              </a:rPr>
              <a:t>阿明是泰国留学生。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、阿明学习什么？</a:t>
            </a:r>
            <a:endParaRPr lang="zh-CN" altLang="en-US" dirty="0" smtClean="0"/>
          </a:p>
          <a:p>
            <a:r>
              <a:rPr lang="zh-CN" altLang="en-US" dirty="0" smtClean="0"/>
              <a:t>       </a:t>
            </a:r>
            <a:r>
              <a:rPr lang="zh-CN" altLang="en-US" dirty="0" smtClean="0">
                <a:solidFill>
                  <a:schemeClr val="accent6">
                    <a:lumMod val="50000"/>
                  </a:schemeClr>
                </a:solidFill>
              </a:rPr>
              <a:t> 阿明也学习汉语。</a:t>
            </a:r>
            <a:endParaRPr lang="zh-CN" altLang="en-US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altLang="zh-CN" dirty="0"/>
              <a:t>5</a:t>
            </a:r>
            <a:r>
              <a:rPr lang="zh-CN" altLang="en-US" dirty="0"/>
              <a:t>、 他们一起</a:t>
            </a:r>
            <a:r>
              <a:rPr lang="zh-CN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做</a:t>
            </a:r>
            <a:r>
              <a:rPr lang="zh-CN" altLang="en-US" sz="2400" dirty="0"/>
              <a:t>（zuò ，</a:t>
            </a:r>
            <a:r>
              <a:rPr lang="en-US" altLang="zh-CN" sz="2400" dirty="0"/>
              <a:t>do</a:t>
            </a:r>
            <a:r>
              <a:rPr lang="zh-CN" altLang="en-US" sz="2400" dirty="0"/>
              <a:t>）</a:t>
            </a:r>
            <a:r>
              <a:rPr lang="zh-CN" altLang="en-US" dirty="0"/>
              <a:t>什么？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他们一起上课，一起说汉语。</a:t>
            </a:r>
            <a:endParaRPr lang="zh-CN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课文一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4000" dirty="0" smtClean="0"/>
              <a:t>林娜是法国</a:t>
            </a:r>
            <a:r>
              <a:rPr lang="en-US" altLang="zh-CN" sz="4000" dirty="0" smtClean="0"/>
              <a:t>…………</a:t>
            </a:r>
            <a:r>
              <a:rPr lang="zh-CN" altLang="en-US" sz="4000" dirty="0" smtClean="0"/>
              <a:t>，她学习汉语。</a:t>
            </a:r>
            <a:endParaRPr lang="zh-CN" altLang="en-US" sz="4000" dirty="0" smtClean="0"/>
          </a:p>
          <a:p>
            <a:r>
              <a:rPr lang="zh-CN" altLang="en-US" sz="28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（</a:t>
            </a:r>
            <a:r>
              <a:rPr lang="en-US" altLang="zh-CN" sz="28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L</a:t>
            </a:r>
            <a:r>
              <a:rPr lang="en-US" altLang="zh-CN" sz="28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ín nà shì fǎ guó…………， tā xué xí hàn yǔ .</a:t>
            </a:r>
            <a:r>
              <a:rPr lang="zh-CN" altLang="en-US" sz="28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）</a:t>
            </a:r>
            <a:endParaRPr lang="en-US" altLang="zh-CN" sz="2800" dirty="0" smtClean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zh-CN" altLang="en-US" sz="4000" dirty="0" smtClean="0"/>
              <a:t>阿明是泰国留学生，他也</a:t>
            </a:r>
            <a:r>
              <a:rPr lang="en-US" altLang="zh-CN" sz="4000" dirty="0" smtClean="0"/>
              <a:t>……</a:t>
            </a:r>
            <a:r>
              <a:rPr lang="zh-CN" altLang="en-US" sz="4000" dirty="0" smtClean="0"/>
              <a:t>汉语。</a:t>
            </a:r>
            <a:endParaRPr lang="zh-CN" altLang="en-US" sz="4000" dirty="0" smtClean="0"/>
          </a:p>
          <a:p>
            <a:r>
              <a:rPr lang="en-US" altLang="zh-CN" sz="28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2800" cap="all" dirty="0" smtClean="0">
                <a:solidFill>
                  <a:schemeClr val="tx2">
                    <a:lumMod val="75000"/>
                    <a:lumOff val="25000"/>
                  </a:schemeClr>
                </a:solidFill>
                <a:uFillTx/>
              </a:rPr>
              <a:t>ā </a:t>
            </a:r>
            <a:r>
              <a:rPr lang="en-US" altLang="zh-CN" sz="28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míng shì tài guó liú xué shēng ， tā yě …… hàn yǔ .)</a:t>
            </a:r>
            <a:endParaRPr lang="en-US" altLang="zh-CN" sz="4000" dirty="0" smtClean="0"/>
          </a:p>
          <a:p>
            <a:r>
              <a:rPr lang="zh-CN" altLang="en-US" sz="4000" dirty="0" smtClean="0"/>
              <a:t>他们</a:t>
            </a:r>
            <a:r>
              <a:rPr lang="en-US" altLang="zh-CN" sz="4000" dirty="0" smtClean="0"/>
              <a:t>……</a:t>
            </a:r>
            <a:r>
              <a:rPr lang="zh-CN" altLang="en-US" sz="4000" dirty="0" smtClean="0"/>
              <a:t>上课，一起</a:t>
            </a:r>
            <a:r>
              <a:rPr lang="en-US" altLang="zh-CN" sz="4000" dirty="0" smtClean="0"/>
              <a:t>……</a:t>
            </a:r>
            <a:r>
              <a:rPr lang="zh-CN" altLang="en-US" sz="4000" dirty="0" smtClean="0"/>
              <a:t>汉语。</a:t>
            </a:r>
            <a:endParaRPr lang="en-US" altLang="zh-CN" sz="4000" dirty="0" smtClean="0"/>
          </a:p>
          <a:p>
            <a:r>
              <a:rPr lang="en-US" altLang="zh-CN" sz="28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(tā men …… shàng kè ，</a:t>
            </a:r>
            <a:r>
              <a:rPr lang="en-US" altLang="zh-CN" sz="2800" dirty="0">
                <a:sym typeface="+mn-ea"/>
              </a:rPr>
              <a:t>yì </a:t>
            </a:r>
            <a:r>
              <a:rPr lang="en-US" altLang="zh-CN" sz="28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 qǐ  …… hàn yǔ.)</a:t>
            </a:r>
            <a:endParaRPr lang="en-US" altLang="zh-CN" sz="2800" dirty="0" smtClean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altLang="zh-CN" sz="2800" dirty="0" smtClean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图片 3" descr="一起.jpg"/>
          <p:cNvPicPr>
            <a:picLocks noChangeAspect="1"/>
          </p:cNvPicPr>
          <p:nvPr/>
        </p:nvPicPr>
        <p:blipFill>
          <a:blip r:embed="rId1"/>
          <a:srcRect l="2060" t="-4484" b="6168"/>
          <a:stretch>
            <a:fillRect/>
          </a:stretch>
        </p:blipFill>
        <p:spPr>
          <a:xfrm>
            <a:off x="8472805" y="4133850"/>
            <a:ext cx="3109595" cy="2297430"/>
          </a:xfrm>
          <a:prstGeom prst="roundRect">
            <a:avLst/>
          </a:prstGeom>
        </p:spPr>
      </p:pic>
      <p:sp>
        <p:nvSpPr>
          <p:cNvPr id="5" name="Google Shape;171;p21"/>
          <p:cNvSpPr/>
          <p:nvPr/>
        </p:nvSpPr>
        <p:spPr>
          <a:xfrm>
            <a:off x="0" y="127000"/>
            <a:ext cx="3047365" cy="54737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课 </a:t>
            </a:r>
            <a:r>
              <a:rPr lang="zh-CN" altLang="en-US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文一 </a:t>
            </a: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Text </a:t>
            </a:r>
            <a:r>
              <a:rPr lang="en-US" alt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O</a:t>
            </a:r>
            <a:r>
              <a:rPr lang="en-US" alt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ne</a:t>
            </a:r>
            <a:endParaRPr lang="en-US" altLang="en-GB" sz="2800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pic>
        <p:nvPicPr>
          <p:cNvPr id="6" name="4-5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718800" y="575310"/>
            <a:ext cx="681355" cy="5416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课文一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4000" dirty="0" smtClean="0"/>
              <a:t>林娜是法国留学生，她学习汉语。</a:t>
            </a:r>
            <a:endParaRPr lang="zh-CN" altLang="en-US" sz="4000" dirty="0" smtClean="0"/>
          </a:p>
          <a:p>
            <a:r>
              <a:rPr lang="zh-CN" altLang="en-US" sz="4000" dirty="0" smtClean="0"/>
              <a:t>阿明是泰国留学生，他也学习汉语。</a:t>
            </a:r>
            <a:endParaRPr lang="zh-CN" altLang="en-US" sz="4000" dirty="0" smtClean="0"/>
          </a:p>
          <a:p>
            <a:r>
              <a:rPr lang="zh-CN" altLang="en-US" sz="4000" dirty="0" smtClean="0"/>
              <a:t>他们一起上课，一起说汉语。</a:t>
            </a:r>
            <a:endParaRPr lang="en-US" altLang="zh-CN" sz="4000" dirty="0" smtClean="0"/>
          </a:p>
          <a:p>
            <a:endParaRPr lang="en-US" altLang="zh-CN" sz="2800" dirty="0" smtClean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图片 3" descr="一起.jpg"/>
          <p:cNvPicPr>
            <a:picLocks noChangeAspect="1"/>
          </p:cNvPicPr>
          <p:nvPr/>
        </p:nvPicPr>
        <p:blipFill>
          <a:blip r:embed="rId1"/>
          <a:srcRect l="2060" t="-4484" b="6168"/>
          <a:stretch>
            <a:fillRect/>
          </a:stretch>
        </p:blipFill>
        <p:spPr>
          <a:xfrm>
            <a:off x="8472805" y="4133850"/>
            <a:ext cx="3109595" cy="2297430"/>
          </a:xfrm>
          <a:prstGeom prst="roundRect">
            <a:avLst/>
          </a:prstGeom>
        </p:spPr>
      </p:pic>
      <p:sp>
        <p:nvSpPr>
          <p:cNvPr id="5" name="Google Shape;171;p21"/>
          <p:cNvSpPr/>
          <p:nvPr/>
        </p:nvSpPr>
        <p:spPr>
          <a:xfrm>
            <a:off x="0" y="127000"/>
            <a:ext cx="3047365" cy="54737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课 </a:t>
            </a:r>
            <a:r>
              <a:rPr lang="zh-CN" altLang="en-US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文一 </a:t>
            </a: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Text </a:t>
            </a:r>
            <a:r>
              <a:rPr lang="en-US" alt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O</a:t>
            </a:r>
            <a:r>
              <a:rPr lang="en-US" alt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ne</a:t>
            </a:r>
            <a:endParaRPr lang="en-US" altLang="en-GB" sz="2800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pic>
        <p:nvPicPr>
          <p:cNvPr id="6" name="4-5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718800" y="575310"/>
            <a:ext cx="681355" cy="5416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8730,&quot;width&quot;:13500}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0</TotalTime>
  <Words>1828</Words>
  <Application>WPS 演示</Application>
  <PresentationFormat>全屏显示(4:3)</PresentationFormat>
  <Paragraphs>106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宋体</vt:lpstr>
      <vt:lpstr>Wingdings</vt:lpstr>
      <vt:lpstr>Wingdings 2</vt:lpstr>
      <vt:lpstr>Arial</vt:lpstr>
      <vt:lpstr>Century</vt:lpstr>
      <vt:lpstr>Cambria</vt:lpstr>
      <vt:lpstr>Maiandra GD</vt:lpstr>
      <vt:lpstr>隶书</vt:lpstr>
      <vt:lpstr>微软雅黑</vt:lpstr>
      <vt:lpstr>Arial Unicode MS</vt:lpstr>
      <vt:lpstr>华文楷体</vt:lpstr>
      <vt:lpstr>Calibri</vt:lpstr>
      <vt:lpstr>龙腾四海</vt:lpstr>
      <vt:lpstr>4  你学习法语吗（nǐ xué xí fǎ yǔ ma）？</vt:lpstr>
      <vt:lpstr>phonetic  Exercise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课文一</vt:lpstr>
      <vt:lpstr>问题wèn tí </vt:lpstr>
      <vt:lpstr>课文一</vt:lpstr>
      <vt:lpstr>课文一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第四课 你学习法语吗？</dc:title>
  <dc:creator>lenovo</dc:creator>
  <cp:lastModifiedBy>沙茜</cp:lastModifiedBy>
  <cp:revision>25</cp:revision>
  <dcterms:created xsi:type="dcterms:W3CDTF">2019-02-27T06:15:00Z</dcterms:created>
  <dcterms:modified xsi:type="dcterms:W3CDTF">2021-10-26T07:41:25Z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2052-11.1.0.10938</vt:lpwstr>
  </property>
  <property fmtid="{D5CDD505-2E9C-101B-9397-08002B2CF9AE}" pid="3" name="ICV">
    <vt:lpwstr>33F4B24B77DB4A828A57B84C5AEC0168</vt:lpwstr>
  </property>
</Properties>
</file>