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7" r:id="rId3"/>
    <p:sldId id="258" r:id="rId4"/>
    <p:sldId id="267" r:id="rId5"/>
    <p:sldId id="278" r:id="rId6"/>
    <p:sldId id="268" r:id="rId7"/>
    <p:sldId id="269" r:id="rId8"/>
    <p:sldId id="274" r:id="rId9"/>
    <p:sldId id="275" r:id="rId10"/>
    <p:sldId id="272" r:id="rId11"/>
    <p:sldId id="271" r:id="rId12"/>
    <p:sldId id="279" r:id="rId13"/>
    <p:sldId id="280" r:id="rId14"/>
    <p:sldId id="281" r:id="rId15"/>
    <p:sldId id="282" r:id="rId16"/>
    <p:sldId id="284" r:id="rId17"/>
    <p:sldId id="285" r:id="rId18"/>
    <p:sldId id="283" r:id="rId19"/>
    <p:sldId id="286" r:id="rId20"/>
    <p:sldId id="287" r:id="rId21"/>
    <p:sldId id="288" r:id="rId22"/>
    <p:sldId id="289" r:id="rId23"/>
    <p:sldId id="29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24" y="-76"/>
      </p:cViewPr>
      <p:guideLst>
        <p:guide orient="horz" pos="222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173157"/>
            <a:ext cx="103632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6955" y="2643182"/>
            <a:ext cx="8893821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924181"/>
            <a:ext cx="103632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28747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843" y="1071546"/>
            <a:ext cx="6815667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72111" y="1071546"/>
            <a:ext cx="4011084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7" y="285728"/>
            <a:ext cx="10974657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32" y="642918"/>
            <a:ext cx="1047757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90563" y="541340"/>
            <a:ext cx="8553459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29773" y="1000108"/>
            <a:ext cx="1219157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25024" y="274639"/>
            <a:ext cx="2057376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820173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2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8890412" y="4915143"/>
            <a:ext cx="3301588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6096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12192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6.png"/><Relationship Id="rId3" Type="http://schemas.openxmlformats.org/officeDocument/2006/relationships/tags" Target="../tags/tag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GI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 </a:t>
            </a:r>
            <a:r>
              <a:rPr lang="zh-CN" altLang="en-US" dirty="0" smtClean="0"/>
              <a:t>你叫什么名字？</a:t>
            </a:r>
            <a:endParaRPr lang="zh-CN" altLang="en-US" dirty="0"/>
          </a:p>
        </p:txBody>
      </p:sp>
      <p:pic>
        <p:nvPicPr>
          <p:cNvPr id="4" name="内容占位符 3" descr="timg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85135" y="1730375"/>
            <a:ext cx="6974205" cy="4110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1560" y="942340"/>
            <a:ext cx="9949815" cy="2435860"/>
          </a:xfrm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pPr fontAlgn="auto">
              <a:lnSpc>
                <a:spcPts val="3780"/>
              </a:lnSpc>
            </a:pP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New Words</a:t>
            </a:r>
            <a:r>
              <a:rPr lang="en-US" altLang="zh-CN" dirty="0">
                <a:sym typeface="+mn-ea"/>
              </a:rPr>
              <a:t>:</a:t>
            </a:r>
            <a:endParaRPr lang="en-US" altLang="zh-CN" dirty="0"/>
          </a:p>
          <a:p>
            <a:pPr fontAlgn="auto">
              <a:lnSpc>
                <a:spcPts val="3780"/>
              </a:lnSpc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六            liù            </a:t>
            </a:r>
            <a:r>
              <a:rPr lang="en-US" altLang="zh-CN" dirty="0">
                <a:sym typeface="+mn-ea"/>
              </a:rPr>
              <a:t>six</a:t>
            </a:r>
            <a:endParaRPr lang="zh-CN" altLang="en-US" dirty="0">
              <a:sym typeface="+mn-ea"/>
            </a:endParaRPr>
          </a:p>
          <a:p>
            <a:pPr fontAlgn="auto">
              <a:lnSpc>
                <a:spcPts val="3780"/>
              </a:lnSpc>
            </a:pPr>
            <a:r>
              <a:rPr lang="zh-CN" altLang="en-US" dirty="0">
                <a:sym typeface="+mn-ea"/>
              </a:rPr>
              <a:t>2. 七           qī              </a:t>
            </a:r>
            <a:r>
              <a:rPr lang="en-US" altLang="zh-CN" dirty="0">
                <a:sym typeface="+mn-ea"/>
              </a:rPr>
              <a:t>seven</a:t>
            </a:r>
            <a:endParaRPr lang="zh-CN" altLang="en-US" dirty="0">
              <a:sym typeface="+mn-ea"/>
            </a:endParaRPr>
          </a:p>
          <a:p>
            <a:pPr fontAlgn="auto">
              <a:lnSpc>
                <a:spcPts val="3780"/>
              </a:lnSpc>
            </a:pPr>
            <a:r>
              <a:rPr lang="zh-CN" altLang="en-US" dirty="0">
                <a:sym typeface="+mn-ea"/>
              </a:rPr>
              <a:t>3. 九           jiǔ             </a:t>
            </a:r>
            <a:r>
              <a:rPr lang="en-US" altLang="zh-CN" dirty="0">
                <a:sym typeface="+mn-ea"/>
              </a:rPr>
              <a:t>nine</a:t>
            </a:r>
            <a:endParaRPr lang="en-US" altLang="zh-CN" dirty="0">
              <a:sym typeface="+mn-ea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0" y="0"/>
            <a:ext cx="3543300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文三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Three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2" name="图片 1" descr="图片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0293" t="68628" r="57643" b="19508"/>
          <a:stretch>
            <a:fillRect/>
          </a:stretch>
        </p:blipFill>
        <p:spPr>
          <a:xfrm>
            <a:off x="3047365" y="3602355"/>
            <a:ext cx="5708650" cy="28968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8620" t="56758" r="79051" b="27690"/>
          <a:stretch>
            <a:fillRect/>
          </a:stretch>
        </p:blipFill>
        <p:spPr>
          <a:xfrm>
            <a:off x="752475" y="459740"/>
            <a:ext cx="1504950" cy="2548890"/>
          </a:xfrm>
          <a:prstGeom prst="rect">
            <a:avLst/>
          </a:prstGeom>
        </p:spPr>
      </p:pic>
      <p:pic>
        <p:nvPicPr>
          <p:cNvPr id="12" name="图片 11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1836" t="57239" r="67108" b="27530"/>
          <a:stretch>
            <a:fillRect/>
          </a:stretch>
        </p:blipFill>
        <p:spPr>
          <a:xfrm>
            <a:off x="2407285" y="459740"/>
            <a:ext cx="1368425" cy="2531110"/>
          </a:xfrm>
          <a:prstGeom prst="rect">
            <a:avLst/>
          </a:prstGeom>
        </p:spPr>
      </p:pic>
      <p:pic>
        <p:nvPicPr>
          <p:cNvPr id="14" name="图片 13" descr="图片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0971" t="15025" r="81606" b="73037"/>
          <a:stretch>
            <a:fillRect/>
          </a:stretch>
        </p:blipFill>
        <p:spPr>
          <a:xfrm>
            <a:off x="5757545" y="459740"/>
            <a:ext cx="1046480" cy="2309495"/>
          </a:xfrm>
          <a:prstGeom prst="rect">
            <a:avLst/>
          </a:prstGeom>
        </p:spPr>
      </p:pic>
      <p:pic>
        <p:nvPicPr>
          <p:cNvPr id="11" name="图片 10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4477" t="56651" r="56216" b="27530"/>
          <a:stretch>
            <a:fillRect/>
          </a:stretch>
        </p:blipFill>
        <p:spPr>
          <a:xfrm>
            <a:off x="4001770" y="361950"/>
            <a:ext cx="1151890" cy="2628900"/>
          </a:xfrm>
          <a:prstGeom prst="rect">
            <a:avLst/>
          </a:prstGeom>
        </p:spPr>
      </p:pic>
      <p:pic>
        <p:nvPicPr>
          <p:cNvPr id="15" name="图片 14" descr="图片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3088" t="14426" r="69020" b="73037"/>
          <a:stretch>
            <a:fillRect/>
          </a:stretch>
        </p:blipFill>
        <p:spPr>
          <a:xfrm>
            <a:off x="7693660" y="459740"/>
            <a:ext cx="1095375" cy="2386965"/>
          </a:xfrm>
          <a:prstGeom prst="rect">
            <a:avLst/>
          </a:prstGeom>
        </p:spPr>
      </p:pic>
      <p:pic>
        <p:nvPicPr>
          <p:cNvPr id="10" name="图片 9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4461" t="56987" r="42744" b="27530"/>
          <a:stretch>
            <a:fillRect/>
          </a:stretch>
        </p:blipFill>
        <p:spPr>
          <a:xfrm>
            <a:off x="9552940" y="523240"/>
            <a:ext cx="1382395" cy="2245995"/>
          </a:xfrm>
          <a:prstGeom prst="rect">
            <a:avLst/>
          </a:prstGeom>
        </p:spPr>
      </p:pic>
      <p:pic>
        <p:nvPicPr>
          <p:cNvPr id="17" name="图片 16" descr="图片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0293" t="68729" r="80016" b="19508"/>
          <a:stretch>
            <a:fillRect/>
          </a:stretch>
        </p:blipFill>
        <p:spPr>
          <a:xfrm>
            <a:off x="960755" y="3195320"/>
            <a:ext cx="1446530" cy="2408555"/>
          </a:xfrm>
          <a:prstGeom prst="rect">
            <a:avLst/>
          </a:prstGeom>
          <a:ln>
            <a:noFill/>
          </a:ln>
        </p:spPr>
      </p:pic>
      <p:pic>
        <p:nvPicPr>
          <p:cNvPr id="16" name="图片 15" descr="图片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2972" t="68576" r="68129" b="19508"/>
          <a:stretch>
            <a:fillRect/>
          </a:stretch>
        </p:blipFill>
        <p:spPr>
          <a:xfrm>
            <a:off x="3328670" y="3090545"/>
            <a:ext cx="1425575" cy="2618105"/>
          </a:xfrm>
          <a:prstGeom prst="rect">
            <a:avLst/>
          </a:prstGeom>
          <a:ln>
            <a:noFill/>
          </a:ln>
        </p:spPr>
      </p:pic>
      <p:pic>
        <p:nvPicPr>
          <p:cNvPr id="9" name="图片 8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9005" t="56693" r="29359" b="27530"/>
          <a:stretch>
            <a:fillRect/>
          </a:stretch>
        </p:blipFill>
        <p:spPr>
          <a:xfrm>
            <a:off x="5628005" y="3086735"/>
            <a:ext cx="1440180" cy="2621915"/>
          </a:xfrm>
          <a:prstGeom prst="rect">
            <a:avLst/>
          </a:prstGeom>
        </p:spPr>
      </p:pic>
      <p:pic>
        <p:nvPicPr>
          <p:cNvPr id="4" name="图片 3" descr="图片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6026" t="68735" r="57643" b="19508"/>
          <a:stretch>
            <a:fillRect/>
          </a:stretch>
        </p:blipFill>
        <p:spPr>
          <a:xfrm>
            <a:off x="7920355" y="3086735"/>
            <a:ext cx="953135" cy="2428875"/>
          </a:xfrm>
          <a:prstGeom prst="rect">
            <a:avLst/>
          </a:prstGeom>
          <a:ln>
            <a:noFill/>
          </a:ln>
        </p:spPr>
      </p:pic>
      <p:pic>
        <p:nvPicPr>
          <p:cNvPr id="6" name="图片 5" descr="图片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3824" t="14116" r="53026" b="73037"/>
          <a:stretch>
            <a:fillRect/>
          </a:stretch>
        </p:blipFill>
        <p:spPr>
          <a:xfrm>
            <a:off x="9728200" y="3008630"/>
            <a:ext cx="2103755" cy="281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7004" t="27005" r="8420" b="48959"/>
          <a:stretch>
            <a:fillRect/>
          </a:stretch>
        </p:blipFill>
        <p:spPr>
          <a:xfrm>
            <a:off x="930910" y="1207770"/>
            <a:ext cx="10330180" cy="4027170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  <p:cxnSp>
        <p:nvCxnSpPr>
          <p:cNvPr id="5" name="直接连接符 4"/>
          <p:cNvCxnSpPr/>
          <p:nvPr/>
        </p:nvCxnSpPr>
        <p:spPr>
          <a:xfrm>
            <a:off x="5842000" y="2035810"/>
            <a:ext cx="38100" cy="3193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295" y="4834890"/>
            <a:ext cx="4044315" cy="883920"/>
          </a:xfrm>
        </p:spPr>
        <p:txBody>
          <a:bodyPr/>
          <a:lstStyle/>
          <a:p>
            <a:r>
              <a:rPr lang="en-US" sz="3600" dirty="0" smtClean="0"/>
              <a:t>成(</a:t>
            </a:r>
            <a:r>
              <a:rPr lang="en-US" sz="3600" dirty="0" err="1" smtClean="0"/>
              <a:t>chéng</a:t>
            </a:r>
            <a:r>
              <a:rPr lang="en-US" sz="3600" dirty="0" smtClean="0"/>
              <a:t>)龙(</a:t>
            </a:r>
            <a:r>
              <a:rPr lang="en-US" sz="3600" dirty="0" err="1" smtClean="0"/>
              <a:t>lóng</a:t>
            </a:r>
            <a:r>
              <a:rPr lang="en-US" sz="3600" dirty="0" smtClean="0"/>
              <a:t>)</a:t>
            </a:r>
            <a:endParaRPr lang="en-US" altLang="en-US" sz="3600" dirty="0" smtClean="0"/>
          </a:p>
        </p:txBody>
      </p:sp>
      <p:pic>
        <p:nvPicPr>
          <p:cNvPr id="4" name="内容占位符 3" descr="成龙.jp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6277" y="897561"/>
            <a:ext cx="5078919" cy="3424865"/>
          </a:xfrm>
        </p:spPr>
      </p:pic>
      <p:pic>
        <p:nvPicPr>
          <p:cNvPr id="3" name="图片 2" descr="timgWWCGFE4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205" y="965835"/>
            <a:ext cx="3108960" cy="44418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86930" y="5718810"/>
            <a:ext cx="39668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李小龙lǐ xiǎo lóng</a:t>
            </a:r>
            <a:endParaRPr lang="zh-CN" altLang="en-US" sz="3200"/>
          </a:p>
        </p:txBody>
      </p:sp>
      <p:sp>
        <p:nvSpPr>
          <p:cNvPr id="6" name="文本框 5"/>
          <p:cNvSpPr txBox="1"/>
          <p:nvPr/>
        </p:nvSpPr>
        <p:spPr>
          <a:xfrm>
            <a:off x="4656455" y="213995"/>
            <a:ext cx="6190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他姓</a:t>
            </a:r>
            <a:r>
              <a:rPr lang="zh-CN" altLang="en-US" sz="3600" u="sng"/>
              <a:t>                </a:t>
            </a:r>
            <a:r>
              <a:rPr lang="zh-CN" altLang="en-US" sz="3600"/>
              <a:t> </a:t>
            </a:r>
            <a:r>
              <a:rPr lang="en-US" altLang="zh-CN" sz="3600"/>
              <a:t>,</a:t>
            </a:r>
            <a:r>
              <a:rPr lang="zh-CN" altLang="en-US" sz="3600"/>
              <a:t>叫</a:t>
            </a:r>
            <a:r>
              <a:rPr lang="zh-CN" altLang="en-US" sz="3600" u="sng"/>
              <a:t>              </a:t>
            </a:r>
            <a:r>
              <a:rPr lang="zh-CN" altLang="en-US" sz="3600"/>
              <a:t>。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姚(</a:t>
            </a:r>
            <a:r>
              <a:rPr lang="en-US" dirty="0" err="1" smtClean="0"/>
              <a:t>yáo</a:t>
            </a:r>
            <a:r>
              <a:rPr lang="en-US" dirty="0" smtClean="0"/>
              <a:t>)明(</a:t>
            </a:r>
            <a:r>
              <a:rPr lang="en-US" dirty="0" err="1" smtClean="0"/>
              <a:t>míng</a:t>
            </a:r>
            <a:r>
              <a:rPr lang="en-US" dirty="0" smtClean="0"/>
              <a:t>)</a:t>
            </a:r>
            <a:endParaRPr lang="zh-CN" altLang="en-US" dirty="0"/>
          </a:p>
        </p:txBody>
      </p:sp>
      <p:pic>
        <p:nvPicPr>
          <p:cNvPr id="4" name="内容占位符 3" descr="姚明.jp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57852" y="1675765"/>
            <a:ext cx="2987136" cy="4525963"/>
          </a:xfrm>
        </p:spPr>
      </p:pic>
      <p:sp>
        <p:nvSpPr>
          <p:cNvPr id="6" name="文本框 5"/>
          <p:cNvSpPr txBox="1"/>
          <p:nvPr/>
        </p:nvSpPr>
        <p:spPr>
          <a:xfrm>
            <a:off x="257810" y="3106420"/>
            <a:ext cx="6190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他姓</a:t>
            </a:r>
            <a:r>
              <a:rPr lang="zh-CN" altLang="en-US" sz="3600" u="sng"/>
              <a:t>                </a:t>
            </a:r>
            <a:r>
              <a:rPr lang="zh-CN" altLang="en-US" sz="3600"/>
              <a:t> </a:t>
            </a:r>
            <a:r>
              <a:rPr lang="en-US" altLang="zh-CN" sz="3600"/>
              <a:t>,</a:t>
            </a:r>
            <a:r>
              <a:rPr lang="zh-CN" altLang="en-US" sz="3600"/>
              <a:t>叫</a:t>
            </a:r>
            <a:r>
              <a:rPr lang="zh-CN" altLang="en-US" sz="3600" u="sng"/>
              <a:t>              </a:t>
            </a:r>
            <a:r>
              <a:rPr lang="zh-CN" altLang="en-US" sz="3600"/>
              <a:t>。</a:t>
            </a:r>
            <a:endParaRPr lang="zh-CN" altLang="en-US" sz="3600"/>
          </a:p>
        </p:txBody>
      </p:sp>
      <p:sp>
        <p:nvSpPr>
          <p:cNvPr id="3" name="文本框 2"/>
          <p:cNvSpPr txBox="1"/>
          <p:nvPr/>
        </p:nvSpPr>
        <p:spPr>
          <a:xfrm>
            <a:off x="1476375" y="3070225"/>
            <a:ext cx="14509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姚（yáo</a:t>
            </a:r>
            <a:r>
              <a:rPr lang="zh-CN" altLang="en-US" sz="2800"/>
              <a:t>）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3460115" y="3141345"/>
            <a:ext cx="3074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姚明（yáo mínɡ ）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李(</a:t>
            </a:r>
            <a:r>
              <a:rPr lang="en-US" dirty="0" err="1" smtClean="0"/>
              <a:t>lǐ</a:t>
            </a:r>
            <a:r>
              <a:rPr lang="en-US" dirty="0" smtClean="0"/>
              <a:t>)宁(</a:t>
            </a:r>
            <a:r>
              <a:rPr lang="en-US" dirty="0" err="1" smtClean="0"/>
              <a:t>níng</a:t>
            </a:r>
            <a:r>
              <a:rPr lang="en-US" dirty="0" smtClean="0"/>
              <a:t>)</a:t>
            </a:r>
            <a:endParaRPr lang="zh-CN" altLang="en-US" dirty="0"/>
          </a:p>
        </p:txBody>
      </p:sp>
      <p:pic>
        <p:nvPicPr>
          <p:cNvPr id="5" name="图片 4" descr="李宁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760" y="2571744"/>
            <a:ext cx="2999230" cy="4143380"/>
          </a:xfrm>
          <a:prstGeom prst="rect">
            <a:avLst/>
          </a:prstGeom>
        </p:spPr>
      </p:pic>
      <p:pic>
        <p:nvPicPr>
          <p:cNvPr id="7" name="内容占位符 6" descr="李宁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596" y="1714488"/>
            <a:ext cx="5357850" cy="3571900"/>
          </a:xfrm>
        </p:spPr>
      </p:pic>
      <p:sp>
        <p:nvSpPr>
          <p:cNvPr id="6" name="文本框 5"/>
          <p:cNvSpPr txBox="1"/>
          <p:nvPr/>
        </p:nvSpPr>
        <p:spPr>
          <a:xfrm>
            <a:off x="609600" y="5668645"/>
            <a:ext cx="6190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他姓</a:t>
            </a:r>
            <a:r>
              <a:rPr lang="zh-CN" altLang="en-US" sz="3600" u="sng"/>
              <a:t>                </a:t>
            </a:r>
            <a:r>
              <a:rPr lang="zh-CN" altLang="en-US" sz="3600"/>
              <a:t> </a:t>
            </a:r>
            <a:r>
              <a:rPr lang="en-US" altLang="zh-CN" sz="3600"/>
              <a:t>,</a:t>
            </a:r>
            <a:r>
              <a:rPr lang="zh-CN" altLang="en-US" sz="3600"/>
              <a:t>叫</a:t>
            </a:r>
            <a:r>
              <a:rPr lang="zh-CN" altLang="en-US" sz="3600" u="sng"/>
              <a:t>              </a:t>
            </a:r>
            <a:r>
              <a:rPr lang="zh-CN" altLang="en-US" sz="3600"/>
              <a:t>。</a:t>
            </a:r>
            <a:endParaRPr lang="zh-CN" altLang="en-US" sz="3600"/>
          </a:p>
        </p:txBody>
      </p:sp>
      <p:sp>
        <p:nvSpPr>
          <p:cNvPr id="3" name="文本框 2"/>
          <p:cNvSpPr txBox="1"/>
          <p:nvPr/>
        </p:nvSpPr>
        <p:spPr>
          <a:xfrm>
            <a:off x="8400415" y="1917065"/>
            <a:ext cx="25488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/>
              <a:t>gymnast</a:t>
            </a:r>
            <a:endParaRPr lang="zh-CN" altLang="en-US"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lininglogo.jpg"/>
          <p:cNvPicPr>
            <a:picLocks noGrp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66910" y="-285776"/>
            <a:ext cx="3632200" cy="2717800"/>
          </a:xfrm>
        </p:spPr>
      </p:pic>
      <p:pic>
        <p:nvPicPr>
          <p:cNvPr id="5" name="图片 4" descr="李宁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282" y="2786058"/>
            <a:ext cx="3937000" cy="3937000"/>
          </a:xfrm>
          <a:prstGeom prst="rect">
            <a:avLst/>
          </a:prstGeom>
        </p:spPr>
      </p:pic>
      <p:pic>
        <p:nvPicPr>
          <p:cNvPr id="6" name="图片 5" descr="李宁衣服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438" y="2714620"/>
            <a:ext cx="3786190" cy="37861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张(</a:t>
            </a:r>
            <a:r>
              <a:rPr lang="en-US" dirty="0" err="1" smtClean="0"/>
              <a:t>zhāng</a:t>
            </a:r>
            <a:r>
              <a:rPr lang="en-US" dirty="0" smtClean="0"/>
              <a:t>)艺</a:t>
            </a:r>
            <a:r>
              <a:rPr lang="en-US" dirty="0" smtClean="0">
                <a:sym typeface="+mn-ea"/>
              </a:rPr>
              <a:t>谋</a:t>
            </a:r>
            <a:r>
              <a:rPr lang="en-US" dirty="0" smtClean="0"/>
              <a:t>(</a:t>
            </a:r>
            <a:r>
              <a:rPr lang="en-US" dirty="0" err="1" smtClean="0"/>
              <a:t>yìmóu</a:t>
            </a:r>
            <a:r>
              <a:rPr lang="en-US" dirty="0" smtClean="0"/>
              <a:t>)</a:t>
            </a:r>
            <a:endParaRPr lang="zh-CN" altLang="en-US" dirty="0"/>
          </a:p>
        </p:txBody>
      </p:sp>
      <p:pic>
        <p:nvPicPr>
          <p:cNvPr id="5" name="图片 4" descr="tim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55" y="1882775"/>
            <a:ext cx="3637280" cy="3782695"/>
          </a:xfrm>
          <a:prstGeom prst="rect">
            <a:avLst/>
          </a:prstGeom>
        </p:spPr>
      </p:pic>
      <p:pic>
        <p:nvPicPr>
          <p:cNvPr id="6" name="图片 5" descr="timg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580" y="1417955"/>
            <a:ext cx="2454910" cy="403479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/>
        </p:nvSpPr>
        <p:spPr>
          <a:xfrm>
            <a:off x="8822055" y="4123055"/>
            <a:ext cx="2987675" cy="1143000"/>
          </a:xfrm>
          <a:prstGeom prst="rect">
            <a:avLst/>
          </a:prstGeom>
        </p:spPr>
        <p:txBody>
          <a:bodyPr vert="horz" rtlCol="0" anchor="ctr">
            <a:normAutofit fontScale="8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巩(</a:t>
            </a:r>
            <a:r>
              <a:rPr lang="en-US" dirty="0" err="1" smtClean="0"/>
              <a:t>gǒng</a:t>
            </a:r>
            <a:r>
              <a:rPr lang="en-US" dirty="0" smtClean="0"/>
              <a:t>)俐(</a:t>
            </a:r>
            <a:r>
              <a:rPr lang="en-US" dirty="0" err="1" smtClean="0"/>
              <a:t>lì</a:t>
            </a:r>
            <a:r>
              <a:rPr lang="en-US" dirty="0" smtClean="0"/>
              <a:t>)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08355" y="5873115"/>
            <a:ext cx="6190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他</a:t>
            </a:r>
            <a:r>
              <a:rPr lang="en-US" altLang="zh-CN" sz="3600"/>
              <a:t>/</a:t>
            </a:r>
            <a:r>
              <a:rPr lang="zh-CN" altLang="en-US" sz="3600"/>
              <a:t>她</a:t>
            </a:r>
            <a:r>
              <a:rPr lang="zh-CN" altLang="en-US" sz="3600"/>
              <a:t>姓</a:t>
            </a:r>
            <a:r>
              <a:rPr lang="zh-CN" altLang="en-US" sz="3600" u="sng"/>
              <a:t>                </a:t>
            </a:r>
            <a:r>
              <a:rPr lang="zh-CN" altLang="en-US" sz="3600"/>
              <a:t> </a:t>
            </a:r>
            <a:r>
              <a:rPr lang="en-US" altLang="zh-CN" sz="3600"/>
              <a:t>,</a:t>
            </a:r>
            <a:r>
              <a:rPr lang="zh-CN" altLang="en-US" sz="3600"/>
              <a:t>叫</a:t>
            </a:r>
            <a:r>
              <a:rPr lang="zh-CN" altLang="en-US" sz="3600" u="sng"/>
              <a:t>              </a:t>
            </a:r>
            <a:r>
              <a:rPr lang="zh-CN" altLang="en-US" sz="3600"/>
              <a:t>。</a:t>
            </a:r>
            <a:endParaRPr lang="zh-CN" altLang="en-US"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邓(</a:t>
            </a:r>
            <a:r>
              <a:rPr lang="en-US" dirty="0" err="1" smtClean="0"/>
              <a:t>dèng</a:t>
            </a:r>
            <a:r>
              <a:rPr lang="en-US" dirty="0" smtClean="0"/>
              <a:t>)丽</a:t>
            </a:r>
            <a:r>
              <a:rPr lang="en-US" dirty="0" smtClean="0">
                <a:sym typeface="+mn-ea"/>
              </a:rPr>
              <a:t>君</a:t>
            </a:r>
            <a:r>
              <a:rPr lang="en-US" dirty="0" smtClean="0"/>
              <a:t>(</a:t>
            </a:r>
            <a:r>
              <a:rPr lang="en-US" dirty="0" err="1" smtClean="0"/>
              <a:t>lìjūn</a:t>
            </a:r>
            <a:r>
              <a:rPr lang="en-US" dirty="0" smtClean="0"/>
              <a:t>)</a:t>
            </a:r>
            <a:endParaRPr lang="zh-CN" altLang="en-US" dirty="0"/>
          </a:p>
        </p:txBody>
      </p:sp>
      <p:pic>
        <p:nvPicPr>
          <p:cNvPr id="4" name="内容占位符 3" descr="邓丽君.jp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1377" y="1844027"/>
            <a:ext cx="4357718" cy="4314141"/>
          </a:xfrm>
        </p:spPr>
      </p:pic>
      <p:sp>
        <p:nvSpPr>
          <p:cNvPr id="6" name="文本框 5"/>
          <p:cNvSpPr txBox="1"/>
          <p:nvPr/>
        </p:nvSpPr>
        <p:spPr>
          <a:xfrm>
            <a:off x="5540375" y="5905500"/>
            <a:ext cx="6190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她</a:t>
            </a:r>
            <a:r>
              <a:rPr lang="zh-CN" altLang="en-US" sz="3600"/>
              <a:t>姓</a:t>
            </a:r>
            <a:r>
              <a:rPr lang="zh-CN" altLang="en-US" sz="3600" u="sng"/>
              <a:t>                </a:t>
            </a:r>
            <a:r>
              <a:rPr lang="zh-CN" altLang="en-US" sz="3600"/>
              <a:t> </a:t>
            </a:r>
            <a:r>
              <a:rPr lang="en-US" altLang="zh-CN" sz="3600"/>
              <a:t>,</a:t>
            </a:r>
            <a:r>
              <a:rPr lang="zh-CN" altLang="en-US" sz="3600"/>
              <a:t>叫</a:t>
            </a:r>
            <a:r>
              <a:rPr lang="zh-CN" altLang="en-US" sz="3600" u="sng"/>
              <a:t>              </a:t>
            </a:r>
            <a:r>
              <a:rPr lang="zh-CN" altLang="en-US" sz="3600"/>
              <a:t>。</a:t>
            </a:r>
            <a:endParaRPr lang="zh-CN" altLang="en-US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8432" t="53134" r="11290" b="28055"/>
          <a:stretch>
            <a:fillRect/>
          </a:stretch>
        </p:blipFill>
        <p:spPr>
          <a:xfrm>
            <a:off x="458470" y="1198245"/>
            <a:ext cx="11274425" cy="3623945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7004" t="70903" r="44019" b="8307"/>
          <a:stretch>
            <a:fillRect/>
          </a:stretch>
        </p:blipFill>
        <p:spPr>
          <a:xfrm>
            <a:off x="1403350" y="827405"/>
            <a:ext cx="7085330" cy="4125595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图片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9861" t="6101" r="44260" b="70903"/>
          <a:stretch>
            <a:fillRect/>
          </a:stretch>
        </p:blipFill>
        <p:spPr>
          <a:xfrm>
            <a:off x="1990090" y="605790"/>
            <a:ext cx="8211185" cy="5645785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Google Shape;257;p33"/>
          <p:cNvSpPr/>
          <p:nvPr/>
        </p:nvSpPr>
        <p:spPr>
          <a:xfrm>
            <a:off x="0" y="507365"/>
            <a:ext cx="3865245" cy="78930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65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Basic strokes</a:t>
            </a:r>
            <a:endParaRPr lang="en-US" sz="4265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3" name="图片 2" descr="图片3"/>
          <p:cNvPicPr>
            <a:picLocks noChangeAspect="1"/>
          </p:cNvPicPr>
          <p:nvPr/>
        </p:nvPicPr>
        <p:blipFill>
          <a:blip r:embed="rId1"/>
          <a:srcRect l="10448" t="24804" r="9377" b="58359"/>
          <a:stretch>
            <a:fillRect/>
          </a:stretch>
        </p:blipFill>
        <p:spPr>
          <a:xfrm>
            <a:off x="479425" y="1988820"/>
            <a:ext cx="10585450" cy="30492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7"/>
          <p:cNvSpPr>
            <a:spLocks noChangeArrowheads="1" noChangeShapeType="1" noTextEdit="1"/>
          </p:cNvSpPr>
          <p:nvPr/>
        </p:nvSpPr>
        <p:spPr bwMode="auto">
          <a:xfrm>
            <a:off x="1981200" y="274639"/>
            <a:ext cx="8229600" cy="1143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endParaRPr lang="zh-CN" altLang="en-US" sz="3600" kern="10">
              <a:ln w="12700">
                <a:solidFill>
                  <a:srgbClr val="B2B2B2"/>
                </a:solidFill>
                <a:round/>
              </a:ln>
              <a:gradFill rotWithShape="1">
                <a:gsLst>
                  <a:gs pos="0">
                    <a:srgbClr val="520402"/>
                  </a:gs>
                  <a:gs pos="100000">
                    <a:srgbClr val="FFCC00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+mj-ea"/>
              <a:ea typeface="+mj-ea"/>
              <a:cs typeface="+mj-ea"/>
            </a:endParaRPr>
          </a:p>
        </p:txBody>
      </p:sp>
      <p:sp>
        <p:nvSpPr>
          <p:cNvPr id="2" name="Google Shape;257;p33"/>
          <p:cNvSpPr/>
          <p:nvPr/>
        </p:nvSpPr>
        <p:spPr>
          <a:xfrm>
            <a:off x="0" y="507365"/>
            <a:ext cx="3865245" cy="78930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65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stroke  order</a:t>
            </a:r>
            <a:endParaRPr lang="en-US" sz="4265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54075" y="2355215"/>
            <a:ext cx="39401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1. </a:t>
            </a:r>
            <a:r>
              <a:rPr lang="zh-CN" altLang="zh-CN" sz="2400"/>
              <a:t>先中间后两边</a:t>
            </a:r>
            <a:endParaRPr lang="zh-CN" altLang="zh-CN" sz="2400"/>
          </a:p>
          <a:p>
            <a:r>
              <a:rPr lang="en-US" altLang="zh-CN" sz="2400"/>
              <a:t>first middle,then two sides</a:t>
            </a:r>
            <a:endParaRPr lang="en-US" altLang="zh-CN" sz="2400"/>
          </a:p>
        </p:txBody>
      </p:sp>
      <p:sp>
        <p:nvSpPr>
          <p:cNvPr id="4" name="文本框 3"/>
          <p:cNvSpPr txBox="1"/>
          <p:nvPr/>
        </p:nvSpPr>
        <p:spPr>
          <a:xfrm>
            <a:off x="7837170" y="5259070"/>
            <a:ext cx="1830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 xiǎo</a:t>
            </a:r>
            <a:r>
              <a:rPr lang="en-US" altLang="zh-CN" sz="2400"/>
              <a:t>,    small</a:t>
            </a:r>
            <a:endParaRPr lang="en-US" altLang="zh-CN" sz="2400"/>
          </a:p>
        </p:txBody>
      </p:sp>
      <p:pic>
        <p:nvPicPr>
          <p:cNvPr id="6" name="图片 5" descr="363970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115" y="1482725"/>
            <a:ext cx="2857500" cy="285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7"/>
          <p:cNvSpPr>
            <a:spLocks noChangeArrowheads="1" noChangeShapeType="1" noTextEdit="1"/>
          </p:cNvSpPr>
          <p:nvPr/>
        </p:nvSpPr>
        <p:spPr bwMode="auto">
          <a:xfrm>
            <a:off x="1981200" y="274639"/>
            <a:ext cx="8229600" cy="1143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endParaRPr lang="zh-CN" altLang="en-US" sz="3600" kern="10">
              <a:ln w="12700">
                <a:solidFill>
                  <a:srgbClr val="B2B2B2"/>
                </a:solidFill>
                <a:round/>
              </a:ln>
              <a:gradFill rotWithShape="1">
                <a:gsLst>
                  <a:gs pos="0">
                    <a:srgbClr val="520402"/>
                  </a:gs>
                  <a:gs pos="100000">
                    <a:srgbClr val="FFCC00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+mj-ea"/>
              <a:ea typeface="+mj-ea"/>
              <a:cs typeface="+mj-ea"/>
            </a:endParaRPr>
          </a:p>
        </p:txBody>
      </p:sp>
      <p:sp>
        <p:nvSpPr>
          <p:cNvPr id="2" name="Google Shape;257;p33"/>
          <p:cNvSpPr/>
          <p:nvPr/>
        </p:nvSpPr>
        <p:spPr>
          <a:xfrm>
            <a:off x="0" y="507365"/>
            <a:ext cx="3865245" cy="78930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65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stroke  order</a:t>
            </a:r>
            <a:endParaRPr lang="en-US" sz="4265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54075" y="2355215"/>
            <a:ext cx="39401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2. </a:t>
            </a:r>
            <a:r>
              <a:rPr lang="zh-CN" altLang="en-US" sz="2400"/>
              <a:t>从外到内</a:t>
            </a:r>
            <a:endParaRPr lang="zh-CN" altLang="en-US" sz="2400"/>
          </a:p>
          <a:p>
            <a:r>
              <a:rPr lang="en-US" altLang="zh-CN" sz="2400"/>
              <a:t>from outside to inside</a:t>
            </a:r>
            <a:endParaRPr lang="en-US" altLang="zh-CN" sz="2400"/>
          </a:p>
        </p:txBody>
      </p:sp>
      <p:sp>
        <p:nvSpPr>
          <p:cNvPr id="4" name="文本框 3"/>
          <p:cNvSpPr txBox="1"/>
          <p:nvPr/>
        </p:nvSpPr>
        <p:spPr>
          <a:xfrm>
            <a:off x="7837170" y="5259070"/>
            <a:ext cx="28219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 yuè </a:t>
            </a:r>
            <a:r>
              <a:rPr lang="en-US" altLang="zh-CN" sz="2400"/>
              <a:t>,    moon,month</a:t>
            </a:r>
            <a:endParaRPr lang="en-US" altLang="zh-CN" sz="2400"/>
          </a:p>
        </p:txBody>
      </p:sp>
      <p:pic>
        <p:nvPicPr>
          <p:cNvPr id="5" name="图片 4" descr="143091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9310" y="1795145"/>
            <a:ext cx="2857500" cy="285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5" name="Google Shape;285;p37"/>
          <p:cNvSpPr/>
          <p:nvPr/>
        </p:nvSpPr>
        <p:spPr>
          <a:xfrm>
            <a:off x="13970" y="298450"/>
            <a:ext cx="4967605" cy="81597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GB" sz="3200" b="1">
                <a:latin typeface="Century" panose="02040604050505020304"/>
                <a:ea typeface="宋体" panose="02010600030101010101" pitchFamily="2" charset="-122"/>
                <a:cs typeface="Century" panose="02040604050505020304"/>
                <a:sym typeface="Century" panose="02040604050505020304"/>
              </a:rPr>
              <a:t>写汉</a:t>
            </a:r>
            <a:r>
              <a:rPr lang="en-GB" sz="3200" b="1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字</a:t>
            </a:r>
            <a:r>
              <a:rPr lang="en-US" altLang="en-GB" sz="3200" b="1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Chracter Writing</a:t>
            </a:r>
            <a:endParaRPr lang="en-US" altLang="en-GB" sz="3200" b="1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2" name="图片 1" descr="937891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0" y="2000250"/>
            <a:ext cx="2857500" cy="2857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71945" y="5280660"/>
            <a:ext cx="2304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mǎi</a:t>
            </a:r>
            <a:r>
              <a:rPr lang="en-US" altLang="zh-CN" sz="2800"/>
              <a:t>,buy</a:t>
            </a:r>
            <a:endParaRPr lang="en-US" altLang="zh-CN"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363970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700" y="1504315"/>
            <a:ext cx="2857500" cy="2857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65265" y="4956810"/>
            <a:ext cx="1830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 xiǎo</a:t>
            </a:r>
            <a:r>
              <a:rPr lang="en-US" altLang="zh-CN" sz="2400"/>
              <a:t>,    small</a:t>
            </a:r>
            <a:endParaRPr lang="en-US" altLang="zh-CN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927263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0" y="1795145"/>
            <a:ext cx="2857500" cy="2857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70320" y="4924425"/>
            <a:ext cx="3326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zǐ</a:t>
            </a:r>
            <a:r>
              <a:rPr lang="en-US" altLang="zh-CN" sz="2800"/>
              <a:t>,son</a:t>
            </a:r>
            <a:endParaRPr lang="en-US" altLang="zh-CN"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79930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0" y="200025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143091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0025" y="1396365"/>
            <a:ext cx="2857500" cy="2857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98010" y="4902835"/>
            <a:ext cx="28219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 yuè </a:t>
            </a:r>
            <a:r>
              <a:rPr lang="en-US" altLang="zh-CN" sz="2400"/>
              <a:t>,    moon,month</a:t>
            </a:r>
            <a:endParaRPr lang="en-US" altLang="zh-CN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图片4"/>
          <p:cNvPicPr>
            <a:picLocks noChangeAspect="1"/>
          </p:cNvPicPr>
          <p:nvPr/>
        </p:nvPicPr>
        <p:blipFill>
          <a:blip r:embed="rId1">
            <a:clrChange>
              <a:clrFrom>
                <a:srgbClr val="FDFDFD">
                  <a:alpha val="100000"/>
                </a:srgbClr>
              </a:clrFrom>
              <a:clrTo>
                <a:srgbClr val="FDFDFD">
                  <a:alpha val="100000"/>
                  <a:alpha val="0"/>
                </a:srgbClr>
              </a:clrTo>
            </a:clrChange>
          </a:blip>
          <a:srcRect l="11302" t="10286" r="15588" b="69853"/>
          <a:stretch>
            <a:fillRect/>
          </a:stretch>
        </p:blipFill>
        <p:spPr>
          <a:xfrm>
            <a:off x="1830070" y="1759585"/>
            <a:ext cx="8531860" cy="3179445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562,&quot;width&quot;:8990}"/>
</p:tagLst>
</file>

<file path=ppt/tags/tag2.xml><?xml version="1.0" encoding="utf-8"?>
<p:tagLst xmlns:p="http://schemas.openxmlformats.org/presentationml/2006/main">
  <p:tag name="KSO_WM_UNIT_PLACING_PICTURE_USER_VIEWPORT" val="{&quot;height&quot;:4562,&quot;width&quot;:8990}"/>
</p:tagLst>
</file>

<file path=ppt/tags/tag3.xml><?xml version="1.0" encoding="utf-8"?>
<p:tagLst xmlns:p="http://schemas.openxmlformats.org/presentationml/2006/main">
  <p:tag name="KSO_WM_UNIT_PLACING_PICTURE_USER_VIEWPORT" val="{&quot;height&quot;:4562,&quot;width&quot;:8990}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0</TotalTime>
  <Words>653</Words>
  <Application>WPS 演示</Application>
  <PresentationFormat>全屏显示(4:3)</PresentationFormat>
  <Paragraphs>65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宋体</vt:lpstr>
      <vt:lpstr>Wingdings</vt:lpstr>
      <vt:lpstr>Wingdings 2</vt:lpstr>
      <vt:lpstr>Arial</vt:lpstr>
      <vt:lpstr>Century</vt:lpstr>
      <vt:lpstr>Cambria</vt:lpstr>
      <vt:lpstr>Maiandra GD</vt:lpstr>
      <vt:lpstr>隶书</vt:lpstr>
      <vt:lpstr>微软雅黑</vt:lpstr>
      <vt:lpstr>Arial Unicode MS</vt:lpstr>
      <vt:lpstr>华文楷体</vt:lpstr>
      <vt:lpstr>Calibri</vt:lpstr>
      <vt:lpstr>龙腾四海</vt:lpstr>
      <vt:lpstr>3 你叫什么名字？</vt:lpstr>
      <vt:lpstr>PowerPoint 演示文稿</vt:lpstr>
      <vt:lpstr>PowerPoint 演示文稿</vt:lpstr>
      <vt:lpstr>PowerPoint 演示文稿</vt:lpstr>
      <vt:lpstr>成(chéng)龙(lóng)</vt:lpstr>
      <vt:lpstr>姚(yáo)明(míng)</vt:lpstr>
      <vt:lpstr>李(lǐ)宁(níng)</vt:lpstr>
      <vt:lpstr>PowerPoint 演示文稿</vt:lpstr>
      <vt:lpstr>张(zhāng)艺谋(yìmóu)</vt:lpstr>
      <vt:lpstr>邓(dèng)丽君(lìjūn)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你叫什么名字？</dc:title>
  <dc:creator>lenovo</dc:creator>
  <cp:lastModifiedBy>沙茜</cp:lastModifiedBy>
  <cp:revision>26</cp:revision>
  <dcterms:created xsi:type="dcterms:W3CDTF">2019-02-27T03:30:00Z</dcterms:created>
  <dcterms:modified xsi:type="dcterms:W3CDTF">2021-10-22T06:39:42Z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2052-11.1.0.10938</vt:lpwstr>
  </property>
  <property fmtid="{D5CDD505-2E9C-101B-9397-08002B2CF9AE}" pid="3" name="ICV">
    <vt:lpwstr>48B26A44C3BA4AD9AF74BFE90259E5D4</vt:lpwstr>
  </property>
</Properties>
</file>