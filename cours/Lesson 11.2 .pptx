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5"/>
  </p:handoutMasterIdLst>
  <p:sldIdLst>
    <p:sldId id="433" r:id="rId3"/>
    <p:sldId id="410" r:id="rId4"/>
    <p:sldId id="473" r:id="rId5"/>
    <p:sldId id="554" r:id="rId6"/>
    <p:sldId id="560" r:id="rId7"/>
    <p:sldId id="562" r:id="rId8"/>
    <p:sldId id="552" r:id="rId10"/>
    <p:sldId id="461" r:id="rId11"/>
    <p:sldId id="564" r:id="rId12"/>
    <p:sldId id="462" r:id="rId13"/>
    <p:sldId id="563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7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3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6.xml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19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9.xml"/><Relationship Id="rId2" Type="http://schemas.openxmlformats.org/officeDocument/2006/relationships/image" Target="../media/image20.jpeg"/><Relationship Id="rId1" Type="http://schemas.openxmlformats.org/officeDocument/2006/relationships/tags" Target="../tags/tag22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GIF"/><Relationship Id="rId1" Type="http://schemas.openxmlformats.org/officeDocument/2006/relationships/tags" Target="../tags/tag23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zài xuéxiào shítánɡ chīfàn</a:t>
            </a:r>
            <a:br>
              <a:rPr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11 </a:t>
            </a:r>
            <a:r>
              <a:rPr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在  学 校   食 堂   吃 饭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11  I eat at the school canteen</a:t>
            </a:r>
            <a:br>
              <a:rPr lang="en-US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</a:t>
            </a:r>
            <a:endParaRPr lang="en-US" altLang="zh-CN" sz="266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内容占位符 4"/>
          <p:cNvPicPr>
            <a:picLocks noGrp="1"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0" y="0"/>
            <a:ext cx="2349500" cy="1511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5340" y="1076960"/>
            <a:ext cx="3011170" cy="408241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fontAlgn="base">
              <a:lnSpc>
                <a:spcPts val="13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wǎnfàn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晚 饭：supper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shǒujī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手 机:cell phone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hàomǎ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号 码:number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búyònɡ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不 用:no need to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11-3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870950" y="1585595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15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3530600" y="2859405"/>
            <a:ext cx="6934835" cy="355092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你 平   时  几 点   吃 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晚  饭  ？ 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What time do you usually have dinner?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</a:t>
            </a:r>
            <a:endParaRPr lang="en-US" altLang="zh-CN"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      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qǐnɡ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我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想   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请   你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吃  晚  饭  。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今  天   你 有  </a:t>
            </a:r>
            <a:r>
              <a:rPr lang="en-US" altLang="zh-CN"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sz="2000" strike="noStrike" noProof="1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时  间   吗 ？ 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(</a:t>
            </a:r>
            <a:r>
              <a:rPr sz="2000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I'd like to invite you to dinner. Do you have time today?</a:t>
            </a:r>
            <a:r>
              <a:rPr lang="en-US" altLang="zh-CN" sz="2000">
                <a:effectLst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)</a:t>
            </a: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 strike="noStrike" noProof="1"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7420" y="1703070"/>
            <a:ext cx="2480945" cy="29127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wǎnfàn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晚 饭：supper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zǎofàn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早 饭:breakfast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wǔfàn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午饭:lunch  </a:t>
            </a:r>
            <a:endParaRPr lang="zh-CN" altLang="en-US" sz="2000"/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zh-CN" altLang="en-US" sz="2000"/>
          </a:p>
        </p:txBody>
      </p:sp>
      <p:pic>
        <p:nvPicPr>
          <p:cNvPr id="100" name="图片 9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78525" y="254635"/>
            <a:ext cx="4194175" cy="23304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内容占位符 2"/>
          <p:cNvSpPr>
            <a:spLocks noGrp="1"/>
          </p:cNvSpPr>
          <p:nvPr/>
        </p:nvSpPr>
        <p:spPr>
          <a:xfrm>
            <a:off x="4126230" y="503555"/>
            <a:ext cx="3470910" cy="5692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sp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chemeClr val="tx1"/>
              </a:solidFill>
              <a:effectLst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sym typeface="+mn-ea"/>
              </a:rPr>
              <a:t> </a:t>
            </a:r>
            <a:r>
              <a:rPr sz="2000">
                <a:effectLst/>
                <a:sym typeface="+mn-ea"/>
              </a:rPr>
              <a:t>                     </a:t>
            </a:r>
            <a:endParaRPr lang="zh-CN" altLang="en-US" sz="2000">
              <a:effectLst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sym typeface="+mn-ea"/>
              </a:rPr>
              <a:t>  手  机 号  码   </a:t>
            </a:r>
            <a:endParaRPr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sym typeface="+mn-ea"/>
              </a:rPr>
              <a:t>  </a:t>
            </a:r>
            <a:r>
              <a:rPr sz="2000">
                <a:effectLst/>
                <a:sym typeface="+mn-ea"/>
              </a:rPr>
              <a:t>电   话（diàn huà） </a:t>
            </a:r>
            <a:r>
              <a:rPr lang="en-US" altLang="zh-CN" sz="2000">
                <a:effectLst/>
                <a:sym typeface="+mn-ea"/>
              </a:rPr>
              <a:t>  </a:t>
            </a:r>
            <a:r>
              <a:rPr sz="2000">
                <a:effectLst/>
                <a:sym typeface="+mn-ea"/>
              </a:rPr>
              <a:t> 号  码 </a:t>
            </a:r>
            <a:endParaRPr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effectLst/>
                <a:sym typeface="+mn-ea"/>
              </a:rPr>
              <a:t>                    </a:t>
            </a:r>
            <a:endParaRPr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r>
              <a:rPr sz="2000">
                <a:solidFill>
                  <a:schemeClr val="tx1"/>
                </a:solidFill>
                <a:effectLst/>
                <a:sym typeface="+mn-ea"/>
              </a:rPr>
              <a:t> 房    间（fánɡ jiān） </a:t>
            </a:r>
            <a:r>
              <a:rPr sz="2000">
                <a:effectLst/>
                <a:sym typeface="+mn-ea"/>
              </a:rPr>
              <a:t> 号  码 </a:t>
            </a:r>
            <a:endParaRPr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000">
              <a:effectLst/>
              <a:sym typeface="+mn-ea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rgbClr val="C00000"/>
              </a:solidFill>
              <a:effectLst/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sz="240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sym typeface="+mn-ea"/>
              </a:rPr>
              <a:t>hùzhào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sym typeface="+mn-ea"/>
              </a:rPr>
              <a:t> hàomǎ 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</a:endParaRPr>
          </a:p>
          <a:p>
            <a:pPr marL="0" indent="0">
              <a:buNone/>
            </a:pPr>
            <a:r>
              <a:rPr sz="240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sym typeface="+mn-ea"/>
              </a:rPr>
              <a:t> 护 照    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sym typeface="+mn-ea"/>
              </a:rPr>
              <a:t>号 码</a:t>
            </a:r>
            <a:endParaRPr lang="zh-CN" altLang="en-US" sz="2400">
              <a:effectLst/>
              <a:latin typeface="华文楷体" panose="02010600040101010101" charset="-122"/>
              <a:ea typeface="华文楷体" panose="02010600040101010101" charset="-122"/>
            </a:endParaRPr>
          </a:p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lang="zh-CN" altLang="en-US" sz="2400" strike="noStrike" noProof="1">
              <a:solidFill>
                <a:schemeClr val="tx1"/>
              </a:solidFill>
              <a:effectLst/>
              <a:latin typeface="华文楷体" panose="02010600040101010101" charset="-122"/>
              <a:ea typeface="华文楷体" panose="0201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22145" y="483235"/>
            <a:ext cx="3026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9470" y="3002915"/>
            <a:ext cx="2763520" cy="2322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shǒujī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手 机:cell phone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hàomǎ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eaLnBrk="1" fontAlgn="base" latinLnBrk="0" hangingPunct="1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号 码:number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altLang="en-US" sz="2000"/>
          </a:p>
        </p:txBody>
      </p:sp>
      <p:pic>
        <p:nvPicPr>
          <p:cNvPr id="5" name="图片 4" descr="u=2330414074,1379377043&amp;fm=26&amp;gp=0[1]"/>
          <p:cNvPicPr>
            <a:picLocks noChangeAspect="1"/>
          </p:cNvPicPr>
          <p:nvPr/>
        </p:nvPicPr>
        <p:blipFill>
          <a:blip r:embed="rId1"/>
          <a:srcRect l="13712" t="18533" r="3671"/>
          <a:stretch>
            <a:fillRect/>
          </a:stretch>
        </p:blipFill>
        <p:spPr>
          <a:xfrm>
            <a:off x="7887335" y="483235"/>
            <a:ext cx="2340610" cy="17951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2429510"/>
            <a:ext cx="2341245" cy="1714500"/>
          </a:xfrm>
          <a:prstGeom prst="rect">
            <a:avLst/>
          </a:prstGeom>
        </p:spPr>
      </p:pic>
      <p:pic>
        <p:nvPicPr>
          <p:cNvPr id="8" name="图片 7" descr="u=1587338619,3473921403&amp;fm=26&amp;gp=0[1]"/>
          <p:cNvPicPr>
            <a:picLocks noChangeAspect="1"/>
          </p:cNvPicPr>
          <p:nvPr/>
        </p:nvPicPr>
        <p:blipFill>
          <a:blip r:embed="rId3"/>
          <a:srcRect l="50821"/>
          <a:stretch>
            <a:fillRect/>
          </a:stretch>
        </p:blipFill>
        <p:spPr>
          <a:xfrm>
            <a:off x="7887335" y="4274185"/>
            <a:ext cx="1923415" cy="2020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6891" t="24133" r="2926" b="56528"/>
          <a:stretch>
            <a:fillRect/>
          </a:stretch>
        </p:blipFill>
        <p:spPr>
          <a:xfrm>
            <a:off x="545465" y="1104900"/>
            <a:ext cx="11265535" cy="3664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350010" y="1919605"/>
            <a:ext cx="907478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</a:t>
            </a:r>
            <a:r>
              <a:rPr lang="zh-CN" altLang="en-US" sz="36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你的手机号码是多少？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（nǐ de shǒu jī hào mǎ shì duō shǎo ）</a:t>
            </a:r>
            <a:endParaRPr lang="zh-CN" altLang="en-US" sz="3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3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3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我的手机号码是</a:t>
            </a:r>
            <a:r>
              <a:rPr lang="en-US" altLang="zh-CN" sz="32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15011509881.</a:t>
            </a:r>
            <a:endParaRPr lang="en-US" altLang="zh-CN" sz="32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内容占位符 2"/>
          <p:cNvSpPr>
            <a:spLocks noGrp="1"/>
          </p:cNvSpPr>
          <p:nvPr/>
        </p:nvSpPr>
        <p:spPr>
          <a:xfrm>
            <a:off x="3582670" y="1776095"/>
            <a:ext cx="2638425" cy="45256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softEdge rad="63500"/>
          </a:effectLst>
        </p:spPr>
        <p:txBody>
          <a:bodyPr vert="horz" lIns="90000" tIns="46800" rIns="90000" bIns="46800" rtlCol="0" anchor="t">
            <a:normAutofit fontScale="4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90000"/>
              </a:lnSpc>
              <a:buClrTx/>
              <a:buSzTx/>
              <a:buFontTx/>
              <a:buNone/>
            </a:pPr>
            <a:endParaRPr sz="2000">
              <a:solidFill>
                <a:schemeClr val="tx1"/>
              </a:solidFill>
              <a:effectLst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3330" b="1">
                <a:sym typeface="+mn-ea"/>
              </a:rPr>
              <a:t> </a:t>
            </a:r>
            <a:r>
              <a:rPr lang="en-US" altLang="zh-CN" sz="3330" b="1">
                <a:sym typeface="+mn-ea"/>
              </a:rPr>
              <a:t>    </a:t>
            </a:r>
            <a:r>
              <a:rPr sz="5000">
                <a:effectLst/>
                <a:cs typeface="Arial" panose="020B0604020202020204" pitchFamily="34" charset="0"/>
                <a:sym typeface="+mn-ea"/>
              </a:rPr>
              <a:t>xiè xiè ！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lang="en-US" altLang="zh-CN" sz="5000">
                <a:effectLst/>
                <a:cs typeface="Arial" panose="020B0604020202020204" pitchFamily="34" charset="0"/>
                <a:sym typeface="+mn-ea"/>
              </a:rPr>
              <a:t>A  </a:t>
            </a:r>
            <a:r>
              <a:rPr sz="5000">
                <a:effectLst/>
                <a:cs typeface="Arial" panose="020B0604020202020204" pitchFamily="34" charset="0"/>
                <a:sym typeface="+mn-ea"/>
              </a:rPr>
              <a:t>谢  谢  ！ </a:t>
            </a:r>
            <a:endParaRPr sz="5000">
              <a:effectLst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5000">
                <a:effectLst/>
                <a:cs typeface="Arial" panose="020B0604020202020204" pitchFamily="34" charset="0"/>
                <a:sym typeface="+mn-ea"/>
              </a:rPr>
              <a:t>     bú kè qi ！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lang="en-US" altLang="zh-CN" sz="5000">
                <a:effectLst/>
                <a:cs typeface="Arial" panose="020B0604020202020204" pitchFamily="34" charset="0"/>
                <a:sym typeface="+mn-ea"/>
              </a:rPr>
              <a:t>B1 </a:t>
            </a:r>
            <a:r>
              <a:rPr sz="5000">
                <a:effectLst/>
                <a:cs typeface="Arial" panose="020B0604020202020204" pitchFamily="34" charset="0"/>
                <a:sym typeface="+mn-ea"/>
              </a:rPr>
              <a:t>不 客 气 ！</a:t>
            </a:r>
            <a:endParaRPr sz="5000">
              <a:effectLst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5000">
                <a:effectLst/>
                <a:cs typeface="Arial" panose="020B0604020202020204" pitchFamily="34" charset="0"/>
                <a:sym typeface="+mn-ea"/>
              </a:rPr>
              <a:t>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5000">
                <a:effectLst/>
                <a:cs typeface="Arial" panose="020B0604020202020204" pitchFamily="34" charset="0"/>
                <a:sym typeface="+mn-ea"/>
              </a:rPr>
              <a:t>     bú yònɡ xiè ！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lang="en-US" altLang="zh-CN" sz="5000">
                <a:effectLst/>
                <a:cs typeface="Arial" panose="020B0604020202020204" pitchFamily="34" charset="0"/>
                <a:sym typeface="+mn-ea"/>
              </a:rPr>
              <a:t>B2 </a:t>
            </a:r>
            <a:r>
              <a:rPr sz="5000">
                <a:effectLst/>
                <a:cs typeface="Arial" panose="020B0604020202020204" pitchFamily="34" charset="0"/>
                <a:sym typeface="+mn-ea"/>
              </a:rPr>
              <a:t>不   用   谢  ！</a:t>
            </a:r>
            <a:endParaRPr sz="5000">
              <a:effectLst/>
              <a:cs typeface="Arial" panose="020B0604020202020204" pitchFamily="34" charset="0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5000">
                <a:effectLst/>
                <a:cs typeface="Arial" panose="020B0604020202020204" pitchFamily="34" charset="0"/>
                <a:sym typeface="+mn-ea"/>
              </a:rPr>
              <a:t>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sz="5000">
                <a:effectLst/>
                <a:cs typeface="Arial" panose="020B0604020202020204" pitchFamily="34" charset="0"/>
                <a:sym typeface="+mn-ea"/>
              </a:rPr>
              <a:t>      bú xiè ！ </a:t>
            </a:r>
            <a:endParaRPr lang="zh-CN" altLang="en-US" sz="5000">
              <a:effectLst/>
              <a:cs typeface="Arial" panose="020B0604020202020204" pitchFamily="34" charset="0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lang="en-US" altLang="zh-CN" sz="5000">
                <a:effectLst/>
                <a:cs typeface="Arial" panose="020B0604020202020204" pitchFamily="34" charset="0"/>
                <a:sym typeface="+mn-ea"/>
              </a:rPr>
              <a:t>B3  </a:t>
            </a:r>
            <a:r>
              <a:rPr sz="5000">
                <a:effectLst/>
                <a:cs typeface="Arial" panose="020B0604020202020204" pitchFamily="34" charset="0"/>
                <a:sym typeface="+mn-ea"/>
              </a:rPr>
              <a:t>不 谢  ！</a:t>
            </a:r>
            <a:endParaRPr lang="en-US" altLang="zh-CN" sz="5000" strike="noStrike" noProof="1">
              <a:solidFill>
                <a:schemeClr val="tx1"/>
              </a:solidFill>
              <a:effectLst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22145" y="483235"/>
            <a:ext cx="3026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78685" y="450850"/>
            <a:ext cx="37973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búyònɡ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不 用:no need to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ts val="13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000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84820" y="1703070"/>
            <a:ext cx="2781300" cy="2457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1752600" y="287020"/>
            <a:ext cx="9853295" cy="65709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wánɡ pénɡ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王   朋   ： 你 好  ！     请   问  你   找   谁  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shān tián ：                            cuī hào </a:t>
            </a:r>
            <a:endParaRPr lang="zh-CN" alt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山   田   ： 你 好  ！ 我   是  崔  浩    的   同   学    山   田   。   崔  浩  在  吗 ？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wánɡ pénɡ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王   朋   ： 他 不 在  。   现 在   他 在   朋 友 家   吃 晚 饭  。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shān tián ：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山   田   ： 他 的 手 机  号 码    是  多  少   ，    你 知  道  吗 ？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wánɡ pénɡ ：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王   朋   ： 知 道  ，    号  码  是  ： 13261231948 。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shān tián ：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山   田   ： 谢  谢  你 ！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wánɡ pénɡ ：  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     王   朋   ： 不 用   谢  ！</a:t>
            </a: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" name="11-4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02035" y="21907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418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4620" y="185420"/>
            <a:ext cx="8303260" cy="6487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文二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two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398520" y="618490"/>
            <a:ext cx="6162675" cy="51396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山 田    找   谁  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崔  浩   在  吗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崔 浩   现 在   在 哪 儿 ？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崔 浩   的   手 机 号 码   是    多  少   ？</a:t>
            </a:r>
            <a:endParaRPr lang="zh-CN" altLang="en-US" sz="2000" dirty="0" smtClean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sz="2000"/>
              <a:t>一、</a:t>
            </a:r>
            <a:r>
              <a:rPr lang="en-US" altLang="zh-CN" sz="2000"/>
              <a:t>Complete the sentence using the given words</a:t>
            </a:r>
            <a:endParaRPr lang="en-US" altLang="zh-CN" sz="2000"/>
          </a:p>
          <a:p>
            <a:r>
              <a:rPr lang="en-US" altLang="zh-CN" sz="2000"/>
              <a:t>1</a:t>
            </a:r>
            <a:r>
              <a:rPr sz="2000"/>
              <a:t>、</a:t>
            </a:r>
            <a:r>
              <a:rPr sz="2000" u="sng"/>
              <a:t> </a:t>
            </a:r>
            <a:r>
              <a:rPr lang="en-US" altLang="zh-CN" sz="2000" u="sng"/>
              <a:t>                                                           </a:t>
            </a:r>
            <a:r>
              <a:rPr sz="2000"/>
              <a:t>，我看手机。（</a:t>
            </a:r>
            <a:r>
              <a:rPr lang="en-US" altLang="zh-CN" sz="2000"/>
              <a:t>……</a:t>
            </a:r>
            <a:r>
              <a:rPr sz="2000"/>
              <a:t>的时候）</a:t>
            </a:r>
            <a:endParaRPr sz="2000"/>
          </a:p>
          <a:p>
            <a:r>
              <a:rPr lang="en-US" altLang="zh-CN" sz="2000"/>
              <a:t>2</a:t>
            </a:r>
            <a:r>
              <a:rPr sz="2000"/>
              <a:t>、</a:t>
            </a:r>
            <a:r>
              <a:rPr lang="en-US" altLang="zh-CN" sz="2000"/>
              <a:t>A: </a:t>
            </a:r>
            <a:r>
              <a:rPr lang="en-US" altLang="zh-CN" sz="2000" u="sng"/>
              <a:t>                                                                     </a:t>
            </a:r>
            <a:r>
              <a:rPr lang="en-US" altLang="zh-CN" sz="2000"/>
              <a:t>?(</a:t>
            </a:r>
            <a:r>
              <a:rPr sz="2000"/>
              <a:t>多少</a:t>
            </a:r>
            <a:r>
              <a:rPr lang="en-US" altLang="zh-CN" sz="2000"/>
              <a:t>)</a:t>
            </a:r>
            <a:endParaRPr lang="en-US" altLang="zh-CN" sz="2000"/>
          </a:p>
          <a:p>
            <a:r>
              <a:rPr lang="en-US" altLang="zh-CN" sz="2000"/>
              <a:t>     B</a:t>
            </a:r>
            <a:r>
              <a:rPr sz="2000"/>
              <a:t>：</a:t>
            </a:r>
            <a:r>
              <a:rPr lang="en-US" altLang="zh-CN" sz="2000"/>
              <a:t> </a:t>
            </a:r>
            <a:r>
              <a:rPr sz="2000"/>
              <a:t>我的手机号码是</a:t>
            </a:r>
            <a:r>
              <a:rPr lang="en-US" altLang="zh-CN" sz="2000"/>
              <a:t>15011745677</a:t>
            </a:r>
            <a:r>
              <a:rPr sz="2000"/>
              <a:t>。</a:t>
            </a:r>
            <a:endParaRPr sz="2000"/>
          </a:p>
          <a:p>
            <a:r>
              <a:rPr lang="en-US" altLang="zh-CN" sz="2000"/>
              <a:t>3</a:t>
            </a:r>
            <a:r>
              <a:rPr sz="2000"/>
              <a:t>、</a:t>
            </a:r>
            <a:r>
              <a:rPr lang="en-US" altLang="zh-CN" sz="2000"/>
              <a:t>A: </a:t>
            </a:r>
            <a:r>
              <a:rPr sz="2000"/>
              <a:t>今天我请你吃饭。</a:t>
            </a:r>
            <a:endParaRPr sz="2000"/>
          </a:p>
          <a:p>
            <a:r>
              <a:rPr sz="2000"/>
              <a:t> </a:t>
            </a:r>
            <a:r>
              <a:rPr lang="en-US" altLang="zh-CN" sz="2000"/>
              <a:t>    B</a:t>
            </a:r>
            <a:r>
              <a:rPr sz="2000"/>
              <a:t>：太好了！</a:t>
            </a:r>
            <a:r>
              <a:rPr sz="2000" u="sng"/>
              <a:t> </a:t>
            </a:r>
            <a:r>
              <a:rPr lang="en-US" altLang="zh-CN" sz="2000" u="sng"/>
              <a:t>                                                      </a:t>
            </a:r>
            <a:r>
              <a:rPr sz="2000"/>
              <a:t>。（不用）</a:t>
            </a:r>
            <a:endParaRPr sz="2000"/>
          </a:p>
          <a:p>
            <a:r>
              <a:rPr sz="2000"/>
              <a:t>二、Rearrange the following words to make</a:t>
            </a:r>
            <a:r>
              <a:rPr lang="en-US" altLang="zh-CN" sz="2000"/>
              <a:t>   </a:t>
            </a:r>
            <a:r>
              <a:rPr sz="2000"/>
              <a:t>sentences</a:t>
            </a:r>
            <a:endParaRPr sz="2000"/>
          </a:p>
          <a:p>
            <a:r>
              <a:rPr lang="en-US" altLang="zh-CN" sz="2000"/>
              <a:t>1</a:t>
            </a:r>
            <a:r>
              <a:rPr sz="2000"/>
              <a:t>、看书</a:t>
            </a:r>
            <a:r>
              <a:rPr lang="en-US" altLang="zh-CN" sz="2000"/>
              <a:t>     </a:t>
            </a:r>
            <a:r>
              <a:rPr sz="2000">
                <a:sym typeface="+mn-ea"/>
              </a:rPr>
              <a:t>在</a:t>
            </a:r>
            <a:r>
              <a:rPr lang="en-US" altLang="zh-CN" sz="2000"/>
              <a:t>    </a:t>
            </a:r>
            <a:r>
              <a:rPr sz="2000">
                <a:sym typeface="+mn-ea"/>
              </a:rPr>
              <a:t>今天</a:t>
            </a:r>
            <a:r>
              <a:rPr lang="en-US" altLang="zh-CN" sz="2000">
                <a:sym typeface="+mn-ea"/>
              </a:rPr>
              <a:t>     </a:t>
            </a:r>
            <a:r>
              <a:rPr sz="2000">
                <a:sym typeface="+mn-ea"/>
              </a:rPr>
              <a:t>图书馆</a:t>
            </a:r>
            <a:r>
              <a:rPr lang="en-US" altLang="zh-CN" sz="2000">
                <a:sym typeface="+mn-ea"/>
              </a:rPr>
              <a:t>       </a:t>
            </a:r>
            <a:r>
              <a:rPr sz="2000">
                <a:sym typeface="+mn-ea"/>
              </a:rPr>
              <a:t>下午</a:t>
            </a:r>
            <a:r>
              <a:rPr lang="en-US" altLang="zh-CN" sz="2000">
                <a:sym typeface="+mn-ea"/>
              </a:rPr>
              <a:t>        </a:t>
            </a:r>
            <a:r>
              <a:rPr sz="2000">
                <a:sym typeface="+mn-ea"/>
              </a:rPr>
              <a:t>我</a:t>
            </a:r>
            <a:r>
              <a:rPr lang="en-US" altLang="zh-CN" sz="2000">
                <a:sym typeface="+mn-ea"/>
              </a:rPr>
              <a:t> </a:t>
            </a:r>
            <a:endParaRPr sz="2000"/>
          </a:p>
          <a:p>
            <a:r>
              <a:rPr lang="en-US" altLang="zh-CN" sz="2000"/>
              <a:t> 2</a:t>
            </a:r>
            <a:r>
              <a:rPr sz="2000"/>
              <a:t>、</a:t>
            </a:r>
            <a:r>
              <a:rPr lang="en-US" altLang="zh-CN" sz="2000"/>
              <a:t> </a:t>
            </a:r>
            <a:r>
              <a:rPr sz="2000"/>
              <a:t>我</a:t>
            </a:r>
            <a:r>
              <a:rPr lang="en-US" altLang="zh-CN" sz="2000"/>
              <a:t>    </a:t>
            </a:r>
            <a:r>
              <a:rPr lang="en-US" altLang="zh-CN" sz="2000">
                <a:sym typeface="+mn-ea"/>
              </a:rPr>
              <a:t>  </a:t>
            </a:r>
            <a:r>
              <a:rPr sz="2000">
                <a:sym typeface="+mn-ea"/>
              </a:rPr>
              <a:t>聊天儿</a:t>
            </a:r>
            <a:r>
              <a:rPr lang="en-US" altLang="zh-CN" sz="2000">
                <a:sym typeface="+mn-ea"/>
              </a:rPr>
              <a:t>      </a:t>
            </a:r>
            <a:r>
              <a:rPr sz="2000">
                <a:sym typeface="+mn-ea"/>
              </a:rPr>
              <a:t>的时候</a:t>
            </a:r>
            <a:r>
              <a:rPr lang="en-US" altLang="zh-CN" sz="2000">
                <a:sym typeface="+mn-ea"/>
              </a:rPr>
              <a:t>       </a:t>
            </a:r>
            <a:r>
              <a:rPr lang="en-US" altLang="zh-CN" sz="2000"/>
              <a:t> </a:t>
            </a:r>
            <a:r>
              <a:rPr sz="2000"/>
              <a:t>跟朋友</a:t>
            </a:r>
            <a:r>
              <a:rPr lang="en-US" altLang="zh-CN" sz="2000"/>
              <a:t>      </a:t>
            </a:r>
            <a:r>
              <a:rPr sz="2000">
                <a:sym typeface="+mn-ea"/>
              </a:rPr>
              <a:t>休息</a:t>
            </a:r>
            <a:r>
              <a:rPr lang="en-US" altLang="zh-CN" sz="2000">
                <a:sym typeface="+mn-ea"/>
              </a:rPr>
              <a:t>     </a:t>
            </a:r>
            <a:r>
              <a:rPr lang="en-US" altLang="zh-CN" sz="2000"/>
              <a:t>   </a:t>
            </a:r>
            <a:endParaRPr lang="en-US" altLang="zh-CN" sz="2000"/>
          </a:p>
          <a:p>
            <a:r>
              <a:rPr lang="en-US" altLang="zh-CN" sz="2000"/>
              <a:t>3</a:t>
            </a:r>
            <a:r>
              <a:rPr sz="2000"/>
              <a:t>、</a:t>
            </a:r>
            <a:r>
              <a:rPr sz="2000">
                <a:sym typeface="+mn-ea"/>
              </a:rPr>
              <a:t>汽车</a:t>
            </a:r>
            <a:r>
              <a:rPr lang="en-US" altLang="zh-CN" sz="2000">
                <a:sym typeface="+mn-ea"/>
              </a:rPr>
              <a:t>     </a:t>
            </a:r>
            <a:r>
              <a:rPr sz="2000"/>
              <a:t>他</a:t>
            </a:r>
            <a:r>
              <a:rPr lang="en-US" altLang="zh-CN" sz="2000"/>
              <a:t>     </a:t>
            </a:r>
            <a:r>
              <a:rPr sz="2000"/>
              <a:t>一</a:t>
            </a:r>
            <a:r>
              <a:rPr lang="en-US" altLang="zh-CN" sz="2000"/>
              <a:t>         </a:t>
            </a:r>
            <a:r>
              <a:rPr sz="2000"/>
              <a:t>工作</a:t>
            </a:r>
            <a:r>
              <a:rPr lang="en-US" altLang="zh-CN" sz="2000"/>
              <a:t>  </a:t>
            </a:r>
            <a:r>
              <a:rPr lang="en-US" altLang="zh-CN" sz="2000">
                <a:sym typeface="+mn-ea"/>
              </a:rPr>
              <a:t>     </a:t>
            </a:r>
            <a:r>
              <a:rPr sz="2000">
                <a:sym typeface="+mn-ea"/>
              </a:rPr>
              <a:t>公司</a:t>
            </a:r>
            <a:r>
              <a:rPr lang="en-US" altLang="zh-CN" sz="2000">
                <a:sym typeface="+mn-ea"/>
              </a:rPr>
              <a:t>  </a:t>
            </a:r>
            <a:r>
              <a:rPr lang="en-US" altLang="zh-CN" sz="2000"/>
              <a:t>     </a:t>
            </a:r>
            <a:r>
              <a:rPr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   </a:t>
            </a:r>
            <a:r>
              <a:rPr sz="2000">
                <a:sym typeface="+mn-ea"/>
              </a:rPr>
              <a:t>家</a:t>
            </a:r>
            <a:endParaRPr sz="20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PP_MARK_KEY" val="68bce250-67b2-4858-a939-39b28258539f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2015</Words>
  <Application>WPS 演示</Application>
  <PresentationFormat>宽屏</PresentationFormat>
  <Paragraphs>139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Arial Unicode MS</vt:lpstr>
      <vt:lpstr>Office 主题​​</vt:lpstr>
      <vt:lpstr> wǒ zài xuéxiào shítánɡ chīfàn 11 我  在  学 校   食 堂   吃 饭        Lesson 11  I eat at the school canteen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171</cp:revision>
  <dcterms:created xsi:type="dcterms:W3CDTF">2019-08-11T11:31:00Z</dcterms:created>
  <dcterms:modified xsi:type="dcterms:W3CDTF">2025-03-04T03:26:14Z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A83B1889803446B986534D997365A708</vt:lpwstr>
  </property>
</Properties>
</file>