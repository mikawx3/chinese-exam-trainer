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33" r:id="rId3"/>
    <p:sldId id="410" r:id="rId4"/>
    <p:sldId id="470" r:id="rId5"/>
    <p:sldId id="483" r:id="rId6"/>
    <p:sldId id="394" r:id="rId7"/>
    <p:sldId id="471" r:id="rId8"/>
    <p:sldId id="393" r:id="rId9"/>
    <p:sldId id="473" r:id="rId10"/>
    <p:sldId id="472" r:id="rId11"/>
    <p:sldId id="474" r:id="rId12"/>
    <p:sldId id="476" r:id="rId13"/>
    <p:sldId id="461" r:id="rId14"/>
    <p:sldId id="462" r:id="rId15"/>
    <p:sldId id="495" r:id="rId16"/>
    <p:sldId id="432" r:id="rId17"/>
    <p:sldId id="463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229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26.xml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19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tags" Target="../tags/tag2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microsoft.com/office/2007/relationships/media" Target="../media/media2.mp3"/><Relationship Id="rId2" Type="http://schemas.openxmlformats.org/officeDocument/2006/relationships/audio" Target="../media/media2.mp3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microsoft.com/office/2007/relationships/media" Target="../media/media2.mp3"/><Relationship Id="rId2" Type="http://schemas.openxmlformats.org/officeDocument/2006/relationships/audio" Target="../media/media2.mp3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5645" y="2143125"/>
            <a:ext cx="8362950" cy="2386965"/>
          </a:xfrm>
        </p:spPr>
        <p:txBody>
          <a:bodyPr>
            <a:normAutofit/>
          </a:bodyPr>
          <a:lstStyle/>
          <a:p>
            <a:pPr algn="ctr"/>
            <a: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zhōnɡɡuó yínhánɡ zài nǎr？ </a:t>
            </a:r>
            <a:b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5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中  国   银 行  在  哪儿？ 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 </a:t>
            </a:r>
            <a:b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</a:br>
            <a:r>
              <a:rPr lang="zh-CN" altLang="en-US" sz="35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Lesson   7    </a:t>
            </a:r>
            <a:r>
              <a:rPr lang="en-US" altLang="zh-CN" sz="2220">
                <a:sym typeface="+mn-ea"/>
              </a:rPr>
              <a:t>Where is the bank of China?</a:t>
            </a:r>
            <a:br>
              <a:rPr lang="en-US" altLang="zh-CN" sz="2220">
                <a:sym typeface="+mn-ea"/>
              </a:rPr>
            </a:br>
            <a:r>
              <a:rPr lang="zh-CN" altLang="en-US" sz="22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0"/>
            <a:ext cx="2019300" cy="20243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33620"/>
            <a:ext cx="2019300" cy="20243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85620" y="809625"/>
            <a:ext cx="2698750" cy="49022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p>
            <a:pPr marL="0" marR="0" algn="l" defTabSz="914400" rtl="0" fontAlgn="base">
              <a:lnSpc>
                <a:spcPts val="1300"/>
              </a:lnSpc>
              <a:buClrTx/>
              <a:buSzTx/>
              <a:buFontTx/>
              <a:buNone/>
            </a:pPr>
            <a:r>
              <a:rPr lang="en-US" altLang="zh-CN" sz="24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</a:t>
            </a:r>
            <a:endParaRPr lang="en-US" altLang="zh-CN" sz="20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 b="1">
                <a:latin typeface="+mn-lt"/>
                <a:ea typeface="+mn-ea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qù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去:go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nǎr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哪儿:where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yínhánɡ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银 行:bank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zhīdào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知 道:know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ts val="13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dōnɡbiɑn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ts val="13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5  东 边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east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ts val="1300"/>
              </a:lnSpc>
              <a:buClrTx/>
              <a:buSzTx/>
              <a:buFontTx/>
              <a:buNone/>
            </a:pPr>
            <a:endParaRPr sz="222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341620" y="809625"/>
            <a:ext cx="6200140" cy="48615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ɡēn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 跟:with   </a:t>
            </a:r>
            <a:endParaRPr lang="en-US" altLang="zh-CN" sz="2000" strike="noStrike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bɑ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吧:used at the end of a sentence to indicate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a mild  suggestion </a:t>
            </a:r>
            <a:endParaRPr lang="en-US" altLang="zh-CN" sz="2000" strike="noStrike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tài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太:much too </a:t>
            </a:r>
            <a:endParaRPr lang="en-US" altLang="zh-CN" sz="2000" strike="noStrike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le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了:a modal particle </a:t>
            </a:r>
            <a:endParaRPr lang="en-US" altLang="zh-CN" sz="2000" strike="noStrike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/>
          </a:p>
        </p:txBody>
      </p:sp>
      <p:pic>
        <p:nvPicPr>
          <p:cNvPr id="6" name="7-6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24260" y="219710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2951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1441450" y="3185160"/>
            <a:ext cx="3884295" cy="274955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10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zh-CN" sz="2000" b="1">
                <a:sym typeface="宋体" panose="02010600030101010101" pitchFamily="2" charset="-122"/>
              </a:rPr>
              <a:t>      </a:t>
            </a:r>
            <a:r>
              <a:rPr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nǐ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qù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nǎr？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你 去  哪儿？ 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（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Where are you going?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）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  wǒ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qù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yínhánɡ。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我 去 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银 行。</a:t>
            </a:r>
            <a:endParaRPr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 'll go to the bank.)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13915" y="604520"/>
            <a:ext cx="2540000" cy="2322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qù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去:go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nǎr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哪儿:where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yínhánɡ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银 行:bank 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792470" y="0"/>
            <a:ext cx="4244340" cy="6247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túshūɡuǎn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图 书 馆</a:t>
            </a:r>
            <a:r>
              <a:rPr lang="en-US" alt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:library</a:t>
            </a:r>
            <a:endParaRPr lang="en-US" alt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yùndònɡchǎnɡ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运 动  场</a:t>
            </a:r>
            <a:r>
              <a:rPr lang="en-US" alt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:sports ground</a:t>
            </a:r>
            <a:endParaRPr lang="en-US" alt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en-US" alt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tǐyùɡuǎn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体育 馆</a:t>
            </a:r>
            <a:r>
              <a:rPr lang="en-US" alt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:gymnasium</a:t>
            </a: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fàn</a:t>
            </a: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ɡuǎn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饭  馆:restaurant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chāoshì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超  市:supermarket 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R="0" algn="l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jiàoxuélóu </a:t>
            </a:r>
            <a:endParaRPr kumimoji="0" lang="zh-CN" sz="200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R="0" algn="l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教 学 楼</a:t>
            </a:r>
            <a:r>
              <a:rPr lang="en-US" alt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</a:t>
            </a: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classroom building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R="0" algn="l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</a:pPr>
            <a:endParaRPr kumimoji="0" lang="zh-CN" sz="200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R="0" algn="l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sùshèlóu </a:t>
            </a:r>
            <a:endParaRPr kumimoji="0" lang="zh-CN" sz="200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R="0" algn="l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宿 舍 楼:dormitory building  </a:t>
            </a:r>
            <a:endParaRPr lang="zh-CN" altLang="en-US" sz="20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356235" y="2080895"/>
            <a:ext cx="4723130" cy="2749550"/>
          </a:xfrm>
          <a:solidFill>
            <a:schemeClr val="tx2">
              <a:lumMod val="20000"/>
              <a:lumOff val="80000"/>
            </a:schemeClr>
          </a:solidFill>
          <a:ln w="12700" cmpd="sng">
            <a:noFill/>
            <a:prstDash val="solid"/>
          </a:ln>
        </p:spPr>
        <p:txBody>
          <a:bodyPr anchor="t">
            <a:normAutofit lnSpcReduction="10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zh-CN" sz="2000" b="1">
                <a:sym typeface="宋体" panose="02010600030101010101" pitchFamily="2" charset="-122"/>
              </a:rPr>
              <a:t>  </a:t>
            </a:r>
            <a:r>
              <a:rPr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 + </a:t>
            </a:r>
            <a:r>
              <a:rPr sz="24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去 </a:t>
            </a:r>
            <a:r>
              <a:rPr lang="en-US" altLang="zh-CN" sz="24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+ place + do sth</a:t>
            </a:r>
            <a:endParaRPr kumimoji="0" lang="zh-CN" altLang="en-US" sz="2400" b="1" i="0" u="none" strike="noStrike" kern="1200" cap="none" spc="0" normalizeH="0" baseline="0" noProof="1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4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</a:t>
            </a:r>
            <a:r>
              <a:rPr lang="en-US" altLang="zh-CN" sz="24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sz="24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去</a:t>
            </a:r>
            <a:r>
              <a:rPr lang="en-US" altLang="zh-CN" sz="24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sz="24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超市</a:t>
            </a:r>
            <a:r>
              <a:rPr lang="en-US" altLang="zh-CN" sz="24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sz="24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买苹果。</a:t>
            </a:r>
            <a:endParaRPr sz="24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13915" y="604520"/>
            <a:ext cx="2540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qù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去:go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52720" y="80645"/>
            <a:ext cx="330200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túshūɡuǎn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图 书 馆</a:t>
            </a:r>
            <a:r>
              <a:rPr lang="en-US" alt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:library</a:t>
            </a:r>
            <a:endParaRPr lang="en-US" alt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yùndònɡchǎnɡ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运 动  场</a:t>
            </a:r>
            <a:r>
              <a:rPr lang="en-US" alt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:sports ground</a:t>
            </a:r>
            <a:endParaRPr lang="en-US" alt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en-US" alt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fàn</a:t>
            </a: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ɡuǎn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饭  馆:restaurant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shítánɡ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食 堂:canteen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chāoshì 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超  市:supermarket</a:t>
            </a: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28075" y="384175"/>
            <a:ext cx="2642870" cy="4677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xuéxí hànyǔ 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 习 汉 语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pǎobù 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跑 步</a:t>
            </a:r>
            <a:r>
              <a:rPr lang="en-US" altLang="zh-CN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:running</a:t>
            </a:r>
            <a:endParaRPr lang="en-US" altLang="zh-CN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chīfàn 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吃 饭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:have a meal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mǎipínɡɡuǒ 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买  苹 果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00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  <p:bldP spid="4" grpId="0" uiExpan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1035050" y="1927860"/>
            <a:ext cx="5363845" cy="429069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80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55" b="1"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 +  zhīdào  + </a:t>
            </a:r>
            <a:r>
              <a:rPr lang="en-US" altLang="zh-CN" sz="2855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sentence </a:t>
            </a:r>
            <a:r>
              <a:rPr lang="en-US" altLang="zh-CN" sz="2855" b="1"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+    mɑ？ </a:t>
            </a:r>
            <a:endParaRPr lang="en-US" altLang="zh-CN" sz="2855" b="1" strike="noStrike" noProof="1">
              <a:solidFill>
                <a:schemeClr val="accent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55" b="1"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 +   知道   +  </a:t>
            </a:r>
            <a:r>
              <a:rPr lang="en-US" altLang="zh-CN" sz="2855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sentence </a:t>
            </a:r>
            <a:r>
              <a:rPr lang="en-US" altLang="zh-CN" sz="2855" b="1"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+    吗？ </a:t>
            </a:r>
            <a:endParaRPr lang="en-US" altLang="zh-CN" sz="2855" b="1" strike="noStrike" noProof="1">
              <a:solidFill>
                <a:schemeClr val="accent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 知道  </a:t>
            </a:r>
            <a:r>
              <a:rPr lang="en-US" altLang="zh-CN" sz="2855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他 是   哪 国 人</a:t>
            </a:r>
            <a:r>
              <a:rPr lang="en-US" altLang="zh-CN" sz="2855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吗？ 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 知道  </a:t>
            </a:r>
            <a:r>
              <a:rPr lang="en-US" altLang="zh-CN" sz="2855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银 行  在  哪儿  </a:t>
            </a: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吗？ 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772920" y="996315"/>
            <a:ext cx="254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zhīdào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知 道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:know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11085" y="2857500"/>
            <a:ext cx="2880995" cy="25527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 fontAlgn="base"/>
            <a:r>
              <a:rPr lang="zh-CN" altLang="en-US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 zhīdào。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 知 道。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en-US" altLang="zh-CN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(I know.)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wǒ bù zhīdào。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 不  知 道。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en-US" altLang="zh-CN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 don't know.)</a:t>
            </a:r>
            <a:r>
              <a:rPr lang="zh-CN" altLang="en-US" sz="2000" b="1" strike="noStrike" noProof="1">
                <a:solidFill>
                  <a:schemeClr val="tx1"/>
                </a:solidFill>
              </a:rPr>
              <a:t> </a:t>
            </a:r>
            <a:endParaRPr lang="zh-CN" altLang="en-US" sz="2000" b="1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427990" y="2719070"/>
            <a:ext cx="4942840" cy="355981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80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50" b="1">
                <a:sym typeface="+mn-ea"/>
              </a:rPr>
              <a:t> </a:t>
            </a:r>
            <a:r>
              <a:rPr lang="en-US" altLang="zh-CN" sz="2850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55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他 是  哪国 人 ？</a:t>
            </a: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你  知 道 吗？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55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yínhánɡ zài nǎr？</a:t>
            </a: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nǐ  zhīdào mɑ？ 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55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银 行   在  哪儿？ </a:t>
            </a: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 知 道  吗？ 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772920" y="996315"/>
            <a:ext cx="254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zhīdào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知 道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:know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02020" y="2619375"/>
            <a:ext cx="6028055" cy="33635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 fontAlgn="base"/>
            <a:r>
              <a:rPr lang="zh-CN" altLang="en-US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wǒ zhīdà</a:t>
            </a:r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lang="en-US" altLang="zh-CN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tā shì</a:t>
            </a:r>
            <a:r>
              <a:rPr lang="zh-CN" altLang="en-US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zhōnɡɡuórén。 </a:t>
            </a:r>
            <a:endParaRPr lang="zh-CN" altLang="en-US" sz="20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 知 道</a:t>
            </a:r>
            <a:r>
              <a:rPr lang="en-US" altLang="zh-CN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他 是    中  国 人。</a:t>
            </a:r>
            <a:endParaRPr lang="zh-CN" altLang="en-US" sz="20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 zhīdào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yínhánɡ zài túshūɡuǎn nánbiɑn。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知 道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 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银 行  在  图 书 馆   南 边。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endParaRPr lang="zh-CN" altLang="en-US" sz="2000" b="1" strike="noStrike" noProof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8232"/>
          <a:stretch>
            <a:fillRect/>
          </a:stretch>
        </p:blipFill>
        <p:spPr>
          <a:xfrm>
            <a:off x="6976110" y="0"/>
            <a:ext cx="1907540" cy="2252345"/>
          </a:xfrm>
          <a:prstGeom prst="round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080308" y="81598"/>
            <a:ext cx="1697038" cy="91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 fontAlgn="base">
              <a:lnSpc>
                <a:spcPct val="90000"/>
              </a:lnSpc>
              <a:buClrTx/>
              <a:buSzTx/>
              <a:buFontTx/>
            </a:pPr>
            <a:r>
              <a:rPr lang="zh-CN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túshūɡuǎn 图书 馆</a:t>
            </a:r>
            <a:endParaRPr lang="zh-CN" sz="20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ctr" fontAlgn="base">
              <a:lnSpc>
                <a:spcPct val="90000"/>
              </a:lnSpc>
              <a:buClrTx/>
              <a:buSzTx/>
              <a:buFontTx/>
            </a:pPr>
            <a:r>
              <a:rPr lang="en-US" altLang="zh-CN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library</a:t>
            </a:r>
            <a:endParaRPr lang="zh-CN" altLang="en-US" sz="20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080308" y="1166495"/>
            <a:ext cx="1697038" cy="91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 fontAlgn="base"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yínhánɡ</a:t>
            </a:r>
            <a:r>
              <a:rPr lang="zh-CN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sz="20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ctr" fontAlgn="base">
              <a:lnSpc>
                <a:spcPct val="90000"/>
              </a:lnSpc>
              <a:buClrTx/>
              <a:buSzTx/>
              <a:buFontTx/>
            </a:pPr>
            <a:r>
              <a:rPr lang="zh-CN" altLang="en-US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银 行</a:t>
            </a:r>
            <a:endParaRPr lang="zh-CN" altLang="en-US" sz="20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ctr" fontAlgn="base">
              <a:lnSpc>
                <a:spcPct val="90000"/>
              </a:lnSpc>
              <a:buClrTx/>
              <a:buSzTx/>
              <a:buFontTx/>
            </a:pPr>
            <a:r>
              <a:rPr lang="en-US" altLang="zh-CN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bank</a:t>
            </a:r>
            <a:r>
              <a:rPr lang="zh-CN" sz="20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b="1" strike="noStrike" noProof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trike="noStrike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3236595" y="1257300"/>
            <a:ext cx="6957695" cy="45631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知 道 苹果  多 少 钱  一斤 吗？</a:t>
            </a:r>
            <a:endParaRPr lang="en-US"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知 道 </a:t>
            </a:r>
            <a:r>
              <a:rPr lang="zh-CN" alt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超市</a:t>
            </a:r>
            <a:r>
              <a:rPr lang="en-US" altLang="zh-CN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 哪儿 吗？</a:t>
            </a:r>
            <a:endParaRPr lang="en-US"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他 家 有 几口 人？ 你 知道 吗？</a:t>
            </a:r>
            <a:endParaRPr lang="en-US"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她 是 哪国 留 学 生？ 你 知道 吗？ </a:t>
            </a:r>
            <a:endParaRPr lang="en-US" sz="24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113915" y="868045"/>
            <a:ext cx="17697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indent="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ɡēn </a:t>
            </a:r>
            <a:endParaRPr kumimoji="0" lang="zh-CN" altLang="en-US" sz="2000" i="0" kern="1200" cap="none" spc="0" normalizeH="0" baseline="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indent="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 </a:t>
            </a:r>
            <a:r>
              <a:rPr lang="zh-CN" altLang="en-US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跟 </a:t>
            </a:r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:with</a:t>
            </a:r>
            <a:r>
              <a:rPr lang="zh-CN" altLang="en-US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2" name="圆角矩形 1"/>
          <p:cNvSpPr/>
          <p:nvPr/>
        </p:nvSpPr>
        <p:spPr>
          <a:xfrm>
            <a:off x="732155" y="1780540"/>
            <a:ext cx="7183755" cy="294957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A  </a:t>
            </a: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跟 </a:t>
            </a: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B         + do sth       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wǒ </a:t>
            </a: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ɡēn </a:t>
            </a: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māmɑ       qù chāoshì。         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我  </a:t>
            </a: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跟  </a:t>
            </a: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妈妈       去  超 市 。         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 go to the supermarket with my mother.)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</a:t>
            </a:r>
            <a:r>
              <a:rPr lang="en-US" altLang="zh-CN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8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跟</a:t>
            </a:r>
            <a:r>
              <a:rPr lang="en-US" altLang="zh-CN" sz="28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朋友</a:t>
            </a:r>
            <a:r>
              <a:rPr lang="en-US" altLang="zh-CN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一起去</a:t>
            </a:r>
            <a:r>
              <a:rPr lang="en-US" altLang="zh-CN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图书馆。</a:t>
            </a:r>
            <a:endParaRPr lang="zh-CN" altLang="en-US" sz="28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我跟哥哥</a:t>
            </a:r>
            <a:r>
              <a:rPr lang="en-US" altLang="zh-CN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一起</a:t>
            </a:r>
            <a:r>
              <a:rPr lang="en-US" altLang="zh-CN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去银行。</a:t>
            </a:r>
            <a:endParaRPr lang="zh-CN" alt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zh-CN" alt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zh-CN" alt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01" name="图片 1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99525" y="80645"/>
            <a:ext cx="2967990" cy="19805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113915" y="868045"/>
            <a:ext cx="992378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bɑ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吧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:used at the end of a sentence to indicate a mild  suggestion</a:t>
            </a:r>
            <a:r>
              <a:rPr lang="zh-CN" altLang="en-US" sz="2000" b="1">
                <a:effectLst/>
                <a:sym typeface="+mn-ea"/>
              </a:rPr>
              <a:t> </a:t>
            </a:r>
            <a:endParaRPr lang="zh-CN" altLang="en-US" sz="2000"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06165" y="1886585"/>
            <a:ext cx="3022600" cy="14509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  <a:sym typeface="+mn-ea"/>
              </a:rPr>
              <a:t>同学们，我们上课吧！</a:t>
            </a: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29330" y="3239135"/>
            <a:ext cx="6061710" cy="2534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yìqǐ   </a:t>
            </a:r>
            <a:r>
              <a:rPr lang="en-US" altLang="zh-CN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…V…   </a:t>
            </a:r>
            <a:r>
              <a:rPr lang="zh-CN" altLang="en-US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bɑ！ </a:t>
            </a:r>
            <a:endParaRPr lang="zh-CN" altLang="en-US" sz="2000" b="1" strike="noStrike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一起   </a:t>
            </a:r>
            <a:r>
              <a:rPr lang="en-US" altLang="zh-CN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…V…</a:t>
            </a:r>
            <a:r>
              <a:rPr lang="zh-CN" altLang="en-US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吧！    </a:t>
            </a:r>
            <a:endParaRPr lang="zh-CN" altLang="en-US" sz="2000" b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Let's </a:t>
            </a:r>
            <a:r>
              <a:rPr lang="en-US" altLang="zh-CN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……together</a:t>
            </a:r>
            <a:r>
              <a:rPr lang="zh-CN" altLang="en-US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! </a:t>
            </a:r>
            <a:r>
              <a:rPr lang="en-US" altLang="zh-CN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kumimoji="0" lang="en-US" altLang="zh-CN" sz="2000" b="1" i="0" u="none" strike="noStrike" kern="1200" cap="none" spc="0" normalizeH="0" baseline="0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kern="1200" cap="none" spc="0" normalizeH="0" baseline="0" noProof="1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我们一起去银行吧！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我们一起学习汉语吧！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240915" y="358775"/>
            <a:ext cx="3462655" cy="172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tài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太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much too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le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了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modal particle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1710" y="2684145"/>
            <a:ext cx="4862195" cy="2738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tài  </a:t>
            </a:r>
            <a:r>
              <a:rPr lang="en-US" altLang="zh-CN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 </a:t>
            </a:r>
            <a:r>
              <a:rPr lang="zh-CN" altLang="en-US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le！ </a:t>
            </a:r>
            <a:endParaRPr kumimoji="0" lang="zh-CN" altLang="en-US" sz="2000" b="1" i="0" u="none" strike="noStrike" kern="1200" cap="none" spc="0" normalizeH="0" baseline="0" noProof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太  </a:t>
            </a:r>
            <a:r>
              <a:rPr lang="en-US" altLang="zh-CN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lang="zh-CN" altLang="en-US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了！ </a:t>
            </a:r>
            <a:r>
              <a:rPr lang="en-US" altLang="zh-CN" sz="20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(too/much too……)</a:t>
            </a:r>
            <a:endParaRPr lang="en-US" altLang="zh-CN" sz="2000" b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好          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That's great!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ɡāoxìnɡ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高 兴         (very happy！）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6671945" y="2684145"/>
            <a:ext cx="3334385" cy="30746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rtlCol="0" anchor="t">
            <a:normAutofit/>
            <a:scene3d>
              <a:camera prst="orthographicFront"/>
              <a:lightRig rig="threePt" dir="t"/>
            </a:scene3d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endParaRPr kumimoji="0" lang="zh-CN" altLang="en-US" sz="2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tài guì le 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!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太 贵  了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!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 expensive.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tài piàoli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ng le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!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lang="zh-CN" altLang="en-US" sz="2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太   漂 亮   了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!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too beautiful.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39775" y="2488565"/>
            <a:ext cx="3462655" cy="172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tài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太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much too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le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了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modal particle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4822190" y="421640"/>
            <a:ext cx="6102985" cy="60153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rtlCol="0" anchor="t">
            <a:noAutofit/>
            <a:scene3d>
              <a:camera prst="orthographicFront"/>
              <a:lightRig rig="threePt" dir="t"/>
            </a:scene3d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altLang="zh-CN" sz="1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wǒmen yìqǐ qù shítánɡ bɑ！ </a:t>
            </a:r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我们  一起 去  食 堂  吧！ </a:t>
            </a:r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en-US" altLang="zh-CN" sz="1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Let's go to the cafeteria together!</a:t>
            </a:r>
            <a:r>
              <a:rPr lang="en-US" altLang="zh-CN" sz="19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kumimoji="0" lang="zh-CN" altLang="en-US" sz="19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tài hǎo le！ </a:t>
            </a:r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太  好  了！ </a:t>
            </a:r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wǒmen yìqǐ xuéxí hànyǔ bɑ！ </a:t>
            </a:r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我 们 一起 学习  汉 语 吧！</a:t>
            </a:r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9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（Let's learn Chinese together!）</a:t>
            </a:r>
            <a:endParaRPr lang="zh-CN" altLang="en-US" sz="19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endParaRPr lang="zh-CN" altLang="en-US" sz="19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tài hǎo le！ </a:t>
            </a:r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9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太  好  了！ </a:t>
            </a:r>
            <a:endParaRPr lang="zh-CN" altLang="en-US" sz="19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endParaRPr kumimoji="0" lang="zh-CN" altLang="en-US" sz="7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996315" y="1136650"/>
            <a:ext cx="8861425" cy="51860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shāntián， nǐ qù nǎr？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 ：  山  田， 你 去 哪儿？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shāntián: wǒ qù chāoshì。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山  田:   我 去  超 市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zhōnɡɡuó yínhánɡ zài  nǎr？  nǐ zhīdào 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 中  国   银 行   在  哪儿？ 你 知 道  吗？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shāntián：zhīdào，zài chāoshì dōnɡbiɑn。wǒ ɡēn nǐ yì qǐ qù bɑ。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山  田：  知 道，  在  超  市  东  边。 我 跟  你 一 起 去 吧。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tài hǎo le。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太  好  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了。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0"/>
            <a:ext cx="2019300" cy="2024380"/>
          </a:xfrm>
          <a:prstGeom prst="rect">
            <a:avLst/>
          </a:prstGeom>
        </p:spPr>
      </p:pic>
      <p:pic>
        <p:nvPicPr>
          <p:cNvPr id="4" name="7-7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07250" y="32131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252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文一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one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121535" y="1151890"/>
            <a:ext cx="8303260" cy="455485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shāntián qù nǎr？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  山  田  去 哪儿？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mǎdīnɡ xiǎnɡ qù nǎr？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 马 丁   想   去 哪儿？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shāntián zhīdào zhōnɡɡuó yínhánɡ zài nǎr mɑ？ mǎdīnɡ ne？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  山  田  知 道   中  国   银 行  在  哪儿吗？ 马 丁  呢？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shāntián hé mǎdīnɡ yìqǐ qù， mǎdīnɡ ɡāoxìnɡ 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  山  田  和 马 丁  一起 去，  马丁   高 兴  吗？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2012950" y="78740"/>
            <a:ext cx="1272540" cy="90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996315" y="1136650"/>
            <a:ext cx="8861425" cy="51860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 ：  </a:t>
            </a:r>
            <a:r>
              <a:rPr 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山 田， 你去哪儿？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shāntián: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山  田:  </a:t>
            </a:r>
            <a:r>
              <a:rPr 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我去 超 市。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</a:t>
            </a:r>
            <a:r>
              <a:rPr 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中 国 银行 在哪儿？ 你 知道 吗？ </a:t>
            </a:r>
            <a:endParaRPr lang="en-US" sz="28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山  田：  </a:t>
            </a:r>
            <a:r>
              <a:rPr 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知道，在 超 市 东边。 我 跟 你 一 起 去 吧。 </a:t>
            </a:r>
            <a:endParaRPr lang="en-US" sz="28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8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  <a:buNone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</a:t>
            </a:r>
            <a:r>
              <a:rPr lang="en-US" sz="28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太 好 了。 </a:t>
            </a:r>
            <a:endParaRPr lang="en-US" sz="28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0"/>
            <a:ext cx="2019300" cy="2024380"/>
          </a:xfrm>
          <a:prstGeom prst="rect">
            <a:avLst/>
          </a:prstGeom>
        </p:spPr>
      </p:pic>
      <p:pic>
        <p:nvPicPr>
          <p:cNvPr id="4" name="7-7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07250" y="32131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252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913880" y="2065655"/>
            <a:ext cx="2403475" cy="603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marL="0" algn="l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túshūɡuǎn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图 书 馆:library</a:t>
            </a:r>
            <a:endParaRPr lang="zh-CN" altLang="en-US" sz="2000"/>
          </a:p>
        </p:txBody>
      </p:sp>
      <p:sp>
        <p:nvSpPr>
          <p:cNvPr id="12" name="文本框 11"/>
          <p:cNvSpPr txBox="1"/>
          <p:nvPr/>
        </p:nvSpPr>
        <p:spPr>
          <a:xfrm>
            <a:off x="9585960" y="2024380"/>
            <a:ext cx="2427605" cy="6451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tǐyùɡuǎn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体育 馆:gymnasium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13880" y="3236595"/>
            <a:ext cx="3441700" cy="603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marL="0" algn="l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yùndònɡchǎnɡ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运 动  场:sports ground</a:t>
            </a:r>
            <a:endParaRPr lang="zh-CN" altLang="en-US" sz="2000"/>
          </a:p>
        </p:txBody>
      </p:sp>
      <p:sp>
        <p:nvSpPr>
          <p:cNvPr id="14" name="文本框 13"/>
          <p:cNvSpPr txBox="1"/>
          <p:nvPr/>
        </p:nvSpPr>
        <p:spPr>
          <a:xfrm>
            <a:off x="6913880" y="4270375"/>
            <a:ext cx="2560320" cy="6451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chāoshì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超 市:supermarket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792970" y="4270375"/>
            <a:ext cx="2012950" cy="6451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shítánɡ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食 堂:canteen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/>
          </a:p>
        </p:txBody>
      </p:sp>
      <p:pic>
        <p:nvPicPr>
          <p:cNvPr id="1229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8525" y="0"/>
            <a:ext cx="1664335" cy="11182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 1"/>
          <p:cNvSpPr/>
          <p:nvPr/>
        </p:nvSpPr>
        <p:spPr>
          <a:xfrm>
            <a:off x="966470" y="1751330"/>
            <a:ext cx="5808980" cy="40919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 ：  山  田， 你 去 哪儿？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shāntián: 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山  田:   我 去 ……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 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 ……    在  哪儿？  你 知 道  吗？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山  田：  知 道，  在  ……。 我 跟  你 一 起 去 吧。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太  好  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了。</a:t>
            </a: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PP_MARK_KEY" val="fa78c4c9-528f-48bd-af09-27bc7ac25fc1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3644</Words>
  <Application>WPS 演示</Application>
  <PresentationFormat>宽屏</PresentationFormat>
  <Paragraphs>351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Wingdings 2</vt:lpstr>
      <vt:lpstr>Arial</vt:lpstr>
      <vt:lpstr>Century</vt:lpstr>
      <vt:lpstr>Arial Unicode MS</vt:lpstr>
      <vt:lpstr>华文楷体</vt:lpstr>
      <vt:lpstr>华文宋体</vt:lpstr>
      <vt:lpstr>华文琥珀</vt:lpstr>
      <vt:lpstr>华文彩云</vt:lpstr>
      <vt:lpstr>华文新魏</vt:lpstr>
      <vt:lpstr>Office 主题​​</vt:lpstr>
      <vt:lpstr>zhōnɡɡuó yínhánɡ zài nǎr？  7 中  国   银 行  在  哪儿？     Lesson   7    Where is the bank of China? 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130</cp:revision>
  <dcterms:created xsi:type="dcterms:W3CDTF">2019-08-11T11:31:00Z</dcterms:created>
  <dcterms:modified xsi:type="dcterms:W3CDTF">2024-04-18T13:15:35Z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065DC999BD9F4FB9B6E68B686CF77254</vt:lpwstr>
  </property>
</Properties>
</file>