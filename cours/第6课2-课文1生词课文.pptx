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64" r:id="rId3"/>
    <p:sldId id="435" r:id="rId4"/>
    <p:sldId id="448" r:id="rId5"/>
    <p:sldId id="449" r:id="rId6"/>
    <p:sldId id="450" r:id="rId7"/>
    <p:sldId id="451" r:id="rId8"/>
    <p:sldId id="453" r:id="rId9"/>
    <p:sldId id="454" r:id="rId10"/>
    <p:sldId id="455" r:id="rId11"/>
    <p:sldId id="417" r:id="rId12"/>
    <p:sldId id="397" r:id="rId13"/>
    <p:sldId id="477" r:id="rId14"/>
    <p:sldId id="399" r:id="rId15"/>
    <p:sldId id="348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084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40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228.xml"/><Relationship Id="rId6" Type="http://schemas.openxmlformats.org/officeDocument/2006/relationships/image" Target="../media/image25.jpeg"/><Relationship Id="rId5" Type="http://schemas.openxmlformats.org/officeDocument/2006/relationships/image" Target="../media/image23.jpeg"/><Relationship Id="rId4" Type="http://schemas.openxmlformats.org/officeDocument/2006/relationships/image" Target="../media/image28.jpeg"/><Relationship Id="rId3" Type="http://schemas.openxmlformats.org/officeDocument/2006/relationships/hyperlink" Target="https://www.bing.com/images/search?q=%e6%a9%99%e6%b1%81&amp;FORM=R5FD6" TargetMode="External"/><Relationship Id="rId2" Type="http://schemas.openxmlformats.org/officeDocument/2006/relationships/image" Target="../media/image27.jpeg"/><Relationship Id="rId1" Type="http://schemas.openxmlformats.org/officeDocument/2006/relationships/hyperlink" Target="https://www.bing.com/images/search?view=detailV2&amp;ccid=QhBljA70&amp;id=D6E23C1EC36E93579412254A938915CAB8140A1B&amp;thid=OIP.QhBljA707_fkWUnm-KoPowDIEs&amp;q=%e5%8f%af%e4%b9%90&amp;simid=608016471484007838&amp;selectedIndex=13" TargetMode="Externa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image" Target="../media/image23.jpeg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image" Target="../media/image30.jpeg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image" Target="../media/image29.jpeg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tags" Target="../tags/tag236.xml"/><Relationship Id="rId11" Type="http://schemas.openxmlformats.org/officeDocument/2006/relationships/image" Target="../media/image25.jpeg"/><Relationship Id="rId10" Type="http://schemas.openxmlformats.org/officeDocument/2006/relationships/tags" Target="../tags/tag235.xml"/><Relationship Id="rId1" Type="http://schemas.openxmlformats.org/officeDocument/2006/relationships/tags" Target="../tags/tag2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70" y="2235185"/>
            <a:ext cx="9144000" cy="23868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xiānɡjiāo duōsh</a:t>
            </a: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ao qián yì jīn？ </a:t>
            </a: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  香  蕉   多 少   钱   一  斤？ </a:t>
            </a: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6 </a:t>
            </a: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How much is half a kilogram of bananas?</a:t>
            </a:r>
            <a:br>
              <a:rPr lang="en-US" altLang="zh-CN" sz="3110" b="1"/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9755" y="0"/>
            <a:ext cx="1452245" cy="962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8675"/>
            <a:ext cx="949325" cy="94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571615" y="0"/>
            <a:ext cx="3322320" cy="65544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bǎi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百:hundred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kuài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块:unit of money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qián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 钱:money  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90000"/>
              </a:lnSpc>
              <a:buClrTx/>
              <a:buSzTx/>
              <a:buFontTx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tái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9  台: a measure word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qiān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千:thousand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yíɡònɡ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 一共: altogether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xūyào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 需要:need</a:t>
            </a:r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1025779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课文一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one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33625" y="0"/>
            <a:ext cx="3634105" cy="6711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   </a:t>
            </a:r>
            <a:endParaRPr lang="en-US" altLang="zh-CN" sz="2000" strike="noStrike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xiǎnɡ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 想：want to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mǎi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2 买:buy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diànzǐcídiǎn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3 电 子词典: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electronic dictionary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diànzǐ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电子：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electron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cídiǎn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词典：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dictionary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diànnǎo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4 电 脑:computer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bù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5 部: a measure word for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   small machines/films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6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9758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747375" y="1132205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4098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内容占位符 2"/>
          <p:cNvSpPr>
            <a:spLocks noGrp="1"/>
          </p:cNvSpPr>
          <p:nvPr>
            <p:ph idx="1"/>
          </p:nvPr>
        </p:nvSpPr>
        <p:spPr>
          <a:xfrm>
            <a:off x="2240915" y="446405"/>
            <a:ext cx="2433320" cy="2208530"/>
          </a:xfrm>
        </p:spPr>
        <p:txBody>
          <a:bodyPr anchor="t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xiǎnɡ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1 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想 ：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want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to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mǎi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2 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买 </a:t>
            </a: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:buy</a:t>
            </a:r>
            <a:r>
              <a:rPr kumimoji="0" lang="zh-CN" altLang="en-US" sz="24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95855" y="3202305"/>
            <a:ext cx="2278380" cy="2275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mpd="sng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 fontAlgn="base"/>
            <a:r>
              <a:rPr lang="en-US" altLang="zh-CN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iǎnɡ  </a:t>
            </a:r>
            <a:endParaRPr lang="zh-CN" altLang="en-US" sz="24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想    +  v</a:t>
            </a:r>
            <a:endParaRPr lang="zh-CN" altLang="en-US" sz="24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mǎi </a:t>
            </a:r>
            <a:endParaRPr lang="zh-CN" altLang="en-US" sz="24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买  </a:t>
            </a:r>
            <a:endParaRPr lang="zh-CN" altLang="en-US" sz="24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</a:t>
            </a:r>
            <a:r>
              <a:rPr lang="en-US" altLang="zh-CN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endParaRPr lang="en-US" altLang="zh-CN" sz="24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2400" b="1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</a:t>
            </a:r>
            <a:endParaRPr lang="zh-CN" altLang="en-US" sz="2400" b="1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36565" y="3290570"/>
            <a:ext cx="4574540" cy="21875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 fontAlgn="base"/>
            <a:r>
              <a:rPr lang="en-US" altLang="zh-CN" sz="24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4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xiǎnɡ</a:t>
            </a:r>
            <a:endParaRPr lang="zh-CN" altLang="en-US" sz="24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4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我  想    学习  汉语。 </a:t>
            </a:r>
            <a:endParaRPr lang="zh-CN" altLang="en-US" sz="24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4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 want to learn chinese.</a:t>
            </a:r>
            <a:r>
              <a:rPr lang="zh-CN" altLang="en-US" sz="24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4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zh-CN" altLang="en-US" sz="24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8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</a:t>
            </a:r>
            <a:r>
              <a:rPr lang="en-US" altLang="zh-CN" sz="28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想</a:t>
            </a:r>
            <a:r>
              <a:rPr lang="en-US" altLang="zh-CN" sz="28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做</a:t>
            </a:r>
            <a:r>
              <a:rPr lang="en-US" altLang="zh-CN" sz="28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800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什么？</a:t>
            </a:r>
            <a:endParaRPr lang="zh-CN" altLang="en-US" sz="2800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5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5123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p>
            <a:br>
              <a:rPr lang="zh-CN" altLang="zh-CN" dirty="0"/>
            </a:br>
            <a:endParaRPr lang="zh-CN" altLang="zh-CN" dirty="0"/>
          </a:p>
        </p:txBody>
      </p:sp>
      <p:sp>
        <p:nvSpPr>
          <p:cNvPr id="5122" name="文本占位符 5124"/>
          <p:cNvSpPr>
            <a:spLocks noGrp="1"/>
          </p:cNvSpPr>
          <p:nvPr>
            <p:ph idx="1"/>
          </p:nvPr>
        </p:nvSpPr>
        <p:spPr>
          <a:xfrm>
            <a:off x="5798820" y="1764030"/>
            <a:ext cx="2819400" cy="215201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yíbù diànzǐcídiǎn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一部  电 子 词典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yíbù shǒujī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一部  手 机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cellphone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9935" y="1764030"/>
            <a:ext cx="3640455" cy="4325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>
                <a:sym typeface="宋体" panose="02010600030101010101" pitchFamily="2" charset="-122"/>
              </a:rPr>
              <a:t>   </a:t>
            </a:r>
            <a:endParaRPr lang="en-US" altLang="zh-CN" b="1"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>
                <a:sym typeface="宋体" panose="02010600030101010101" pitchFamily="2" charset="-122"/>
              </a:rPr>
              <a:t>  </a:t>
            </a:r>
            <a:r>
              <a:rPr lang="en-US" altLang="zh-CN" sz="2000" b="1">
                <a:sym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diànzǐcídiǎn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3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电子 词典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electronic dictionary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diànnǎo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电 脑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:computer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bù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5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 a measure word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tái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9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: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 measure word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798820" y="4287520"/>
            <a:ext cx="2540000" cy="1476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yìtái diànnǎo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 台  电 脑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yìtái diànshì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indent="0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一 台  电 视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(TV)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000"/>
          </a:p>
        </p:txBody>
      </p:sp>
      <p:sp>
        <p:nvSpPr>
          <p:cNvPr id="5" name="圆角右箭头 4"/>
          <p:cNvSpPr/>
          <p:nvPr/>
        </p:nvSpPr>
        <p:spPr>
          <a:xfrm>
            <a:off x="4542790" y="2624455"/>
            <a:ext cx="1256665" cy="685165"/>
          </a:xfrm>
          <a:prstGeom prst="bentArrow">
            <a:avLst/>
          </a:prstGeom>
          <a:solidFill>
            <a:schemeClr val="tx2">
              <a:lumMod val="20000"/>
              <a:lumOff val="80000"/>
            </a:schemeClr>
          </a:solidFill>
          <a:ln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542790" y="3915410"/>
            <a:ext cx="1174750" cy="36449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4720" y="147320"/>
            <a:ext cx="2000250" cy="1499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0" y="2893695"/>
            <a:ext cx="2574925" cy="17183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9013190" y="4860290"/>
            <a:ext cx="2778760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人的</a:t>
            </a:r>
            <a:r>
              <a:rPr lang="zh-CN" altLang="en-US" sz="2400" u="sng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大脑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（dà nǎo）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brain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8" grpId="0" animBg="1"/>
      <p:bldP spid="3" grpId="0" bldLvl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内容占位符 2"/>
          <p:cNvSpPr>
            <a:spLocks noGrp="1"/>
          </p:cNvSpPr>
          <p:nvPr>
            <p:ph idx="1"/>
          </p:nvPr>
        </p:nvSpPr>
        <p:spPr>
          <a:xfrm>
            <a:off x="2335530" y="753745"/>
            <a:ext cx="8446135" cy="268541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spAutoFit/>
          </a:bodyPr>
          <a:p>
            <a:r>
              <a:rPr lang="en-US" altLang="zh-CN" sz="2400"/>
              <a:t>  </a:t>
            </a:r>
            <a:r>
              <a:rPr lang="en-US" altLang="zh-CN" sz="2400" b="1"/>
              <a:t>   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xiǎnɡ mǎi 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  想   买   什么？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(What do  you want to buy?)</a:t>
            </a:r>
            <a:endParaRPr lang="zh-CN" altLang="en-US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xiǎnɡ mǎi ……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 想   买  …… 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(I want to buy……</a:t>
            </a:r>
            <a:r>
              <a:rPr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  </a:t>
            </a:r>
            <a:endParaRPr lang="en-US" altLang="zh-CN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194" name="图片 172059" descr="t0175d0526d5f1079e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530" y="4062730"/>
            <a:ext cx="1630363" cy="1087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矩形 172060"/>
          <p:cNvSpPr/>
          <p:nvPr/>
        </p:nvSpPr>
        <p:spPr>
          <a:xfrm>
            <a:off x="2335530" y="5150168"/>
            <a:ext cx="1630363" cy="7762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shǒu jī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   手   机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19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590" y="3789045"/>
            <a:ext cx="1635125" cy="1635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矩形 2"/>
          <p:cNvSpPr/>
          <p:nvPr/>
        </p:nvSpPr>
        <p:spPr>
          <a:xfrm>
            <a:off x="4471353" y="5149533"/>
            <a:ext cx="1630362" cy="7762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diàn shì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电   视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198" name="图片 172062" descr="t013f7d0a3d66c89c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780" y="3985260"/>
            <a:ext cx="1614170" cy="1165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9" name="矩形 3"/>
          <p:cNvSpPr/>
          <p:nvPr/>
        </p:nvSpPr>
        <p:spPr>
          <a:xfrm>
            <a:off x="6621463" y="5150168"/>
            <a:ext cx="1630362" cy="7762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diàn nǎo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电   脑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200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200" y="3923665"/>
            <a:ext cx="1975485" cy="12261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1" name="矩形 5"/>
          <p:cNvSpPr/>
          <p:nvPr/>
        </p:nvSpPr>
        <p:spPr>
          <a:xfrm>
            <a:off x="8712200" y="5149533"/>
            <a:ext cx="1974850" cy="7762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diàn zǐ cí diǎn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zh-CN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电   子 词 典 </a:t>
            </a:r>
            <a:endParaRPr lang="zh-CN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内容占位符 2"/>
          <p:cNvSpPr>
            <a:spLocks noGrp="1"/>
          </p:cNvSpPr>
          <p:nvPr>
            <p:ph idx="1"/>
          </p:nvPr>
        </p:nvSpPr>
        <p:spPr>
          <a:xfrm>
            <a:off x="2308860" y="80645"/>
            <a:ext cx="2861310" cy="4039235"/>
          </a:xfrm>
        </p:spPr>
        <p:txBody>
          <a:bodyPr anchor="t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qián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钱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:money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bǎi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百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:hundred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qiān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千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:thousand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kuài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块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:unit of money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143510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6385" name="标题 1"/>
          <p:cNvSpPr>
            <a:spLocks noGrp="1"/>
          </p:cNvSpPr>
          <p:nvPr>
            <p:ph type="title"/>
          </p:nvPr>
        </p:nvSpPr>
        <p:spPr>
          <a:xfrm>
            <a:off x="6271260" y="1936750"/>
            <a:ext cx="3822065" cy="3207385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p>
            <a:pPr algn="l"/>
            <a: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qián </a:t>
            </a:r>
            <a:b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钱</a:t>
            </a:r>
            <a:r>
              <a:rPr lang="ja-JP" altLang="zh-CN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ja-JP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money</a:t>
            </a:r>
            <a:br>
              <a:rPr lang="en-US" altLang="ja-JP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多 少</a:t>
            </a:r>
            <a:r>
              <a:rPr lang="ja-JP" altLang="zh-CN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ja-JP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how much</a:t>
            </a:r>
            <a:b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zh-CN" altLang="en-US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000" b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qián </a:t>
            </a:r>
            <a:b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多 少  钱</a:t>
            </a:r>
            <a:r>
              <a:rPr lang="ja-JP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ja-JP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How much ……?</a:t>
            </a:r>
            <a:endParaRPr lang="en-US" altLang="ja-JP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图片 3" descr="可乐 的图像结果">
            <a:hlinkClick r:id="rId1"/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9150" y="866775"/>
            <a:ext cx="862013" cy="1296988"/>
          </a:xfrm>
        </p:spPr>
      </p:pic>
      <p:pic>
        <p:nvPicPr>
          <p:cNvPr id="17410" name="图片 1" descr="橙汁">
            <a:hlinkClick r:id="rId3" tooltip="&quot;橙汁&quot;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363" y="866775"/>
            <a:ext cx="1296987" cy="1296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文本框 5"/>
          <p:cNvSpPr txBox="1"/>
          <p:nvPr/>
        </p:nvSpPr>
        <p:spPr>
          <a:xfrm>
            <a:off x="2800985" y="715645"/>
            <a:ext cx="2948940" cy="43999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1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       </a:t>
            </a:r>
            <a:r>
              <a:rPr lang="en-US" altLang="zh-CN" sz="1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……    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qián </a:t>
            </a:r>
            <a:b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</a:b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……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多 少   钱？ </a:t>
            </a:r>
            <a:br>
              <a:rPr lang="ja-JP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</a:br>
            <a:r>
              <a:rPr lang="ja-JP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ja-JP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ja-JP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kělè </a:t>
            </a:r>
            <a:b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</a:br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可乐 cola</a:t>
            </a:r>
            <a:endParaRPr lang="zh-CN" altLang="ja-JP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b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</a:br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chénɡzhī </a:t>
            </a:r>
            <a:b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</a:br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橙 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Orange Juice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ja-JP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shǒujī </a:t>
            </a:r>
            <a:endParaRPr lang="zh-CN" altLang="ja-JP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手 机 </a:t>
            </a:r>
            <a:endParaRPr lang="zh-CN" altLang="ja-JP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ja-JP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diànnǎo </a:t>
            </a:r>
            <a:endParaRPr lang="zh-CN" altLang="ja-JP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ja-JP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电 脑  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7414" name="图片 172059" descr="t0175d0526d5f1079e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3448685"/>
            <a:ext cx="1404938" cy="935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5" name="矩形 172060"/>
          <p:cNvSpPr/>
          <p:nvPr/>
        </p:nvSpPr>
        <p:spPr>
          <a:xfrm>
            <a:off x="7010400" y="4402138"/>
            <a:ext cx="1404938" cy="487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4739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7416" name="图片 172062" descr="t013f7d0a3d66c89c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800" y="3429000"/>
            <a:ext cx="1352550" cy="974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7" name="矩形 172063"/>
          <p:cNvSpPr/>
          <p:nvPr/>
        </p:nvSpPr>
        <p:spPr>
          <a:xfrm>
            <a:off x="9194800" y="4403725"/>
            <a:ext cx="1352550" cy="4857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5246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143510" y="80645"/>
            <a:ext cx="2530475" cy="2000250"/>
            <a:chOff x="-369505" y="0"/>
            <a:chExt cx="2268244" cy="1828800"/>
          </a:xfrm>
        </p:grpSpPr>
        <p:sp>
          <p:nvSpPr>
            <p:cNvPr id="2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8435" name="矩形 173062"/>
          <p:cNvSpPr/>
          <p:nvPr/>
        </p:nvSpPr>
        <p:spPr>
          <a:xfrm>
            <a:off x="9277350" y="2163763"/>
            <a:ext cx="1270000" cy="487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173062"/>
          <p:cNvSpPr/>
          <p:nvPr/>
        </p:nvSpPr>
        <p:spPr>
          <a:xfrm>
            <a:off x="7169150" y="2164080"/>
            <a:ext cx="861695" cy="48704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435" grpId="0" animBg="1"/>
      <p:bldP spid="17415" grpId="0" animBg="1"/>
      <p:bldP spid="174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2308860" y="1703070"/>
            <a:ext cx="4312285" cy="424434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90000"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………… </a:t>
            </a:r>
            <a:r>
              <a:rPr kumimoji="0" lang="zh-CN" altLang="en-US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yíɡònɡ </a:t>
            </a: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kumimoji="0" lang="zh-CN" altLang="en-US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qián？ </a:t>
            </a:r>
            <a:endParaRPr kumimoji="0" lang="zh-CN" altLang="en-US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</a:t>
            </a:r>
            <a:r>
              <a:rPr lang="en-US" altLang="zh-CN" sz="222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………… </a:t>
            </a:r>
            <a:r>
              <a:rPr kumimoji="0" lang="zh-CN" altLang="en-US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 共   多 少 钱？ </a:t>
            </a:r>
            <a:endParaRPr kumimoji="0" lang="zh-CN" altLang="en-US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(How much……altogether?)</a:t>
            </a:r>
            <a:endParaRPr kumimoji="0" lang="en-US" altLang="zh-CN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220" i="0" u="none" strike="noStrike" kern="1200" cap="none" spc="0" normalizeH="0" baseline="0" noProof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kumimoji="0" lang="en-US" altLang="zh-CN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endParaRPr kumimoji="0" lang="en-US" altLang="zh-CN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kumimoji="0" lang="en-US" altLang="zh-CN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22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yíɡònɡ</a:t>
            </a:r>
            <a:r>
              <a:rPr lang="en-US" altLang="zh-CN"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………</a:t>
            </a: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sz="222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B</a:t>
            </a: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 共</a:t>
            </a:r>
            <a:r>
              <a:rPr lang="en-US" altLang="zh-CN"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…………</a:t>
            </a:r>
            <a:r>
              <a:rPr sz="222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kumimoji="0" sz="222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8434" name="图片 173059" descr="t017019f12861b495ad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76715" y="1694815"/>
            <a:ext cx="1270000" cy="952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5" name="矩形 173062"/>
          <p:cNvSpPr/>
          <p:nvPr>
            <p:custDataLst>
              <p:tags r:id="rId3"/>
            </p:custDataLst>
          </p:nvPr>
        </p:nvSpPr>
        <p:spPr>
          <a:xfrm>
            <a:off x="9276715" y="2646998"/>
            <a:ext cx="1270000" cy="487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2.8</a:t>
            </a: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36" name="图片 173060" descr="t0173ef7b40c09c498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492683" y="1702753"/>
            <a:ext cx="1268412" cy="944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7" name="矩形 173063"/>
          <p:cNvSpPr/>
          <p:nvPr>
            <p:custDataLst>
              <p:tags r:id="rId6"/>
            </p:custDataLst>
          </p:nvPr>
        </p:nvSpPr>
        <p:spPr>
          <a:xfrm>
            <a:off x="7493000" y="2646998"/>
            <a:ext cx="1270000" cy="4857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4.5</a:t>
            </a: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38" name="图片 172059" descr="t0175d0526d5f1079e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424420" y="4298950"/>
            <a:ext cx="1404938" cy="935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9" name="矩形 172060"/>
          <p:cNvSpPr/>
          <p:nvPr>
            <p:custDataLst>
              <p:tags r:id="rId9"/>
            </p:custDataLst>
          </p:nvPr>
        </p:nvSpPr>
        <p:spPr>
          <a:xfrm>
            <a:off x="7424420" y="5273993"/>
            <a:ext cx="1404938" cy="487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4739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40" name="图片 172062" descr="t013f7d0a3d66c89c3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194165" y="4300538"/>
            <a:ext cx="1352550" cy="974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1" name="矩形 172063"/>
          <p:cNvSpPr/>
          <p:nvPr>
            <p:custDataLst>
              <p:tags r:id="rId12"/>
            </p:custDataLst>
          </p:nvPr>
        </p:nvSpPr>
        <p:spPr>
          <a:xfrm>
            <a:off x="9194165" y="5275263"/>
            <a:ext cx="1352550" cy="4857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5246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143510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94635" y="3272790"/>
            <a:ext cx="2543175" cy="64389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pínɡɡuǒ hé xiānɡjiāo </a:t>
            </a:r>
            <a:endParaRPr kumimoji="0" lang="zh-CN" altLang="en-US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苹 果  和  香  蕉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94635" y="4236085"/>
            <a:ext cx="2543810" cy="64389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shǒujī hé diànnǎo </a:t>
            </a:r>
            <a:endParaRPr kumimoji="0" lang="en-US" altLang="zh-CN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手机  和  电 脑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81860" y="583565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yíɡònɡ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一共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:altogether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6431280" y="1290320"/>
            <a:ext cx="1939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苹果（pínɡ ɡuǒ ）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4"/>
            </p:custDataLst>
          </p:nvPr>
        </p:nvSpPr>
        <p:spPr>
          <a:xfrm>
            <a:off x="9374505" y="1207135"/>
            <a:ext cx="2068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香蕉（xiānɡ jiāo）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animBg="1"/>
      <p:bldP spid="18435" grpId="0" animBg="1"/>
      <p:bldP spid="2" grpId="0" animBg="1"/>
      <p:bldP spid="18439" grpId="0" animBg="1"/>
      <p:bldP spid="18441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2308860" y="1475740"/>
            <a:ext cx="6244590" cy="452437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20000"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</a:t>
            </a:r>
            <a:r>
              <a:rPr lang="zh-CN" altLang="en-US" sz="2000" b="1" strike="noStrike" noProof="1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 sz="2000" b="1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xūyào </a:t>
            </a: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需要  </a:t>
            </a:r>
            <a:r>
              <a:rPr lang="en-US" sz="2000" b="1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 v/n</a:t>
            </a:r>
            <a:endParaRPr lang="en-US" sz="2000" b="1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xiǎnɡ mǎi pínɡɡuǒ shǒujī，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xūyào qián。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 想   买   苹  果   手机， 我 需要   钱。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(I want to buy an iPhone. I need money.)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xūyào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 需要  学习  汉语  吗？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 strike="noStrike" noProof="1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(Do you need to learn Chinese?)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xūyào。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需要。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(Yes)</a:t>
            </a:r>
            <a:endParaRPr kumimoji="0" lang="zh-CN" altLang="en-US" sz="2000" i="0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143510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81860" y="408940"/>
            <a:ext cx="2540000" cy="1045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indent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>
                <a:sym typeface="+mn-ea"/>
              </a:rPr>
              <a:t> 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xūyào </a:t>
            </a:r>
            <a:endParaRPr kumimoji="0" lang="zh-CN" altLang="en-US" sz="2000" i="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需要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:need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kumimoji="0" lang="zh-CN" altLang="en-US" sz="2000" i="0" kern="1200" cap="none" spc="0" normalizeH="0" baseline="0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defTabSz="914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8560" y="186055"/>
            <a:ext cx="3107690" cy="1998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679815" y="3384550"/>
            <a:ext cx="329819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你需要什么？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你需要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做什么？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4294967295"/>
          </p:nvPr>
        </p:nvSpPr>
        <p:spPr>
          <a:xfrm>
            <a:off x="361315" y="1825625"/>
            <a:ext cx="11447780" cy="320738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r>
              <a:rPr 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ǎdīnɡ xiǎnɡ mǎi diànzǐcídiǎn hé diànnǎo。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马丁    想    买   电子 词典   和  电脑。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íbù diànzǐcídiǎn qībǎibāshíkuàiqián</a:t>
            </a:r>
            <a:r>
              <a:rPr 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yìtái diànnǎo wǔqiānjiǔbǎikuàiqián，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一部   电 子词典   七百 八十  块  钱，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一台   电 脑  五  千 九 百  块  钱，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íɡònɡ xūyào liùqiānliùbǎibāshíkuàiqián。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一共   需要   六  千 六 百 八 十 块   钱。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课文一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one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3" name="6-5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585450" y="43243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3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38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3030220" y="898525"/>
            <a:ext cx="6826250" cy="513397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20000"/>
          </a:bodyPr>
          <a:p>
            <a:r>
              <a:rPr lang="en-US" altLang="zh-CN" sz="2000" b="1"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 xiǎnɡ mǎi shénme？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马丁    想  买   什么？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diànzǐcídiǎn duōsh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oqián？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电子 词典   多 少 钱？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diànnǎo duōsh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oqián？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电脑    多 少 钱？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diànzǐcídiǎn hé diànnǎo yíɡònɡ xūyào duōsh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oqián？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电子 词典   和  电脑   一共   需要   多 少 钱？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-15875"/>
            <a:ext cx="2056765" cy="914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问题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Question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4294967295"/>
          </p:nvPr>
        </p:nvSpPr>
        <p:spPr>
          <a:xfrm>
            <a:off x="460375" y="1825625"/>
            <a:ext cx="11084560" cy="320738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马丁  想  买   电子 词典  和 电脑。 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一部   电子词典   七百八十 块 钱，  </a:t>
            </a:r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一台  电脑  五千九百  块钱， 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sz="28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一共   需要   六 千 六 百 八 十 块 钱。 </a:t>
            </a:r>
            <a:endParaRPr sz="28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课文一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one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3" name="6-5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585450" y="43243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1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26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820" y="2367280"/>
            <a:ext cx="10641330" cy="2740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3610" y="151765"/>
            <a:ext cx="8772525" cy="6189345"/>
          </a:xfrm>
        </p:spPr>
        <p:txBody>
          <a:bodyPr/>
          <a:p>
            <a:endParaRPr lang="zh-CN" altLang="en-US" sz="2800" b="1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229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0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1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2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3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4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5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6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7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8.xml><?xml version="1.0" encoding="utf-8"?>
<p:tagLst xmlns:p="http://schemas.openxmlformats.org/presentationml/2006/main">
  <p:tag name="KSO_WM_DIAGRAM_VIRTUALLY_FRAME" val="{&quot;height&quot;:358.6,&quot;left&quot;:506.4,&quot;top&quot;:95.05,&quot;width&quot;:394.65}"/>
</p:tagLst>
</file>

<file path=ppt/tags/tag239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40.xml><?xml version="1.0" encoding="utf-8"?>
<p:tagLst xmlns:p="http://schemas.openxmlformats.org/presentationml/2006/main">
  <p:tag name="KSO_WPP_MARK_KEY" val="f6c33e2e-30f7-43c3-b664-04de62e8e851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2706</Words>
  <Application>WPS 演示</Application>
  <PresentationFormat>宽屏</PresentationFormat>
  <Paragraphs>263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Arial Unicode MS</vt:lpstr>
      <vt:lpstr>Office 主题​​</vt:lpstr>
      <vt:lpstr>    xiānɡjiāo duōshao qián yì jīn？  6   香  蕉   多 少   钱   一  斤？   Lesson 6 How much is half a kilogram of bananas?          　</vt:lpstr>
      <vt:lpstr>PowerPoint 演示文稿</vt:lpstr>
      <vt:lpstr>PowerPoint 演示文稿</vt:lpstr>
      <vt:lpstr> </vt:lpstr>
      <vt:lpstr>PowerPoint 演示文稿</vt:lpstr>
      <vt:lpstr>qián   钱：money    多 少：how much         qián   多 少  钱：How much ……?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110</cp:revision>
  <dcterms:created xsi:type="dcterms:W3CDTF">2019-08-11T11:31:00Z</dcterms:created>
  <dcterms:modified xsi:type="dcterms:W3CDTF">2025-04-02T09:07:59Z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1EC48BDB1E6F488A89E5ED9CECD45368</vt:lpwstr>
  </property>
</Properties>
</file>