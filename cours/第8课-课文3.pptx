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86" r:id="rId3"/>
    <p:sldId id="410" r:id="rId4"/>
    <p:sldId id="394" r:id="rId5"/>
    <p:sldId id="469" r:id="rId6"/>
    <p:sldId id="471" r:id="rId7"/>
    <p:sldId id="490" r:id="rId8"/>
    <p:sldId id="488" r:id="rId9"/>
    <p:sldId id="489" r:id="rId10"/>
    <p:sldId id="491" r:id="rId11"/>
    <p:sldId id="461" r:id="rId12"/>
    <p:sldId id="462" r:id="rId13"/>
    <p:sldId id="507" r:id="rId14"/>
    <p:sldId id="432" r:id="rId15"/>
    <p:sldId id="478" r:id="rId16"/>
    <p:sldId id="480" r:id="rId17"/>
    <p:sldId id="513" r:id="rId18"/>
    <p:sldId id="516" r:id="rId19"/>
    <p:sldId id="517" r:id="rId20"/>
    <p:sldId id="515" r:id="rId21"/>
    <p:sldId id="505" r:id="rId22"/>
    <p:sldId id="463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12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39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tags" Target="../tags/tag2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tags" Target="../tags/tag2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tags" Target="../tags/tag2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tags" Target="../tags/tag23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5.png"/><Relationship Id="rId7" Type="http://schemas.openxmlformats.org/officeDocument/2006/relationships/image" Target="../media/image34.jpeg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4.xml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6.xml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7.xml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5645" y="2143125"/>
            <a:ext cx="836295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jīntiān jǐ hào？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今 天  几 号？  </a:t>
            </a:r>
            <a:b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8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What's the date today?</a:t>
            </a:r>
            <a:br>
              <a:rPr lang="en-US" altLang="zh-CN" sz="266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30487"/>
          <a:stretch>
            <a:fillRect/>
          </a:stretch>
        </p:blipFill>
        <p:spPr>
          <a:xfrm>
            <a:off x="0" y="4424045"/>
            <a:ext cx="2672715" cy="2433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37288"/>
          <a:stretch>
            <a:fillRect/>
          </a:stretch>
        </p:blipFill>
        <p:spPr>
          <a:xfrm>
            <a:off x="9753600" y="0"/>
            <a:ext cx="2438400" cy="20643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4825" y="821690"/>
            <a:ext cx="2880360" cy="524637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 lnSpcReduction="20000"/>
          </a:bodyPr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zhù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祝:wish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kuàilè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快 乐:happy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lǐwù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礼物:gift,present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běn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本: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shū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书:book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230495" y="505460"/>
            <a:ext cx="3007360" cy="58464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zhī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支: 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bǐ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笔:pen,pencil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啊 expressing agreement or compliance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shíjiān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时 间:time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méiwèntí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没问题:no problem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8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327.000000" end="11638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79455" y="326390"/>
            <a:ext cx="495300" cy="4953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/>
        </p:nvSpPr>
        <p:spPr>
          <a:xfrm>
            <a:off x="8742680" y="2658110"/>
            <a:ext cx="2443480" cy="18656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zhōnɡwén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中  文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Chinese language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7" name="8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980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17860" y="1416685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9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4" dur="371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15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20" dur="3714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425575" y="2080895"/>
            <a:ext cx="6003290" cy="416941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9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altLang="zh-CN" sz="4000" b="1">
                <a:sym typeface="宋体" panose="02010600030101010101" pitchFamily="2" charset="-122"/>
              </a:rPr>
              <a:t>    </a:t>
            </a:r>
            <a:r>
              <a:rPr altLang="zh-CN" sz="2900" b="1">
                <a:sym typeface="宋体" panose="02010600030101010101" pitchFamily="2" charset="-122"/>
              </a:rPr>
              <a:t> </a:t>
            </a: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shēnɡrì kuàilè！ </a:t>
            </a:r>
            <a:endParaRPr lang="en-US" altLang="zh-CN" sz="29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生 日  快 乐！ </a:t>
            </a:r>
            <a:r>
              <a:rPr lang="en-US" altLang="zh-CN" sz="25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(Happy birthday!)</a:t>
            </a:r>
            <a:endParaRPr lang="en-US" altLang="zh-CN" sz="25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sz="25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9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</a:t>
            </a: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</a:t>
            </a: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乐</a:t>
            </a:r>
            <a:r>
              <a:rPr lang="en-US" altLang="zh-CN" sz="29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   </a:t>
            </a:r>
            <a:r>
              <a:rPr lang="en-US" altLang="zh-CN" sz="25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5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Happy New Year!</a:t>
            </a:r>
            <a:r>
              <a:rPr lang="en-US" altLang="zh-CN" sz="2500" dirty="0" err="1" smtClean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40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zh-CN" altLang="en-US" sz="4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179320" y="450850"/>
            <a:ext cx="330009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zhù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祝:wish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kuàilè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快 乐:happy 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785" y="0"/>
            <a:ext cx="2101215" cy="15760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43875" y="3165475"/>
            <a:ext cx="3406775" cy="18656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zhù nǐ shēnɡrì kuàilè！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祝  你   生 日  快 乐！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Happy birthday to you!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71040" y="4324350"/>
            <a:ext cx="259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xīn nián kuài lè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" grpId="0" animBg="1" uiExpand="1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5711190" y="1226820"/>
            <a:ext cx="4431665" cy="271018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90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buClrTx/>
              <a:buSz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 běn shū </a:t>
            </a:r>
            <a:endParaRPr lang="zh-CN" altLang="en-US" sz="222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本  书: a book</a:t>
            </a:r>
            <a:endParaRPr lang="zh-CN" altLang="en-US" sz="222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 zhī bǐ </a:t>
            </a:r>
            <a:endParaRPr lang="zh-CN" altLang="en-US" sz="222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支  笔: a pen  /  a pencil</a:t>
            </a:r>
            <a:endParaRPr lang="zh-CN" altLang="en-US" sz="222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buClrTx/>
              <a:buSzTx/>
              <a:buNone/>
            </a:pPr>
            <a:endParaRPr lang="zh-CN" altLang="en-US" sz="222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604520"/>
            <a:ext cx="2540000" cy="4579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běn </a:t>
            </a:r>
            <a:endParaRPr kumimoji="0" lang="en-US" altLang="zh-CN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本: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shū </a:t>
            </a:r>
            <a:endParaRPr kumimoji="0" lang="en-US" altLang="zh-CN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书:book </a:t>
            </a:r>
            <a:endParaRPr kumimoji="0" lang="en-US" altLang="zh-CN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zhī </a:t>
            </a:r>
            <a:endParaRPr kumimoji="0" lang="en-US" altLang="zh-CN" sz="2000" i="0" kern="1200" cap="none" spc="0" normalizeH="0" baseline="0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支:  </a:t>
            </a:r>
            <a:endParaRPr kumimoji="0" lang="en-US" altLang="zh-CN" sz="2000" i="0" kern="1200" cap="none" spc="0" normalizeH="0" baseline="0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kumimoji="0" lang="en-US" altLang="zh-CN" sz="2000" i="0" kern="1200" cap="none" spc="0" normalizeH="0" baseline="0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bǐ </a:t>
            </a:r>
            <a:endParaRPr kumimoji="0" lang="en-US" altLang="zh-CN" sz="2000" i="0" kern="1200" cap="none" spc="0" normalizeH="0" baseline="0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笔:pen,pencil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/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099550" y="4761865"/>
            <a:ext cx="2995295" cy="1997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931670" y="2022475"/>
            <a:ext cx="4625975" cy="151701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shēnɡrì lǐwù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生 日 礼物  (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 birthday present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22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533650" y="581660"/>
            <a:ext cx="31984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lǐwù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礼物:gift,present </a:t>
            </a:r>
            <a:endParaRPr lang="zh-CN" altLang="en-US"/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05545" y="236855"/>
            <a:ext cx="2995295" cy="1997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114550" y="3961130"/>
            <a:ext cx="3248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你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想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</a:rPr>
              <a:t>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要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</a:rPr>
              <a:t>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什么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</a:rPr>
              <a:t>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礼物？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604520"/>
            <a:ext cx="6038850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ā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啊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expressing agreement or compliance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2947670" y="1523365"/>
            <a:ext cx="7901940" cy="43999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buClrTx/>
              <a:buSzTx/>
              <a:buNone/>
            </a:pP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</a:t>
            </a:r>
            <a:r>
              <a:rPr lang="en-US" altLang="zh-CN"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！ </a:t>
            </a:r>
            <a:endParaRPr sz="222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好 啊！</a:t>
            </a:r>
            <a:r>
              <a:rPr lang="en-US" altLang="zh-CN"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22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sz="222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今 天  是  你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  生 日， 我  请  你 吃 饭，  怎么样？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 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好 啊！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106" name="图片 10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890" r="13335" b="2597"/>
          <a:stretch>
            <a:fillRect/>
          </a:stretch>
        </p:blipFill>
        <p:spPr>
          <a:xfrm>
            <a:off x="9269095" y="80645"/>
            <a:ext cx="2677795" cy="2000250"/>
          </a:xfrm>
          <a:prstGeom prst="ellipse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563745" y="1504315"/>
            <a:ext cx="6888480" cy="407797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25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sz="444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shíjiān 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</a:t>
            </a:r>
            <a:r>
              <a:rPr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今天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我们  一起  吃 饭 吧， 你 有   时 间  吗？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yǒu shíjiān。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B1  有   时 间。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duìbùqǐ， wǒ méiyǒu shíjiān。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B2 对 </a:t>
            </a:r>
            <a:r>
              <a:rPr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起， 我 没 有  时 间。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buClrTx/>
              <a:buSzTx/>
              <a:buNone/>
            </a:pPr>
            <a:endParaRPr lang="zh-CN" altLang="en-US" sz="8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626235" y="1057910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shíjiān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时 间:time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506855" y="2172335"/>
            <a:ext cx="2495550" cy="27419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fontScale="25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 shíjiān 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有  时 间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(have time)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méi（yǒu）shíjiān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没 （有）  时 间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(have not time) </a:t>
            </a:r>
            <a:endParaRPr lang="en-US" altLang="zh-CN" sz="8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240915" y="2033270"/>
            <a:ext cx="6755130" cy="279146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星期日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我们 一起 吃 饭 ， 你 有 时间  吗？ </a:t>
            </a:r>
            <a:endParaRPr lang="en-US" altLang="zh-CN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 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有时间，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没 问题。 </a:t>
            </a:r>
            <a:endParaRPr lang="en-US" altLang="zh-CN" sz="2400" strike="noStrike" noProof="1">
              <a:solidFill>
                <a:schemeClr val="tx1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13915" y="604520"/>
            <a:ext cx="37973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méiwèntí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没问题:no problem </a:t>
            </a:r>
            <a:endParaRPr lang="zh-CN" altLang="en-US" sz="2000"/>
          </a:p>
        </p:txBody>
      </p:sp>
      <p:pic>
        <p:nvPicPr>
          <p:cNvPr id="100" name="图片 99"/>
          <p:cNvPicPr/>
          <p:nvPr/>
        </p:nvPicPr>
        <p:blipFill>
          <a:blip r:embed="rId1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71965" y="189865"/>
            <a:ext cx="2514600" cy="2374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5268595" y="614680"/>
            <a:ext cx="4350385" cy="469709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25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nǐmen yǒu wèntí mɑ？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  你们  有  问 题 吗？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(Do you have any questions?)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méi（yǒu）wèntí。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B1 没 （有） 问 题。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(No)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lǎoshī， wǒ yǒu yíɡè wèntí。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B2 老 师，  我 有  一个 问 题。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(I have a question.) </a:t>
            </a:r>
            <a:endParaRPr lang="en-US" altLang="zh-CN" sz="8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/>
        </p:nvSpPr>
        <p:spPr>
          <a:xfrm>
            <a:off x="1522730" y="1703070"/>
            <a:ext cx="2666365" cy="2727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fontScale="25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yǒu wèntí                             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有  问 题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(have questions)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méi（yǒu）wèntí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没 （有） 问 题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r>
              <a:rPr lang="en-US" altLang="zh-CN" sz="8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(have not question)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lnSpc>
                <a:spcPct val="80000"/>
              </a:lnSpc>
              <a:buClrTx/>
              <a:buSzTx/>
              <a:buNone/>
            </a:pPr>
            <a:endParaRPr lang="en-US" altLang="zh-CN" sz="571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 algn="l" fontAlgn="base">
              <a:buClrTx/>
              <a:buSzTx/>
              <a:buNone/>
            </a:pPr>
            <a:r>
              <a:rPr lang="en-US" altLang="zh-CN" sz="571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zh-CN" altLang="en-US" sz="571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7" name="图片 10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2730" y="80645"/>
            <a:ext cx="3187700" cy="16459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642745" y="299085"/>
            <a:ext cx="9703435" cy="61074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línnà， zhù nǐ shēnɡrì kuàilè！ zhè shì wǒmen de lǐwù。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 ： 林 娜， 祝  你  生 日   快 乐！ 这  是  我们  的 礼物 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 xièxiè。 shì shénme lǐwù？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  谢 谢。 是   什 么 礼物？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yì běn zhōnɡwén shū hé yì zhī bǐ。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丁：  一 本   中  文  书  和 一 支  笔。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shí yuè shí hào shì wǒ de shēnɡrì， nǐmen dōu qù wǒ jiā， zěnme yànɡ？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崔 浩：  十  月  十  号  是  我 的   生 日， 你们  都  去 我 家，  怎 么 样？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hǎo </a:t>
            </a: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a！ shí yuè shí hào xīnɡqī jǐ？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 丁 ： 好 啊！ 十  月  十  号  星  期 几？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xīnɡqīrì。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崔 浩 ：  星 期日。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yǒu shíjiān， méi wèntí。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有   时 间，  没  问 题。 </a:t>
            </a: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8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346180" y="29908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8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3" dur="432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one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683635" y="635000"/>
            <a:ext cx="5637530" cy="58610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línnà de shēnɡrì lǐwù shì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林 娜 的   生 日 礼物 是   什 么？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cuīhào de shēnɡrì shì jǐ yuè jǐ hào？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崔 浩  的   生 日  是 几 月  几 号？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cuīhào xiǎnɡ qǐnɡ tónɡxuémen qù nǎr？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崔 浩   想   请    同 学 们  去 哪儿？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shí yuè shí hào shì xīnɡqījǐ？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十  月  十  号   是  星 期几？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línnà shí yuè shí hào yǒu shíjiān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林 娜 十  月  十  号  有   时 间  吗？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642745" y="299085"/>
            <a:ext cx="9703435" cy="610743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mǎdīnɡ：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 ： 林 娜， 祝  你  生 日 快 乐！ 这  是  我们  的 礼物 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línnà： 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林 娜：  </a:t>
            </a:r>
            <a:r>
              <a:rPr lang="en-US" sz="24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谢 谢。 是 什 么 礼物？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mǎdīnɡ：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丁：  一 本  中 文 书 和 一 支  笔。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cuīhào： 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崔 浩：  </a:t>
            </a: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十  月  十  号 是  我 的 生 日， 你们 都 去 我 家，  怎 么 样？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mǎdīnɡ：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马 丁 ： 好 啊！ 十 月 十  号 星 期 几？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cuīhào：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崔 浩 ： </a:t>
            </a:r>
            <a:r>
              <a:rPr lang="en-US" sz="24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 期 日。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línnà：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林 娜：</a:t>
            </a:r>
            <a:r>
              <a:rPr lang="en-US" sz="2400" dirty="0" smtClean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有 时 间，  没 问 题。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5" name="8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346180" y="29908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8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3" dur="432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6" name="圆角矩形 15"/>
          <p:cNvSpPr/>
          <p:nvPr/>
        </p:nvSpPr>
        <p:spPr>
          <a:xfrm>
            <a:off x="1287145" y="2535555"/>
            <a:ext cx="3858260" cy="3408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zhè shì </a:t>
            </a:r>
            <a:r>
              <a:rPr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shuí de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……？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 </a:t>
            </a:r>
            <a:r>
              <a:rPr lang="zh-CN" altLang="en-US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  是   </a:t>
            </a:r>
            <a:r>
              <a:rPr lang="zh-CN" altLang="en-US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谁  的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……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？</a:t>
            </a:r>
            <a:endParaRPr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endParaRPr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endParaRPr altLang="zh-CN" sz="200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endParaRPr lang="zh-CN" altLang="zh-CN" sz="2000" dirty="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zh-CN" sz="2000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zhè shì …… de ……</a:t>
            </a:r>
            <a:r>
              <a:rPr lang="zh-CN" altLang="en-US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zh-CN" sz="2000" dirty="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B  </a:t>
            </a:r>
            <a:r>
              <a:rPr lang="zh-CN" altLang="en-US" sz="2000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 是  </a:t>
            </a:r>
            <a:r>
              <a:rPr lang="en-US" altLang="zh-CN" sz="2000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的</a:t>
            </a:r>
            <a:r>
              <a:rPr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……</a:t>
            </a:r>
            <a:r>
              <a:rPr lang="zh-CN" sz="200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sz="2000" dirty="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5405" y="0"/>
            <a:ext cx="1579245" cy="19335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50430" y="0"/>
            <a:ext cx="1224915" cy="19329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769995" y="3888740"/>
            <a:ext cx="1059815" cy="701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cídiǎn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词 典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08935" y="5241925"/>
            <a:ext cx="615315" cy="701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896995" y="5241925"/>
            <a:ext cx="1059815" cy="701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cídiǎn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词 典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4130" y="0"/>
            <a:ext cx="1452245" cy="9626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4130" y="1336675"/>
            <a:ext cx="1433830" cy="1050290"/>
          </a:xfrm>
          <a:prstGeom prst="rect">
            <a:avLst/>
          </a:prstGeom>
        </p:spPr>
      </p:pic>
      <p:pic>
        <p:nvPicPr>
          <p:cNvPr id="9218" name="图片 173060" descr="t0173ef7b40c09c49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130" y="2816860"/>
            <a:ext cx="1436370" cy="10712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4" name="图片 172059" descr="t0175d0526d5f1079e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020" y="3390900"/>
            <a:ext cx="1630363" cy="1087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图片 172062" descr="t013f7d0a3d66c89c33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75020" y="4778375"/>
            <a:ext cx="1614170" cy="1165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0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840" y="4793615"/>
            <a:ext cx="1828165" cy="11347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线形标注 2 16"/>
          <p:cNvSpPr/>
          <p:nvPr/>
        </p:nvSpPr>
        <p:spPr>
          <a:xfrm>
            <a:off x="5567045" y="6205855"/>
            <a:ext cx="1157605" cy="652145"/>
          </a:xfrm>
          <a:prstGeom prst="borderCallout2">
            <a:avLst>
              <a:gd name="adj1" fmla="val -169425"/>
              <a:gd name="adj2" fmla="val 39824"/>
              <a:gd name="adj3" fmla="val -65238"/>
              <a:gd name="adj4" fmla="val 12232"/>
              <a:gd name="adj5" fmla="val -173709"/>
              <a:gd name="adj6" fmla="val 41031"/>
            </a:avLst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dà wèi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 卫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线形标注 2 17"/>
          <p:cNvSpPr/>
          <p:nvPr/>
        </p:nvSpPr>
        <p:spPr>
          <a:xfrm>
            <a:off x="6612890" y="2535555"/>
            <a:ext cx="1167765" cy="65214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64751"/>
              <a:gd name="adj6" fmla="val -45296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 lì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玛 丽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线形标注 2 18"/>
          <p:cNvSpPr/>
          <p:nvPr/>
        </p:nvSpPr>
        <p:spPr>
          <a:xfrm>
            <a:off x="9951085" y="4377055"/>
            <a:ext cx="1167765" cy="65214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11976"/>
              <a:gd name="adj6" fmla="val -43501"/>
            </a:avLst>
          </a:prstGeom>
          <a:solidFill>
            <a:schemeClr val="bg1">
              <a:lumMod val="9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línn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à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线形标注 2 19"/>
          <p:cNvSpPr/>
          <p:nvPr/>
        </p:nvSpPr>
        <p:spPr>
          <a:xfrm>
            <a:off x="10940415" y="2816860"/>
            <a:ext cx="1157605" cy="65214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7546"/>
              <a:gd name="adj6" fmla="val -124629"/>
            </a:avLst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mǎdīnɡ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 丁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线形标注 2 20"/>
          <p:cNvSpPr/>
          <p:nvPr/>
        </p:nvSpPr>
        <p:spPr>
          <a:xfrm>
            <a:off x="10940415" y="1704975"/>
            <a:ext cx="1157605" cy="66230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706"/>
              <a:gd name="adj6" fmla="val -143883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zhūyún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06405" y="130810"/>
            <a:ext cx="1491615" cy="701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wǒ pénɡyou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 朋 友  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3"/>
          <p:cNvPicPr>
            <a:picLocks noChangeAspect="1"/>
          </p:cNvPicPr>
          <p:nvPr/>
        </p:nvPicPr>
        <p:blipFill>
          <a:blip r:embed="rId1"/>
          <a:srcRect t="75231" r="-806"/>
          <a:stretch>
            <a:fillRect/>
          </a:stretch>
        </p:blipFill>
        <p:spPr>
          <a:xfrm>
            <a:off x="2625725" y="3816985"/>
            <a:ext cx="9159240" cy="1982470"/>
          </a:xfrm>
          <a:prstGeom prst="rect">
            <a:avLst/>
          </a:prstGeom>
        </p:spPr>
      </p:pic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r="-806" b="51265"/>
          <a:stretch>
            <a:fillRect/>
          </a:stretch>
        </p:blipFill>
        <p:spPr>
          <a:xfrm>
            <a:off x="2625725" y="0"/>
            <a:ext cx="9085580" cy="38690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78910" y="138366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本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20160" y="2093595"/>
            <a:ext cx="988695" cy="350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斤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个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31285" y="2940050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个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94725" y="138366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个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94725" y="221678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台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52485" y="301688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块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742170" y="2940050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毛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77360" y="410781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支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1040" y="483552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口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24470" y="3618865"/>
            <a:ext cx="1160145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个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部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35950" y="483552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种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587355" y="4835525"/>
            <a:ext cx="532130" cy="488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斤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8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7005" y="1377950"/>
            <a:ext cx="9925050" cy="41021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388735" y="2233930"/>
            <a:ext cx="2938780" cy="468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今天是妈妈的生日。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88735" y="3312160"/>
            <a:ext cx="2938780" cy="468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你准备买什么礼物？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9415" y="5128260"/>
            <a:ext cx="4592320" cy="468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下课以后，我们一起吃饭吧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649" r="32291"/>
          <a:stretch>
            <a:fillRect/>
          </a:stretch>
        </p:blipFill>
        <p:spPr>
          <a:xfrm>
            <a:off x="2202180" y="1300480"/>
            <a:ext cx="7403465" cy="342074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8522335" y="1717675"/>
            <a:ext cx="2938780" cy="468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今天九月二日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32520" y="3566160"/>
            <a:ext cx="2938780" cy="4686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你有时间吗？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7005" y="1377950"/>
            <a:ext cx="9925050" cy="4102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649" r="32291"/>
          <a:stretch>
            <a:fillRect/>
          </a:stretch>
        </p:blipFill>
        <p:spPr>
          <a:xfrm>
            <a:off x="2202180" y="1300480"/>
            <a:ext cx="7403465" cy="3420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/>
          <p:cNvPicPr>
            <a:picLocks noChangeAspect="1"/>
          </p:cNvPicPr>
          <p:nvPr>
            <p:ph idx="1"/>
          </p:nvPr>
        </p:nvPicPr>
        <p:blipFill>
          <a:blip r:embed="rId1"/>
          <a:srcRect r="-1794" b="69356"/>
          <a:stretch>
            <a:fillRect/>
          </a:stretch>
        </p:blipFill>
        <p:spPr>
          <a:xfrm>
            <a:off x="1191895" y="261620"/>
            <a:ext cx="7171690" cy="1680845"/>
          </a:xfrm>
          <a:prstGeom prst="rect">
            <a:avLst/>
          </a:prstGeom>
        </p:spPr>
      </p:pic>
      <p:pic>
        <p:nvPicPr>
          <p:cNvPr id="3" name="内容占位符 1"/>
          <p:cNvPicPr>
            <a:picLocks noChangeAspect="1"/>
          </p:cNvPicPr>
          <p:nvPr/>
        </p:nvPicPr>
        <p:blipFill>
          <a:blip r:embed="rId1"/>
          <a:srcRect t="31431" r="54358"/>
          <a:stretch>
            <a:fillRect/>
          </a:stretch>
        </p:blipFill>
        <p:spPr>
          <a:xfrm>
            <a:off x="2603500" y="1998345"/>
            <a:ext cx="3969385" cy="46424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722745" y="2215515"/>
            <a:ext cx="22561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这是谁的词典？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2745" y="3198495"/>
            <a:ext cx="20796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今天星期几？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5140" y="4089400"/>
            <a:ext cx="21024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你买哪种笔？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72885" y="5125085"/>
            <a:ext cx="26358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商店在哪儿？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22745" y="5880100"/>
            <a:ext cx="35934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这个大学有多少个学生？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内容占位符 1"/>
          <p:cNvPicPr>
            <a:picLocks noChangeAspect="1"/>
          </p:cNvPicPr>
          <p:nvPr>
            <p:ph idx="1"/>
          </p:nvPr>
        </p:nvPicPr>
        <p:blipFill>
          <a:blip r:embed="rId1"/>
          <a:srcRect l="51131" t="27726"/>
          <a:stretch>
            <a:fillRect/>
          </a:stretch>
        </p:blipFill>
        <p:spPr>
          <a:xfrm>
            <a:off x="2319020" y="592455"/>
            <a:ext cx="5221605" cy="6012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01205" y="866140"/>
            <a:ext cx="34220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你的电脑多少钱？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65315" y="1906905"/>
            <a:ext cx="2986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你有几本中文书？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65315" y="3198495"/>
            <a:ext cx="2727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你是哪国人？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65315" y="4258945"/>
            <a:ext cx="21615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他是谁？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34050" y="5319395"/>
            <a:ext cx="30575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你爸爸做什么工作？</a:t>
            </a:r>
            <a:endParaRPr lang="zh-CN" altLang="en-US" sz="24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Ask questions about the underlined parts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808355"/>
            <a:ext cx="10852150" cy="5906135"/>
          </a:xfrm>
        </p:spPr>
        <p:txBody>
          <a:bodyPr>
            <a:no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、这是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我的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手机。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、今天星期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二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、我买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这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种面包。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、银行在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超市西边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、北航有</a:t>
            </a:r>
            <a:r>
              <a:rPr lang="en-US" altLang="zh-CN"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2000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个留学生。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、这本书</a:t>
            </a:r>
            <a:r>
              <a:rPr lang="en-US" altLang="zh-CN"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30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块钱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、我有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三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支笔。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8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、我是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法国人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9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、他是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我的同学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10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、我妈妈</a:t>
            </a:r>
            <a:r>
              <a:rPr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是老师</a:t>
            </a:r>
            <a:r>
              <a:rPr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3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4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5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8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9.xml><?xml version="1.0" encoding="utf-8"?>
<p:tagLst xmlns:p="http://schemas.openxmlformats.org/presentationml/2006/main">
  <p:tag name="KSO_WPP_MARK_KEY" val="5a7863f7-db8e-4916-a075-e53a68ae6661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3339</Words>
  <Application>WPS 演示</Application>
  <PresentationFormat>宽屏</PresentationFormat>
  <Paragraphs>361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楷体</vt:lpstr>
      <vt:lpstr>Arial Unicode MS</vt:lpstr>
      <vt:lpstr>Office 主题​​</vt:lpstr>
      <vt:lpstr> jīntiān jǐ hào？  8 今 天  几 号？   Lesson 8 What's the date today?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Ask questions about the underlined parts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142</cp:revision>
  <dcterms:created xsi:type="dcterms:W3CDTF">2019-08-11T11:31:00Z</dcterms:created>
  <dcterms:modified xsi:type="dcterms:W3CDTF">2025-04-22T02:02:02Z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47A7C39DBCEE4D4096BC1E41D7FCC1B4</vt:lpwstr>
  </property>
</Properties>
</file>