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33" r:id="rId3"/>
    <p:sldId id="410" r:id="rId4"/>
    <p:sldId id="394" r:id="rId5"/>
    <p:sldId id="474" r:id="rId6"/>
    <p:sldId id="473" r:id="rId7"/>
    <p:sldId id="475" r:id="rId8"/>
    <p:sldId id="481" r:id="rId9"/>
    <p:sldId id="479" r:id="rId10"/>
    <p:sldId id="483" r:id="rId11"/>
    <p:sldId id="461" r:id="rId12"/>
    <p:sldId id="462" r:id="rId13"/>
    <p:sldId id="496" r:id="rId14"/>
    <p:sldId id="468" r:id="rId15"/>
    <p:sldId id="463" r:id="rId16"/>
    <p:sldId id="499" r:id="rId17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5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33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tags" Target="../tags/tag2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tags" Target="../tags/tag231.xml"/><Relationship Id="rId2" Type="http://schemas.openxmlformats.org/officeDocument/2006/relationships/image" Target="../media/image22.jpeg"/><Relationship Id="rId1" Type="http://schemas.openxmlformats.org/officeDocument/2006/relationships/tags" Target="../tags/tag2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jpeg"/><Relationship Id="rId1" Type="http://schemas.openxmlformats.org/officeDocument/2006/relationships/tags" Target="../tags/tag23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5645" y="2143125"/>
            <a:ext cx="8362950" cy="2386965"/>
          </a:xfrm>
        </p:spPr>
        <p:txBody>
          <a:bodyPr>
            <a:normAutofit/>
          </a:bodyPr>
          <a:lstStyle/>
          <a:p>
            <a:pPr algn="ctr"/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jīntiān jǐ hào？ </a:t>
            </a:r>
            <a:b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今 天  几 号？  </a:t>
            </a:r>
            <a:b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8 </a:t>
            </a: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What's the date today?</a:t>
            </a:r>
            <a:br>
              <a:rPr lang="en-US" altLang="zh-CN" sz="266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30487"/>
          <a:stretch>
            <a:fillRect/>
          </a:stretch>
        </p:blipFill>
        <p:spPr>
          <a:xfrm>
            <a:off x="0" y="4424045"/>
            <a:ext cx="2672715" cy="2433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37288"/>
          <a:stretch>
            <a:fillRect/>
          </a:stretch>
        </p:blipFill>
        <p:spPr>
          <a:xfrm>
            <a:off x="9753600" y="0"/>
            <a:ext cx="2438400" cy="20643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6395" y="796925"/>
            <a:ext cx="6092190" cy="582422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</a:t>
            </a:r>
            <a:endParaRPr lang="en-US" altLang="zh-CN" sz="20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今天:today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yuè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月:month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rì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日:day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xīnɡqī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星 期:week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de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的 particle  of (used after an attributive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word or phrase)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shēnɡrì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生 日:birthday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955915" y="963930"/>
            <a:ext cx="3982085" cy="54902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xiàkè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下 课:class is over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yǐhòu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以后:after,later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zhǔnbèi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准 备:intend,plan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prepare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qǐnɡ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请:invite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chī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 吃:eat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fàn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 饭:meal  </a:t>
            </a:r>
            <a:endParaRPr lang="zh-CN" altLang="en-US"/>
          </a:p>
        </p:txBody>
      </p:sp>
      <p:pic>
        <p:nvPicPr>
          <p:cNvPr id="7" name="8-3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928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250170" y="468630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556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4408170" y="1302385"/>
            <a:ext cx="7265670" cy="397827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jǐ yuè jǐ rì？ = jīntiān jǐ yuè jǐ hào？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 天   几 月  几 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=  今 天  几 月  几 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号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（What's the  date today?）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yuè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rì。 =  jīntiān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yuè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hào。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今 天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月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日。 =   今 天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月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号。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sz="222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endParaRPr lang="zh-CN" altLang="en-US" sz="222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40915" y="1188720"/>
            <a:ext cx="1881505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今天:today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yuè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月:month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rì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日:day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rì = hào </a:t>
            </a:r>
            <a:endParaRPr kumimoji="0" lang="en-US" altLang="zh-CN" sz="2000" i="0" u="none" strike="noStrike" kern="1200" cap="none" spc="0" normalizeH="0" baseline="0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日 = 号</a:t>
            </a:r>
            <a:endParaRPr kumimoji="0" lang="en-US" altLang="zh-CN" sz="2000" i="0" u="none" strike="noStrike" kern="1200" cap="none" spc="0" normalizeH="0" baseline="0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4704080" y="386080"/>
            <a:ext cx="4998085" cy="34163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   生 日 是 几 月  几 号 ？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（What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day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is your birthday?）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的   生 日 是……。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My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birthday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is……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22935" y="1568450"/>
            <a:ext cx="4081145" cy="3797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de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的   particle  of (used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after an attributive word or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phrase)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shēnɡrì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生 日:birthday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704080" y="3906520"/>
            <a:ext cx="4512310" cy="17957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shēnɡrì kuàilè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生  日 快 乐！</a:t>
            </a:r>
            <a:endParaRPr sz="24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Happy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birthday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!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02165" y="3152775"/>
            <a:ext cx="2565400" cy="3705225"/>
          </a:xfrm>
          <a:prstGeom prst="round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853305" y="650240"/>
            <a:ext cx="518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nǐ  de   shēnɡ rì   shì   jǐ  yuè  jǐ  hào </a:t>
            </a:r>
            <a:endParaRPr lang="en-US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48555" y="2000250"/>
            <a:ext cx="2895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wǒ de shēnɡ rì shì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077845" y="80645"/>
            <a:ext cx="3917315" cy="6413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xīnɡqīyī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星 期一：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Monday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xīnɡqīèr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星 期二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</a:t>
            </a:r>
            <a:r>
              <a:rPr lang="zh-CN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Tuesday</a:t>
            </a:r>
            <a:endParaRPr lang="zh-CN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zh-CN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xīnɡqīsān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星 期三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Wednesday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xīnɡqīsì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星 期四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:Thursday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xīnɡqīwǔ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星 期五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:Friday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xīnɡqīliù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星 期六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:Saturday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xīnɡqīrì / xīnɡqītiān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星 期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/  星 期 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天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:Sunday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5595" y="2526665"/>
            <a:ext cx="2338070" cy="159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xīnɡqī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星 期:week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endParaRPr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300"/>
              </a:lnSpc>
              <a:spcBef>
                <a:spcPts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7118985" y="1420495"/>
            <a:ext cx="4846320" cy="356933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xīnɡqījǐ？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  天 （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是）  星 期几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 What day is it today? )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jīntiān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  天 （是 ） 星 期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 。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113915" y="2974975"/>
            <a:ext cx="3041650" cy="3032760"/>
          </a:xfr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>
            <a:normAutofit/>
          </a:bodyPr>
          <a:p>
            <a:pPr algn="l" fontAlgn="base">
              <a:lnSpc>
                <a:spcPct val="80000"/>
              </a:lnSpc>
            </a:pPr>
            <a:r>
              <a:rPr lang="en-US" altLang="zh-CN" sz="2000" b="1" strike="noStrike" noProof="1" dirty="0">
                <a:solidFill>
                  <a:srgbClr val="002060"/>
                </a:solidFill>
                <a:sym typeface="+mn-ea"/>
              </a:rPr>
              <a:t> </a:t>
            </a:r>
            <a:endParaRPr lang="en-US" altLang="zh-CN" sz="2000" b="1" strike="noStrike" noProof="1" dirty="0">
              <a:solidFill>
                <a:srgbClr val="002060"/>
              </a:solidFill>
              <a:sym typeface="+mn-ea"/>
            </a:endParaRPr>
          </a:p>
          <a:p>
            <a:pPr algn="l" fontAlgn="base">
              <a:lnSpc>
                <a:spcPct val="80000"/>
              </a:lnSpc>
            </a:pPr>
            <a:r>
              <a:rPr sz="2000" b="1">
                <a:solidFill>
                  <a:srgbClr val="00206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002060"/>
                </a:solidFill>
                <a:sym typeface="+mn-ea"/>
              </a:rPr>
              <a:t>………</a:t>
            </a:r>
            <a:r>
              <a:rPr sz="2000" b="1">
                <a:solidFill>
                  <a:srgbClr val="002060"/>
                </a:solidFill>
                <a:sym typeface="+mn-ea"/>
              </a:rPr>
              <a:t> </a:t>
            </a:r>
            <a:r>
              <a:rPr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yǐhòu </a:t>
            </a:r>
            <a:endParaRPr lang="zh-CN" altLang="en-US" sz="2000" b="1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do sth </a:t>
            </a:r>
            <a:r>
              <a:rPr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+ 以 后  </a:t>
            </a:r>
            <a:endParaRPr lang="zh-CN" altLang="en-US" sz="2000" b="1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xiàkè 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 课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xuéxí hànyǔ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学 习 汉语</a:t>
            </a:r>
            <a:endParaRPr lang="zh-CN" altLang="zh-CN" sz="4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043430" y="452755"/>
            <a:ext cx="3533775" cy="2386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xiàkè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下 课:class is over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yǐhòu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以后:after,later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5501640" y="3030855"/>
            <a:ext cx="4770120" cy="2921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xiàkè yǐhòu， nǐ qù nǎr？ </a:t>
            </a:r>
            <a:endParaRPr lang="zh-CN" altLang="en-US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下课  以后，  你 去 哪儿？ </a:t>
            </a:r>
            <a:endParaRPr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(Where are you going after class?)</a:t>
            </a:r>
            <a:r>
              <a:rPr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xiàkè yǐhòu， wǒqù …… </a:t>
            </a:r>
            <a:endParaRPr lang="en-US" altLang="zh-CN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下课 以后，  我去</a:t>
            </a: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…… </a:t>
            </a:r>
            <a:r>
              <a:rPr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(After class, I'll go……)</a:t>
            </a:r>
            <a:endParaRPr lang="en-US" altLang="zh-CN" sz="20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637665" y="784860"/>
            <a:ext cx="3046095" cy="1181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zhǔnbèi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</a:t>
            </a:r>
            <a:r>
              <a:rPr lang="en-US" altLang="zh-CN" sz="20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准 备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:intend,plan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1637665" y="2219960"/>
            <a:ext cx="6656070" cy="35902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lIns="90000" tIns="46800" rIns="90000" bIns="46800" rtlCol="0" anchor="t">
            <a:normAutofit fontScale="90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2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xīnɡqīliù nǐ zhǔnbèi qù nǎr？ </a:t>
            </a:r>
            <a:endParaRPr kumimoji="0" lang="zh-CN" altLang="en-US" sz="2220" i="0" u="none" strike="noStrike" kern="1200" cap="none" spc="0" normalizeH="0" baseline="0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星 期 六 你  准 备  去 哪儿？ </a:t>
            </a:r>
            <a:endParaRPr kumimoji="0" lang="zh-CN" altLang="en-US" sz="2220" i="0" u="none" strike="noStrike" kern="1200" cap="none" spc="0" normalizeH="0" baseline="0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(Where are you going Saturday?)</a:t>
            </a:r>
            <a:endParaRPr sz="222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kumimoji="0" lang="zh-CN" altLang="en-US" sz="2220" i="0" u="none" strike="noStrike" kern="1200" cap="none" spc="0" normalizeH="0" baseline="0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xīnɡqīliù wǒ zhǔnbèi ……。  </a:t>
            </a:r>
            <a:endParaRPr sz="222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 星 期 六 我  准 备  ……。</a:t>
            </a: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22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(Saturday I'm going to..</a:t>
            </a: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....</a:t>
            </a:r>
            <a:r>
              <a:rPr sz="222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sz="2220" i="0" u="none" strike="noStrike" kern="1200" cap="none" spc="0" normalizeH="0" baseline="0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kumimoji="0" lang="zh-CN" altLang="en-US" sz="2220" i="0" u="none" strike="noStrike" kern="1200" cap="none" spc="0" normalizeH="0" baseline="0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18080" y="0"/>
            <a:ext cx="253936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chī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 吃:eat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fàn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 饭:meal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chīfàn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吃 饭: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have meal </a:t>
            </a:r>
            <a:endParaRPr lang="zh-CN" altLang="en-US" sz="2000" b="1">
              <a:solidFill>
                <a:srgbClr val="0070C0"/>
              </a:solidFill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260975" y="424815"/>
            <a:ext cx="4221480" cy="1915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lIns="90000" tIns="46800" rIns="90000" bIns="46800" rtlCol="0" anchor="t">
            <a:sp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sz="2800">
                <a:solidFill>
                  <a:srgbClr val="00206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你去哪儿吃饭？</a:t>
            </a:r>
            <a:endParaRPr lang="en-US" altLang="zh-CN" sz="2800">
              <a:solidFill>
                <a:srgbClr val="002060"/>
              </a:solidFill>
              <a:effectLst/>
              <a:latin typeface="华文楷体" panose="02010600040101010101" charset="-122"/>
              <a:ea typeface="华文楷体" panose="02010600040101010101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sz="2800">
                <a:solidFill>
                  <a:srgbClr val="00206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我去饭馆吃饭。</a:t>
            </a:r>
            <a:endParaRPr sz="2800">
              <a:solidFill>
                <a:srgbClr val="002060"/>
              </a:solidFill>
              <a:effectLst/>
              <a:latin typeface="华文楷体" panose="02010600040101010101" charset="-122"/>
              <a:ea typeface="华文楷体" panose="02010600040101010101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sz="2800">
                <a:solidFill>
                  <a:srgbClr val="00206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我去食堂（shí tánɡ）吃饭。</a:t>
            </a: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DFBFE">
                  <a:alpha val="100000"/>
                </a:srgbClr>
              </a:clrFrom>
              <a:clrTo>
                <a:srgbClr val="FDFB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3425" y="235585"/>
            <a:ext cx="2439035" cy="2513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2161540" y="3429000"/>
            <a:ext cx="3616325" cy="1398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-2286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</a:pPr>
            <a:r>
              <a:rPr lang="zh-CN" altLang="en-US" sz="2800">
                <a:solidFill>
                  <a:srgbClr val="002060"/>
                </a:solidFill>
                <a:effectLst/>
                <a:uFillTx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</a:rPr>
              <a:t>你想吃什么？</a:t>
            </a:r>
            <a:endParaRPr lang="zh-CN" altLang="en-US" sz="2800">
              <a:solidFill>
                <a:srgbClr val="002060"/>
              </a:solidFill>
              <a:effectLst/>
              <a:uFillTx/>
              <a:latin typeface="华文楷体" panose="02010600040101010101" charset="-122"/>
              <a:ea typeface="华文楷体" panose="02010600040101010101" charset="-122"/>
              <a:cs typeface="宋体" panose="02010600030101010101" pitchFamily="2" charset="-122"/>
            </a:endParaRPr>
          </a:p>
          <a:p>
            <a:pPr indent="-2286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</a:pPr>
            <a:r>
              <a:rPr lang="zh-CN" altLang="en-US" sz="2800">
                <a:solidFill>
                  <a:srgbClr val="002060"/>
                </a:solidFill>
                <a:effectLst/>
                <a:uFillTx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</a:rPr>
              <a:t>我想吃米饭（mǐ fàn）。</a:t>
            </a:r>
            <a:endParaRPr lang="zh-CN" altLang="en-US" sz="2800">
              <a:solidFill>
                <a:srgbClr val="002060"/>
              </a:solidFill>
              <a:effectLst/>
              <a:uFillTx/>
              <a:latin typeface="华文楷体" panose="02010600040101010101" charset="-122"/>
              <a:ea typeface="华文楷体" panose="02010600040101010101" charset="-122"/>
              <a:cs typeface="宋体" panose="02010600030101010101" pitchFamily="2" charset="-122"/>
            </a:endParaRPr>
          </a:p>
          <a:p>
            <a:endParaRPr lang="zh-CN" altLang="en-US"/>
          </a:p>
        </p:txBody>
      </p:sp>
      <p:pic>
        <p:nvPicPr>
          <p:cNvPr id="15362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00520" y="2853690"/>
            <a:ext cx="2198370" cy="14662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94170" y="4302760"/>
            <a:ext cx="1727835" cy="1727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01180" y="6030595"/>
            <a:ext cx="11131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jiǎozi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饺 子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08795" y="3264535"/>
            <a:ext cx="1750060" cy="17278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338310" y="5182235"/>
            <a:ext cx="11912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miàntiáo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面  条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637665" y="784860"/>
            <a:ext cx="3046095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qǐnɡ </a:t>
            </a:r>
            <a:endParaRPr lang="en-US" altLang="zh-CN" sz="24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请:invite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928110" y="784860"/>
            <a:ext cx="7915275" cy="48621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wrap="square" lIns="90000" tIns="46800" rIns="90000" bIns="46800" rtlCol="0" anchor="t">
            <a:sp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b="1">
                <a:solidFill>
                  <a:srgbClr val="002060"/>
                </a:solidFill>
                <a:sym typeface="+mn-ea"/>
              </a:rPr>
              <a:t> </a:t>
            </a:r>
            <a:endParaRPr lang="en-US" altLang="zh-CN" sz="2000" b="1">
              <a:solidFill>
                <a:srgbClr val="002060"/>
              </a:solidFill>
              <a:sym typeface="+mn-ea"/>
            </a:endParaRPr>
          </a:p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  + </a:t>
            </a:r>
            <a:r>
              <a:rPr sz="28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请   </a:t>
            </a:r>
            <a:r>
              <a:rPr lang="en-US" altLang="zh-CN" sz="28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 B    +   do sth</a:t>
            </a:r>
            <a:endParaRPr lang="en-US" altLang="zh-CN" sz="2800" b="1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 qǐnɡ nǐ   </a:t>
            </a: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chīfàn </a:t>
            </a:r>
            <a:endParaRPr lang="en-US" altLang="zh-CN" sz="24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请  你    </a:t>
            </a:r>
            <a:r>
              <a:rPr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吃饭。</a:t>
            </a:r>
            <a:endParaRPr lang="en-US" altLang="zh-CN" sz="24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 qǐnɡ wǒ </a:t>
            </a:r>
            <a:r>
              <a:rPr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kàn diàn yǐnɡ</a:t>
            </a: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4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朋 友   请  我  </a:t>
            </a:r>
            <a:r>
              <a:rPr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看</a:t>
            </a: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 u="sng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电影</a:t>
            </a:r>
            <a:r>
              <a:rPr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。（</a:t>
            </a: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film</a:t>
            </a:r>
            <a:r>
              <a:rPr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movie</a:t>
            </a:r>
            <a:r>
              <a:rPr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sz="24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nǐ xiǎnɡ qǐnɡ shuí chīfàn？ </a:t>
            </a:r>
            <a:endParaRPr lang="en-US" altLang="zh-CN" sz="24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 想    请  谁   吃 饭？</a:t>
            </a:r>
            <a:endParaRPr lang="en-US" altLang="zh-CN" sz="24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(Who do you want to treat?)</a:t>
            </a:r>
            <a:endParaRPr lang="en-US" altLang="zh-CN" sz="24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BFBFB">
                  <a:alpha val="100000"/>
                </a:srgbClr>
              </a:clrFrom>
              <a:clrTo>
                <a:srgbClr val="FBFB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660" y="3954780"/>
            <a:ext cx="3606800" cy="26269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one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838325" y="2080895"/>
            <a:ext cx="8039100" cy="184975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jiǔyuè èrshíbá rì， xīnɡqīèr，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shì línnà de shēnɡrì。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今 天   九 月 二十 八 日，  星 期二，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  林 娜 的  生 日。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xiàkè yǐhòu，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tónɡxuémen zhǔnbèi yìqǐ qǐnɡ tā chīfàn。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下课 以后，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同  学们   准 备  一起  请  她  吃 饭。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8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794240" y="51816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502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one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240915" y="1273810"/>
            <a:ext cx="7106285" cy="48882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jǐyuè jǐhào？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今 天  几 月 几 号？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jīntiān xīnɡqījǐ？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今 天   星 期几？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línnà de shēnɡrì shì jīntiān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林娜 的  生 日  是   今 天  吗？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xiàkè yǐhòu， tónɡxuémen zhǔnbèi zuò shénme？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下课 以后，   同 学 们   准 备  做   什么？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one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838325" y="2080895"/>
            <a:ext cx="8708390" cy="33134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今天 九月 二十八日，  星 期二， 是 林 娜 的  生 日。</a:t>
            </a:r>
            <a:endParaRPr lang="en-US" sz="28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endParaRPr lang="en-US" sz="28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下课 以后，同 学们  准备  一起  请 她 吃 饭。</a:t>
            </a: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8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794240" y="51816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502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2277110" y="1530350"/>
            <a:ext cx="9001760" cy="2981325"/>
          </a:xfrm>
          <a:solidFill>
            <a:schemeClr val="tx2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4560000" scaled="1"/>
            </a:gradFill>
          </a:ln>
          <a:effectLst/>
        </p:spPr>
        <p:txBody>
          <a:bodyPr anchor="t">
            <a:noAutofit/>
          </a:bodyPr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yuè 20 hào。 — —jīntiān 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búshì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12 yuè 20 hào。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今 天 （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是） 12 月  20 号。 — —  今 天 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不是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12 月  20 号。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xīnɡqīsì。 — —   jīntiān 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búshì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xīnɡqīsì。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今 天  （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是） 星 期四。 — —    今 天  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不是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星 期四。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sz="2000">
              <a:solidFill>
                <a:schemeClr val="tx2">
                  <a:lumMod val="20000"/>
                  <a:lumOff val="8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01295" y="80645"/>
            <a:ext cx="3188335" cy="2363470"/>
            <a:chOff x="-362277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2277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语法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Grammar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1570" y="2444115"/>
            <a:ext cx="6183630" cy="21520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 b="0">
                <a:effectLst/>
              </a:rPr>
              <a:t>Please answer the following questions</a:t>
            </a:r>
            <a:endParaRPr lang="en-US" altLang="zh-CN" b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、你的生日是几月几号？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</a:t>
            </a:r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、你星期几有汉语课？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、你想请朋友去哪儿吃饭？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</a:t>
            </a:r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、下课以后，你做什么？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</a:t>
            </a:r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、星期日你准备做什么？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UNIT_PLACING_PICTURE_USER_VIEWPORT" val="{&quot;height&quot;:3347.5007874015746,&quot;width&quot;:5020}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PP_MARK_KEY" val="8e407b73-8b0f-4b1c-910d-5baf691ff24d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3046</Words>
  <Application>WPS 演示</Application>
  <PresentationFormat>宽屏</PresentationFormat>
  <Paragraphs>291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Century</vt:lpstr>
      <vt:lpstr>Arial Unicode MS</vt:lpstr>
      <vt:lpstr>Office 主题​​</vt:lpstr>
      <vt:lpstr> jīntiān jǐ hào？  8 今 天  几 号？   Lesson 8 What's the date today?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Please answer the following 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151</cp:revision>
  <dcterms:created xsi:type="dcterms:W3CDTF">2019-08-11T11:31:00Z</dcterms:created>
  <dcterms:modified xsi:type="dcterms:W3CDTF">2025-10-23T01:36:03Z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543028BF1FE8429A950E24AEC4265BDA</vt:lpwstr>
  </property>
</Properties>
</file>