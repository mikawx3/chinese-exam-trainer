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332" r:id="rId3"/>
    <p:sldId id="304" r:id="rId4"/>
    <p:sldId id="274" r:id="rId5"/>
    <p:sldId id="266" r:id="rId6"/>
    <p:sldId id="273" r:id="rId7"/>
    <p:sldId id="333" r:id="rId8"/>
    <p:sldId id="267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28" r:id="rId25"/>
    <p:sldId id="329" r:id="rId26"/>
    <p:sldId id="330" r:id="rId28"/>
    <p:sldId id="287" r:id="rId29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64" d="100"/>
          <a:sy n="64" d="100"/>
        </p:scale>
        <p:origin x="-1324" y="-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gs" Target="tags/tag16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173157"/>
            <a:ext cx="103632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16955" y="2643182"/>
            <a:ext cx="8893821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924181"/>
            <a:ext cx="103632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28747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3843" y="1071546"/>
            <a:ext cx="6815667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572111" y="1071546"/>
            <a:ext cx="4011084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7" y="285728"/>
            <a:ext cx="10974657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32" y="642918"/>
            <a:ext cx="1047757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90563" y="541340"/>
            <a:ext cx="8553459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29773" y="1000108"/>
            <a:ext cx="1219157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25024" y="274639"/>
            <a:ext cx="2057376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820173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2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8890412" y="4915143"/>
            <a:ext cx="3301588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1219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6096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3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12192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  <a:p>
            <a:pPr lvl="1" eaLnBrk="1" latinLnBrk="0" hangingPunct="1"/>
            <a:r>
              <a:rPr kumimoji="0" lang="zh-CN" altLang="en-US" smtClean="0"/>
              <a:t>第二级</a:t>
            </a:r>
            <a:endParaRPr kumimoji="0" lang="zh-CN" altLang="en-US" smtClean="0"/>
          </a:p>
          <a:p>
            <a:pPr lvl="2" eaLnBrk="1" latinLnBrk="0" hangingPunct="1"/>
            <a:r>
              <a:rPr kumimoji="0" lang="zh-CN" altLang="en-US" smtClean="0"/>
              <a:t>第三级</a:t>
            </a:r>
            <a:endParaRPr kumimoji="0" lang="zh-CN" altLang="en-US" smtClean="0"/>
          </a:p>
          <a:p>
            <a:pPr lvl="3" eaLnBrk="1" latinLnBrk="0" hangingPunct="1"/>
            <a:r>
              <a:rPr kumimoji="0" lang="zh-CN" altLang="en-US" smtClean="0"/>
              <a:t>第四级</a:t>
            </a:r>
            <a:endParaRPr kumimoji="0" lang="zh-CN" altLang="en-US" smtClean="0"/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 panose="05020102010507070707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 panose="05020102010507070707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 panose="05020102010507070707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 panose="050201020105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jpeg"/><Relationship Id="rId3" Type="http://schemas.openxmlformats.org/officeDocument/2006/relationships/image" Target="../media/image11.png"/><Relationship Id="rId2" Type="http://schemas.microsoft.com/office/2007/relationships/media" Target="../media/media1.mp3"/><Relationship Id="rId1" Type="http://schemas.openxmlformats.org/officeDocument/2006/relationships/audio" Target="../media/media1.mp3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jpeg"/><Relationship Id="rId3" Type="http://schemas.openxmlformats.org/officeDocument/2006/relationships/image" Target="../media/image11.png"/><Relationship Id="rId2" Type="http://schemas.microsoft.com/office/2007/relationships/media" Target="../media/media1.mp3"/><Relationship Id="rId1" Type="http://schemas.openxmlformats.org/officeDocument/2006/relationships/audio" Target="../media/media1.mp3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GIF"/><Relationship Id="rId1" Type="http://schemas.openxmlformats.org/officeDocument/2006/relationships/image" Target="../media/image15.GI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GI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GI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GI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GI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GI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 </a:t>
            </a:r>
            <a:r>
              <a:rPr lang="zh-CN" altLang="en-US" dirty="0" smtClean="0"/>
              <a:t> 你学习法语吗？</a:t>
            </a:r>
            <a:endParaRPr lang="zh-CN" altLang="en-US" dirty="0"/>
          </a:p>
        </p:txBody>
      </p:sp>
      <p:pic>
        <p:nvPicPr>
          <p:cNvPr id="4" name="内容占位符 3" descr="法语.jpg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21000" y="1958181"/>
            <a:ext cx="6350000" cy="3810000"/>
          </a:xfr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1;p21"/>
          <p:cNvSpPr/>
          <p:nvPr/>
        </p:nvSpPr>
        <p:spPr>
          <a:xfrm>
            <a:off x="0" y="127000"/>
            <a:ext cx="4126230" cy="54737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课 </a:t>
            </a:r>
            <a:r>
              <a:rPr lang="zh-CN" altLang="en-US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文三   </a:t>
            </a: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Text </a:t>
            </a:r>
            <a:r>
              <a:rPr lang="en-US" alt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Three</a:t>
            </a:r>
            <a:endParaRPr lang="en-US" altLang="en-GB" sz="2800" b="1" dirty="0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8225" y="1121410"/>
            <a:ext cx="10657840" cy="16891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fontAlgn="auto">
              <a:lnSpc>
                <a:spcPts val="3780"/>
              </a:lnSpc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New Words</a:t>
            </a:r>
            <a:r>
              <a:rPr lang="en-US" altLang="zh-CN" sz="2400" dirty="0"/>
              <a:t>:</a:t>
            </a:r>
            <a:endParaRPr lang="en-US" altLang="zh-CN" sz="2400" dirty="0"/>
          </a:p>
          <a:p>
            <a:pPr fontAlgn="auto">
              <a:lnSpc>
                <a:spcPts val="4340"/>
              </a:lnSpc>
            </a:pPr>
            <a:r>
              <a:rPr lang="en-US" altLang="zh-CN" sz="3200" dirty="0"/>
              <a:t>1.    </a:t>
            </a:r>
            <a:r>
              <a:rPr lang="zh-CN" altLang="en-US" sz="3200" dirty="0"/>
              <a:t>谁（shé</a:t>
            </a:r>
            <a:r>
              <a:rPr lang="en-US" altLang="zh-CN" sz="3200" dirty="0"/>
              <a:t>i</a:t>
            </a:r>
            <a:r>
              <a:rPr lang="zh-CN" altLang="en-US" sz="3200" dirty="0"/>
              <a:t>）</a:t>
            </a:r>
            <a:r>
              <a:rPr lang="en-US" altLang="zh-CN" sz="3200" dirty="0"/>
              <a:t>/</a:t>
            </a:r>
            <a:r>
              <a:rPr lang="zh-CN" altLang="en-US" sz="3200" dirty="0"/>
              <a:t>（shuí）      </a:t>
            </a:r>
            <a:r>
              <a:rPr lang="en-US" altLang="zh-CN" sz="3200" dirty="0"/>
              <a:t>       pron</a:t>
            </a:r>
            <a:r>
              <a:rPr lang="en-US" altLang="zh-CN" sz="3200" dirty="0"/>
              <a:t>.       </a:t>
            </a:r>
            <a:r>
              <a:rPr lang="en-US" altLang="zh-CN" sz="3200" dirty="0">
                <a:solidFill>
                  <a:schemeClr val="accent6">
                    <a:lumMod val="75000"/>
                  </a:schemeClr>
                </a:solidFill>
              </a:rPr>
              <a:t> who,whom</a:t>
            </a:r>
            <a:endParaRPr lang="en-US" altLang="zh-CN" sz="3200" dirty="0">
              <a:solidFill>
                <a:schemeClr val="accent6">
                  <a:lumMod val="75000"/>
                </a:schemeClr>
              </a:solidFill>
            </a:endParaRPr>
          </a:p>
          <a:p>
            <a:pPr algn="l" fontAlgn="auto">
              <a:lnSpc>
                <a:spcPts val="4340"/>
              </a:lnSpc>
              <a:buClrTx/>
              <a:buSzTx/>
              <a:buFontTx/>
            </a:pPr>
            <a:r>
              <a:rPr lang="en-US" altLang="zh-CN" sz="2800" dirty="0">
                <a:solidFill>
                  <a:schemeClr val="tx1"/>
                </a:solidFill>
              </a:rPr>
              <a:t>2.    </a:t>
            </a:r>
            <a:r>
              <a:rPr lang="zh-CN" altLang="en-US" sz="3200" dirty="0">
                <a:solidFill>
                  <a:schemeClr val="tx1"/>
                </a:solidFill>
              </a:rPr>
              <a:t>同学（tónɡ xué）   </a:t>
            </a:r>
            <a:r>
              <a:rPr lang="zh-CN" altLang="en-US" sz="2800" dirty="0">
                <a:solidFill>
                  <a:schemeClr val="tx1"/>
                </a:solidFill>
              </a:rPr>
              <a:t>                   </a:t>
            </a:r>
            <a:r>
              <a:rPr lang="en-US" altLang="zh-CN" sz="2800" dirty="0">
                <a:solidFill>
                  <a:schemeClr val="tx1"/>
                </a:solidFill>
              </a:rPr>
              <a:t>n.      </a:t>
            </a: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</a:rPr>
              <a:t>               </a:t>
            </a:r>
            <a:r>
              <a:rPr lang="en-US" altLang="zh-CN" sz="3200" dirty="0">
                <a:solidFill>
                  <a:schemeClr val="accent6">
                    <a:lumMod val="75000"/>
                  </a:schemeClr>
                </a:solidFill>
              </a:rPr>
              <a:t>classmate</a:t>
            </a:r>
            <a:endParaRPr lang="en-US" altLang="zh-CN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" name="图片 1" descr="505082377[2]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630" y="3180715"/>
            <a:ext cx="5080000" cy="3384550"/>
          </a:xfrm>
          <a:prstGeom prst="rect">
            <a:avLst/>
          </a:prstGeom>
        </p:spPr>
      </p:pic>
      <p:sp>
        <p:nvSpPr>
          <p:cNvPr id="5" name="云形标注 4"/>
          <p:cNvSpPr/>
          <p:nvPr/>
        </p:nvSpPr>
        <p:spPr>
          <a:xfrm>
            <a:off x="6593840" y="3180715"/>
            <a:ext cx="3660775" cy="1831975"/>
          </a:xfrm>
          <a:prstGeom prst="cloudCallout">
            <a:avLst>
              <a:gd name="adj1" fmla="val -84000"/>
              <a:gd name="adj2" fmla="val 13319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en-US" altLang="zh-CN" sz="2800"/>
              <a:t>A:</a:t>
            </a:r>
            <a:r>
              <a:rPr lang="zh-CN" altLang="en-US" sz="2800"/>
              <a:t>她</a:t>
            </a:r>
            <a:r>
              <a:rPr lang="zh-CN" altLang="en-US" sz="2800"/>
              <a:t>是谁？</a:t>
            </a:r>
            <a:endParaRPr lang="zh-CN" altLang="en-US" sz="2800"/>
          </a:p>
          <a:p>
            <a:pPr algn="l"/>
            <a:r>
              <a:rPr lang="en-US" altLang="zh-CN" sz="2800"/>
              <a:t>B:</a:t>
            </a:r>
            <a:r>
              <a:rPr lang="zh-CN" altLang="en-US" sz="2800"/>
              <a:t>她</a:t>
            </a:r>
            <a:r>
              <a:rPr lang="zh-CN" altLang="en-US" sz="2800"/>
              <a:t>是我同学。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3240" y="166370"/>
            <a:ext cx="7008495" cy="645160"/>
          </a:xfr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3600" dirty="0" smtClean="0">
                <a:solidFill>
                  <a:schemeClr val="bg2">
                    <a:lumMod val="25000"/>
                  </a:schemeClr>
                </a:solidFill>
              </a:rPr>
              <a:t>他是谁？你</a:t>
            </a:r>
            <a:r>
              <a:rPr lang="zh-CN" altLang="en-US" sz="3600" u="sng" dirty="0" smtClean="0">
                <a:solidFill>
                  <a:schemeClr val="bg2">
                    <a:lumMod val="25000"/>
                  </a:schemeClr>
                </a:solidFill>
              </a:rPr>
              <a:t>认识（rèn shi）</a:t>
            </a:r>
            <a:r>
              <a:rPr lang="zh-CN" altLang="en-US" sz="3600" dirty="0" smtClean="0">
                <a:solidFill>
                  <a:schemeClr val="bg2">
                    <a:lumMod val="25000"/>
                  </a:schemeClr>
                </a:solidFill>
              </a:rPr>
              <a:t>他吗？</a:t>
            </a:r>
            <a:endParaRPr lang="zh-CN" altLang="en-US" dirty="0"/>
          </a:p>
        </p:txBody>
      </p:sp>
      <p:pic>
        <p:nvPicPr>
          <p:cNvPr id="4" name="Picture 2" descr="C:\Users\lenovo\Pictures\u=2991619387,909085370&amp;fm=26&amp;gp=0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22960" y="1389380"/>
            <a:ext cx="2835275" cy="2247900"/>
          </a:xfrm>
          <a:prstGeom prst="rect">
            <a:avLst/>
          </a:prstGeom>
          <a:noFill/>
        </p:spPr>
      </p:pic>
      <p:pic>
        <p:nvPicPr>
          <p:cNvPr id="5" name="Picture 2" descr="C:\Users\lenovo\Pictures\20140717150109_tRjKX.thumb.700_0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39000" y="1173495"/>
            <a:ext cx="2112196" cy="2857500"/>
          </a:xfrm>
          <a:prstGeom prst="rect">
            <a:avLst/>
          </a:prstGeom>
          <a:noFill/>
        </p:spPr>
      </p:pic>
      <p:pic>
        <p:nvPicPr>
          <p:cNvPr id="2050" name="Picture 2" descr="C:\Users\lenovo\Pictures\u=4146719325,3909217812&amp;fm=26&amp;gp=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42795" y="1173738"/>
            <a:ext cx="3107928" cy="2116634"/>
          </a:xfrm>
          <a:prstGeom prst="rect">
            <a:avLst/>
          </a:prstGeom>
          <a:noFill/>
        </p:spPr>
      </p:pic>
      <p:sp>
        <p:nvSpPr>
          <p:cNvPr id="6" name="文本框 5"/>
          <p:cNvSpPr txBox="1"/>
          <p:nvPr/>
        </p:nvSpPr>
        <p:spPr>
          <a:xfrm>
            <a:off x="377190" y="4030980"/>
            <a:ext cx="39274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成龙（chénɡ lónɡ ）</a:t>
            </a:r>
            <a:endParaRPr lang="zh-CN" altLang="en-US" sz="3200"/>
          </a:p>
        </p:txBody>
      </p:sp>
      <p:sp>
        <p:nvSpPr>
          <p:cNvPr id="7" name="文本框 6"/>
          <p:cNvSpPr txBox="1"/>
          <p:nvPr/>
        </p:nvSpPr>
        <p:spPr>
          <a:xfrm>
            <a:off x="6855460" y="3637280"/>
            <a:ext cx="48533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我认识他，他不认识我。</a:t>
            </a:r>
            <a:endParaRPr lang="zh-CN" altLang="en-US" sz="3200"/>
          </a:p>
        </p:txBody>
      </p:sp>
      <p:pic>
        <p:nvPicPr>
          <p:cNvPr id="8" name="图片 7" descr="VCG2117c7ecd45[1]"/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rcRect t="7583" r="4808"/>
          <a:stretch>
            <a:fillRect/>
          </a:stretch>
        </p:blipFill>
        <p:spPr>
          <a:xfrm>
            <a:off x="1264920" y="4754880"/>
            <a:ext cx="2798445" cy="2102485"/>
          </a:xfrm>
          <a:prstGeom prst="heart">
            <a:avLst/>
          </a:prstGeom>
          <a:ln>
            <a:solidFill>
              <a:srgbClr val="C00000"/>
            </a:solidFill>
          </a:ln>
        </p:spPr>
      </p:pic>
      <p:sp>
        <p:nvSpPr>
          <p:cNvPr id="9" name="文本框 8"/>
          <p:cNvSpPr txBox="1"/>
          <p:nvPr/>
        </p:nvSpPr>
        <p:spPr>
          <a:xfrm>
            <a:off x="5475605" y="4757420"/>
            <a:ext cx="40049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A:</a:t>
            </a:r>
            <a:r>
              <a:rPr lang="zh-CN" altLang="en-US" sz="3600"/>
              <a:t>他是谁？</a:t>
            </a:r>
            <a:endParaRPr lang="zh-CN" altLang="en-US" sz="3600"/>
          </a:p>
          <a:p>
            <a:r>
              <a:rPr lang="en-US" altLang="zh-CN" sz="3600"/>
              <a:t>B:</a:t>
            </a:r>
            <a:r>
              <a:rPr lang="zh-CN" altLang="en-US" sz="3600"/>
              <a:t>他是我好朋友。</a:t>
            </a:r>
            <a:endParaRPr lang="zh-CN" altLang="en-US" sz="3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42210" y="1546225"/>
            <a:ext cx="7641590" cy="3536315"/>
          </a:xfrm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 smtClean="0"/>
              <a:t>朱云：</a:t>
            </a:r>
            <a:r>
              <a:rPr lang="zh-CN" altLang="en-US" u="sng" dirty="0" smtClean="0"/>
              <a:t>林娜</a:t>
            </a:r>
            <a:r>
              <a:rPr lang="zh-CN" altLang="en-US" dirty="0" smtClean="0"/>
              <a:t>（lín nà），他是谁？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</a:rPr>
              <a:t>林娜：他是我同学。</a:t>
            </a:r>
            <a:endParaRPr lang="en-US" altLang="zh-CN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CN" altLang="en-US" dirty="0" smtClean="0"/>
              <a:t>朱云：他是哪国人？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</a:rPr>
              <a:t>林娜：他是</a:t>
            </a:r>
            <a:r>
              <a:rPr lang="zh-CN" altLang="en-US" u="sng" dirty="0" smtClean="0">
                <a:solidFill>
                  <a:schemeClr val="accent6">
                    <a:lumMod val="75000"/>
                  </a:schemeClr>
                </a:solidFill>
              </a:rPr>
              <a:t>泰国（tài ɡuó）</a:t>
            </a:r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</a:rPr>
              <a:t>人。</a:t>
            </a:r>
            <a:endParaRPr lang="en-US" altLang="zh-CN" dirty="0" smtClean="0"/>
          </a:p>
          <a:p>
            <a:r>
              <a:rPr lang="zh-CN" altLang="en-US" dirty="0" smtClean="0"/>
              <a:t>朱云：他也学习汉语吗？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</a:rPr>
              <a:t>林娜：他也学习汉语。</a:t>
            </a:r>
            <a:endParaRPr lang="zh-CN" altLang="en-US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Google Shape;171;p21"/>
          <p:cNvSpPr/>
          <p:nvPr/>
        </p:nvSpPr>
        <p:spPr>
          <a:xfrm>
            <a:off x="0" y="127000"/>
            <a:ext cx="4126230" cy="54737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课 </a:t>
            </a:r>
            <a:r>
              <a:rPr lang="zh-CN" altLang="en-US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文三   </a:t>
            </a: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Text </a:t>
            </a:r>
            <a:r>
              <a:rPr lang="en-US" alt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Three</a:t>
            </a:r>
            <a:endParaRPr lang="en-US" altLang="en-GB" sz="2800" b="1" dirty="0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pic>
        <p:nvPicPr>
          <p:cNvPr id="6" name="4-9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330815" y="322580"/>
            <a:ext cx="1059180" cy="833120"/>
          </a:xfrm>
          <a:prstGeom prst="rect">
            <a:avLst/>
          </a:prstGeom>
        </p:spPr>
      </p:pic>
      <p:pic>
        <p:nvPicPr>
          <p:cNvPr id="8" name="图片 7" descr="VCG41N939754756[1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725" y="4417060"/>
            <a:ext cx="3272790" cy="21850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33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61963"/>
            <a:ext cx="10972800" cy="768350"/>
          </a:xfrm>
        </p:spPr>
        <p:txBody>
          <a:bodyPr>
            <a:spAutoFit/>
          </a:bodyPr>
          <a:lstStyle/>
          <a:p>
            <a:r>
              <a:rPr lang="zh-CN" altLang="en-US" dirty="0" smtClean="0"/>
              <a:t>问题（wèn tí 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64790" y="1739900"/>
            <a:ext cx="6629400" cy="3745230"/>
          </a:xfrm>
          <a:ln>
            <a:solidFill>
              <a:schemeClr val="bg2">
                <a:lumMod val="50000"/>
              </a:schemeClr>
            </a:solidFill>
          </a:ln>
        </p:spPr>
        <p:txBody>
          <a:bodyPr>
            <a:normAutofit lnSpcReduction="20000"/>
          </a:bodyPr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、林娜的</a:t>
            </a:r>
            <a:r>
              <a:rPr lang="en-US" altLang="zh-CN" dirty="0" smtClean="0"/>
              <a:t>(de)</a:t>
            </a:r>
            <a:r>
              <a:rPr lang="zh-CN" altLang="en-US" dirty="0" smtClean="0"/>
              <a:t>同学是哪国人？</a:t>
            </a:r>
            <a:endParaRPr lang="zh-CN" altLang="en-US" dirty="0" smtClean="0"/>
          </a:p>
          <a:p>
            <a:r>
              <a:rPr lang="zh-CN" altLang="en-US" dirty="0" smtClean="0"/>
              <a:t>       </a:t>
            </a:r>
            <a:endParaRPr lang="zh-CN" altLang="en-US" dirty="0" smtClean="0"/>
          </a:p>
          <a:p>
            <a:r>
              <a:rPr lang="zh-CN" altLang="en-US" dirty="0" smtClean="0"/>
              <a:t>        </a:t>
            </a:r>
            <a:r>
              <a:rPr lang="zh-CN" altLang="en-US" dirty="0" smtClean="0">
                <a:solidFill>
                  <a:srgbClr val="7030A0"/>
                </a:solidFill>
              </a:rPr>
              <a:t>他是泰国人。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、他也学习汉语吗？</a:t>
            </a:r>
            <a:endParaRPr lang="zh-CN" altLang="en-US" dirty="0" smtClean="0"/>
          </a:p>
          <a:p>
            <a:r>
              <a:rPr lang="zh-CN" altLang="en-US" dirty="0"/>
              <a:t>          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zh-CN" altLang="en-US" dirty="0">
                <a:solidFill>
                  <a:srgbClr val="7030A0"/>
                </a:solidFill>
              </a:rPr>
              <a:t>他也学习汉语。</a:t>
            </a:r>
            <a:endParaRPr lang="zh-CN" altLang="en-US" dirty="0">
              <a:solidFill>
                <a:srgbClr val="7030A0"/>
              </a:solidFill>
            </a:endParaRPr>
          </a:p>
        </p:txBody>
      </p:sp>
      <p:pic>
        <p:nvPicPr>
          <p:cNvPr id="7" name="图片 6" descr="u=635876766,1860840709&amp;fm=26&amp;gp=0[1]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5234" b="17454"/>
          <a:stretch>
            <a:fillRect/>
          </a:stretch>
        </p:blipFill>
        <p:spPr>
          <a:xfrm rot="20460000">
            <a:off x="83820" y="551815"/>
            <a:ext cx="2253615" cy="1609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42210" y="1546225"/>
            <a:ext cx="7641590" cy="3536315"/>
          </a:xfrm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 smtClean="0"/>
              <a:t>朱云：</a:t>
            </a:r>
            <a:r>
              <a:rPr lang="zh-CN" altLang="en-US" u="sng" dirty="0" smtClean="0"/>
              <a:t>林娜</a:t>
            </a:r>
            <a:r>
              <a:rPr lang="zh-CN" altLang="en-US" dirty="0" smtClean="0"/>
              <a:t>（lín nà），他是</a:t>
            </a:r>
            <a:r>
              <a:rPr lang="en-US" altLang="zh-CN" dirty="0" smtClean="0"/>
              <a:t>……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</a:rPr>
              <a:t>林娜：他是我</a:t>
            </a:r>
            <a:r>
              <a:rPr lang="en-US" altLang="zh-CN" dirty="0" smtClean="0">
                <a:solidFill>
                  <a:schemeClr val="accent6">
                    <a:lumMod val="75000"/>
                  </a:schemeClr>
                </a:solidFill>
              </a:rPr>
              <a:t>……</a:t>
            </a:r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</a:rPr>
              <a:t>。</a:t>
            </a:r>
            <a:endParaRPr lang="en-US" altLang="zh-CN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CN" altLang="en-US" dirty="0" smtClean="0"/>
              <a:t>朱云：他是</a:t>
            </a:r>
            <a:r>
              <a:rPr lang="en-US" altLang="zh-CN" dirty="0" smtClean="0"/>
              <a:t>……</a:t>
            </a:r>
            <a:r>
              <a:rPr lang="zh-CN" altLang="en-US" dirty="0" smtClean="0"/>
              <a:t>人？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</a:rPr>
              <a:t>林娜：他是</a:t>
            </a:r>
            <a:r>
              <a:rPr lang="zh-CN" altLang="en-US" u="sng" dirty="0" smtClean="0">
                <a:solidFill>
                  <a:schemeClr val="accent6">
                    <a:lumMod val="75000"/>
                  </a:schemeClr>
                </a:solidFill>
              </a:rPr>
              <a:t>泰国（tài ɡuó）</a:t>
            </a:r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</a:rPr>
              <a:t>人。</a:t>
            </a:r>
            <a:endParaRPr lang="en-US" altLang="zh-CN" dirty="0" smtClean="0"/>
          </a:p>
          <a:p>
            <a:r>
              <a:rPr lang="zh-CN" altLang="en-US" dirty="0" smtClean="0"/>
              <a:t>朱云：他也</a:t>
            </a:r>
            <a:r>
              <a:rPr lang="en-US" altLang="zh-CN" dirty="0" smtClean="0"/>
              <a:t>……</a:t>
            </a:r>
            <a:r>
              <a:rPr lang="zh-CN" altLang="en-US" dirty="0" smtClean="0"/>
              <a:t>汉语吗？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</a:rPr>
              <a:t>林娜：他</a:t>
            </a:r>
            <a:r>
              <a:rPr lang="en-US" altLang="zh-CN" dirty="0" smtClean="0">
                <a:solidFill>
                  <a:schemeClr val="accent6">
                    <a:lumMod val="75000"/>
                  </a:schemeClr>
                </a:solidFill>
              </a:rPr>
              <a:t>……</a:t>
            </a:r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</a:rPr>
              <a:t>学习汉语。</a:t>
            </a:r>
            <a:endParaRPr lang="zh-CN" altLang="en-US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Google Shape;171;p21"/>
          <p:cNvSpPr/>
          <p:nvPr/>
        </p:nvSpPr>
        <p:spPr>
          <a:xfrm>
            <a:off x="0" y="127000"/>
            <a:ext cx="4126230" cy="54737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课 </a:t>
            </a:r>
            <a:r>
              <a:rPr lang="zh-CN" altLang="en-US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文三   </a:t>
            </a:r>
            <a:r>
              <a:rPr 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Text </a:t>
            </a:r>
            <a:r>
              <a:rPr lang="en-US" altLang="en-GB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Three</a:t>
            </a:r>
            <a:endParaRPr lang="en-US" altLang="en-GB" sz="2800" b="1" dirty="0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pic>
        <p:nvPicPr>
          <p:cNvPr id="6" name="4-9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330815" y="322580"/>
            <a:ext cx="1059180" cy="833120"/>
          </a:xfrm>
          <a:prstGeom prst="rect">
            <a:avLst/>
          </a:prstGeom>
        </p:spPr>
      </p:pic>
      <p:pic>
        <p:nvPicPr>
          <p:cNvPr id="8" name="图片 7" descr="VCG41N939754756[1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725" y="4417060"/>
            <a:ext cx="3272790" cy="21850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33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3700" y="1643380"/>
            <a:ext cx="5701665" cy="2637790"/>
          </a:xfrm>
          <a:ln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3600" dirty="0" smtClean="0">
                <a:solidFill>
                  <a:srgbClr val="FF0000"/>
                </a:solidFill>
              </a:rPr>
              <a:t>   S     +    V    +      O</a:t>
            </a:r>
            <a:endParaRPr lang="en-US" altLang="zh-CN" sz="3600" dirty="0" smtClean="0">
              <a:solidFill>
                <a:srgbClr val="FF0000"/>
              </a:solidFill>
            </a:endParaRPr>
          </a:p>
          <a:p>
            <a:r>
              <a:rPr lang="zh-CN" altLang="en-US" sz="3600" dirty="0" smtClean="0"/>
              <a:t>林娜      是      法国留学生。</a:t>
            </a:r>
            <a:endParaRPr lang="en-US" altLang="zh-CN" sz="3600" dirty="0" smtClean="0"/>
          </a:p>
          <a:p>
            <a:r>
              <a:rPr lang="zh-CN" altLang="en-US" sz="3600" dirty="0" smtClean="0"/>
              <a:t>你           叫      什么名字？</a:t>
            </a:r>
            <a:endParaRPr lang="en-US" altLang="zh-CN" sz="3600" dirty="0" smtClean="0"/>
          </a:p>
          <a:p>
            <a:r>
              <a:rPr lang="zh-CN" altLang="en-US" sz="3600" dirty="0" smtClean="0"/>
              <a:t>我         学习     英语。</a:t>
            </a:r>
            <a:endParaRPr lang="zh-CN" altLang="en-US" dirty="0"/>
          </a:p>
        </p:txBody>
      </p:sp>
      <p:sp>
        <p:nvSpPr>
          <p:cNvPr id="4" name="Google Shape;171;p21"/>
          <p:cNvSpPr/>
          <p:nvPr/>
        </p:nvSpPr>
        <p:spPr>
          <a:xfrm>
            <a:off x="0" y="127000"/>
            <a:ext cx="4126230" cy="54737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语法</a:t>
            </a:r>
            <a:r>
              <a:rPr lang="en-US" altLang="zh-CN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   Grammar </a:t>
            </a:r>
            <a:r>
              <a:rPr lang="zh-CN" altLang="en-US" sz="2800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  </a:t>
            </a:r>
            <a:endParaRPr lang="en-US" altLang="en-GB" sz="2800" b="1" dirty="0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9600" y="953135"/>
            <a:ext cx="8726805" cy="39878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p>
            <a:r>
              <a:rPr lang="en-US" altLang="zh-CN" sz="2000"/>
              <a:t>The word  order  of a sentence with  a verbal predicate is mostly S+V+O</a:t>
            </a:r>
            <a:endParaRPr lang="en-US" altLang="zh-CN" sz="2000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5919470" y="3799205"/>
            <a:ext cx="5496560" cy="2618105"/>
          </a:xfrm>
          <a:prstGeom prst="rect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txBody>
          <a:bodyPr vert="horz" rtlCol="0">
            <a:normAutofit fontScale="80000"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 panose="05020102010507070707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 panose="05020102010507070707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 smtClean="0">
                <a:solidFill>
                  <a:srgbClr val="FF0000"/>
                </a:solidFill>
              </a:rPr>
              <a:t>S     +  Adv   +   V    +      O</a:t>
            </a:r>
            <a:endParaRPr lang="en-US" altLang="zh-CN" sz="3600" dirty="0" smtClean="0">
              <a:solidFill>
                <a:srgbClr val="FF0000"/>
              </a:solidFill>
            </a:endParaRPr>
          </a:p>
          <a:p>
            <a:r>
              <a:rPr lang="zh-CN" altLang="en-US" sz="3600" dirty="0" smtClean="0"/>
              <a:t>我         </a:t>
            </a:r>
            <a:r>
              <a:rPr lang="zh-CN" altLang="en-US" sz="3600" dirty="0" smtClean="0">
                <a:solidFill>
                  <a:srgbClr val="C00000"/>
                </a:solidFill>
              </a:rPr>
              <a:t>不</a:t>
            </a:r>
            <a:r>
              <a:rPr lang="zh-CN" altLang="en-US" sz="3600" dirty="0" smtClean="0"/>
              <a:t>       学习        法语。</a:t>
            </a:r>
            <a:endParaRPr lang="en-US" altLang="zh-CN" sz="3600" dirty="0" smtClean="0"/>
          </a:p>
          <a:p>
            <a:r>
              <a:rPr lang="zh-CN" altLang="en-US" sz="3600" dirty="0" smtClean="0"/>
              <a:t>他          </a:t>
            </a:r>
            <a:r>
              <a:rPr lang="zh-CN" altLang="en-US" sz="3600" dirty="0" smtClean="0">
                <a:solidFill>
                  <a:srgbClr val="C00000"/>
                </a:solidFill>
              </a:rPr>
              <a:t>也 </a:t>
            </a:r>
            <a:r>
              <a:rPr lang="zh-CN" altLang="en-US" sz="3600" dirty="0" smtClean="0"/>
              <a:t>      是            中国人。</a:t>
            </a:r>
            <a:endParaRPr lang="en-US" altLang="zh-CN" sz="3600" dirty="0" smtClean="0"/>
          </a:p>
          <a:p>
            <a:r>
              <a:rPr lang="zh-CN" altLang="en-US" sz="3600" dirty="0" smtClean="0"/>
              <a:t>他们     </a:t>
            </a:r>
            <a:r>
              <a:rPr lang="zh-CN" altLang="en-US" sz="3600" dirty="0" smtClean="0">
                <a:solidFill>
                  <a:srgbClr val="C00000"/>
                </a:solidFill>
              </a:rPr>
              <a:t>一起 </a:t>
            </a:r>
            <a:r>
              <a:rPr lang="zh-CN" altLang="en-US" sz="3600" dirty="0" smtClean="0"/>
              <a:t>   说           汉语。</a:t>
            </a:r>
            <a:endParaRPr lang="en-US" altLang="zh-CN" sz="3600" dirty="0" smtClean="0"/>
          </a:p>
          <a:p>
            <a:endParaRPr lang="en-US" altLang="zh-CN" sz="3600" dirty="0" smtClean="0"/>
          </a:p>
          <a:p>
            <a:endParaRPr lang="zh-CN" altLang="en-US" sz="3600" dirty="0"/>
          </a:p>
        </p:txBody>
      </p:sp>
      <p:sp>
        <p:nvSpPr>
          <p:cNvPr id="6" name="文本框 5"/>
          <p:cNvSpPr txBox="1"/>
          <p:nvPr/>
        </p:nvSpPr>
        <p:spPr>
          <a:xfrm>
            <a:off x="311150" y="6049010"/>
            <a:ext cx="4773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the adverb is usually put in front of the verb.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语音知识 </a:t>
            </a:r>
            <a:r>
              <a:rPr lang="en-US" altLang="zh-CN" dirty="0" smtClean="0"/>
              <a:t>Phonetic Notes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1.         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   </a:t>
            </a:r>
            <a:r>
              <a:rPr lang="en-US" altLang="zh-CN" b="1" dirty="0" smtClean="0">
                <a:latin typeface="宋体" panose="02010600030101010101" pitchFamily="2" charset="-122"/>
              </a:rPr>
              <a:t>ü  </a:t>
            </a:r>
            <a:r>
              <a:rPr lang="en-US" altLang="zh-CN" dirty="0" smtClean="0"/>
              <a:t>u </a:t>
            </a:r>
            <a:endParaRPr lang="en-US" altLang="zh-CN" b="1" dirty="0" smtClean="0"/>
          </a:p>
          <a:p>
            <a:r>
              <a:rPr lang="en-US" altLang="zh-CN" dirty="0" smtClean="0"/>
              <a:t>When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,   </a:t>
            </a:r>
            <a:r>
              <a:rPr lang="en-US" altLang="zh-CN" b="1" dirty="0" smtClean="0">
                <a:latin typeface="宋体" panose="02010600030101010101" pitchFamily="2" charset="-122"/>
              </a:rPr>
              <a:t>ü  or </a:t>
            </a:r>
            <a:r>
              <a:rPr lang="en-US" altLang="zh-CN" dirty="0" smtClean="0"/>
              <a:t>u makes a syllable by itself, should be like this:</a:t>
            </a:r>
            <a:endParaRPr lang="en-US" altLang="zh-CN" dirty="0" smtClean="0"/>
          </a:p>
          <a:p>
            <a:r>
              <a:rPr lang="en-US" altLang="zh-CN" dirty="0" err="1" smtClean="0"/>
              <a:t>i→</a:t>
            </a:r>
            <a:r>
              <a:rPr lang="en-US" altLang="zh-CN" dirty="0" err="1" smtClean="0">
                <a:solidFill>
                  <a:srgbClr val="7030A0"/>
                </a:solidFill>
              </a:rPr>
              <a:t>y</a:t>
            </a:r>
            <a:r>
              <a:rPr lang="en-US" altLang="zh-CN" dirty="0" err="1" smtClean="0"/>
              <a:t>i</a:t>
            </a:r>
            <a:endParaRPr lang="en-US" altLang="zh-CN" dirty="0" smtClean="0"/>
          </a:p>
          <a:p>
            <a:r>
              <a:rPr lang="en-US" altLang="zh-CN" b="1" dirty="0" smtClean="0">
                <a:latin typeface="宋体" panose="02010600030101010101" pitchFamily="2" charset="-122"/>
              </a:rPr>
              <a:t>ü</a:t>
            </a:r>
            <a:r>
              <a:rPr lang="en-US" altLang="zh-CN" dirty="0" smtClean="0"/>
              <a:t> → </a:t>
            </a:r>
            <a:r>
              <a:rPr lang="en-US" altLang="zh-CN" dirty="0" err="1" smtClean="0">
                <a:solidFill>
                  <a:srgbClr val="7030A0"/>
                </a:solidFill>
              </a:rPr>
              <a:t>y</a:t>
            </a:r>
            <a:r>
              <a:rPr lang="en-US" altLang="zh-CN" dirty="0" err="1" smtClean="0"/>
              <a:t>u</a:t>
            </a:r>
            <a:endParaRPr lang="en-US" altLang="zh-CN" dirty="0" smtClean="0"/>
          </a:p>
          <a:p>
            <a:r>
              <a:rPr lang="en-US" altLang="zh-CN" dirty="0" smtClean="0"/>
              <a:t>u → </a:t>
            </a:r>
            <a:r>
              <a:rPr lang="en-US" altLang="zh-CN" dirty="0" err="1" smtClean="0">
                <a:solidFill>
                  <a:srgbClr val="FF0000"/>
                </a:solidFill>
              </a:rPr>
              <a:t>w</a:t>
            </a:r>
            <a:r>
              <a:rPr lang="en-US" altLang="zh-CN" dirty="0" err="1" smtClean="0"/>
              <a:t>u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语音知识 </a:t>
            </a:r>
            <a:r>
              <a:rPr lang="en-US" altLang="zh-CN" dirty="0" smtClean="0"/>
              <a:t>Phonetic Notes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2.  </a:t>
            </a:r>
            <a:r>
              <a:rPr lang="zh-CN" altLang="en-US" dirty="0" smtClean="0"/>
              <a:t>三声变调  </a:t>
            </a:r>
            <a:r>
              <a:rPr lang="en-US" altLang="zh-CN" dirty="0" smtClean="0"/>
              <a:t>Third-tone </a:t>
            </a:r>
            <a:r>
              <a:rPr lang="en-US" altLang="zh-CN" dirty="0" err="1" smtClean="0"/>
              <a:t>sandhi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n</a:t>
            </a:r>
            <a:r>
              <a:rPr lang="en-US" dirty="0" err="1" smtClean="0">
                <a:solidFill>
                  <a:srgbClr val="FF0000"/>
                </a:solidFill>
              </a:rPr>
              <a:t>ǐ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hǎo</a:t>
            </a:r>
            <a:r>
              <a:rPr lang="en-US" dirty="0" smtClean="0"/>
              <a:t> </a:t>
            </a:r>
            <a:r>
              <a:rPr lang="en-US" altLang="zh-CN" dirty="0" smtClean="0"/>
              <a:t>→</a:t>
            </a:r>
            <a:r>
              <a:rPr lang="en-US" dirty="0" smtClean="0"/>
              <a:t> </a:t>
            </a:r>
            <a:r>
              <a:rPr lang="en-US" dirty="0" err="1" smtClean="0"/>
              <a:t>n</a:t>
            </a:r>
            <a:r>
              <a:rPr lang="en-US" dirty="0" err="1" smtClean="0">
                <a:solidFill>
                  <a:srgbClr val="FF0000"/>
                </a:solidFill>
              </a:rPr>
              <a:t>í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hǎo</a:t>
            </a:r>
            <a:endParaRPr lang="en-US" dirty="0" smtClean="0"/>
          </a:p>
          <a:p>
            <a:endParaRPr lang="en-US" altLang="zh-CN" dirty="0" smtClean="0"/>
          </a:p>
          <a:p>
            <a:r>
              <a:rPr lang="en-US" dirty="0" err="1" smtClean="0"/>
              <a:t>f</a:t>
            </a:r>
            <a:r>
              <a:rPr lang="en-US" dirty="0" err="1" smtClean="0">
                <a:solidFill>
                  <a:srgbClr val="FF0000"/>
                </a:solidFill>
              </a:rPr>
              <a:t>ǎ</a:t>
            </a:r>
            <a:r>
              <a:rPr lang="en-US" dirty="0" err="1" smtClean="0"/>
              <a:t>yǔ</a:t>
            </a:r>
            <a:r>
              <a:rPr lang="en-US" dirty="0" smtClean="0"/>
              <a:t> </a:t>
            </a:r>
            <a:r>
              <a:rPr lang="en-US" altLang="zh-CN" dirty="0" smtClean="0"/>
              <a:t>→</a:t>
            </a:r>
            <a:r>
              <a:rPr lang="en-US" dirty="0" smtClean="0"/>
              <a:t>  </a:t>
            </a:r>
            <a:r>
              <a:rPr lang="en-US" dirty="0" err="1" smtClean="0"/>
              <a:t>f</a:t>
            </a:r>
            <a:r>
              <a:rPr lang="en-US" dirty="0" err="1" smtClean="0">
                <a:solidFill>
                  <a:srgbClr val="FF0000"/>
                </a:solidFill>
              </a:rPr>
              <a:t>á</a:t>
            </a:r>
            <a:r>
              <a:rPr lang="en-US" dirty="0" err="1" smtClean="0"/>
              <a:t>yǔ</a:t>
            </a:r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语音知识 </a:t>
            </a:r>
            <a:r>
              <a:rPr lang="en-US" altLang="zh-CN" dirty="0" smtClean="0"/>
              <a:t>Phonetic Notes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2847975"/>
          </a:xfrm>
        </p:spPr>
        <p:txBody>
          <a:bodyPr>
            <a:spAutoFit/>
          </a:bodyPr>
          <a:lstStyle/>
          <a:p>
            <a:r>
              <a:rPr lang="en-US" altLang="zh-CN" dirty="0" smtClean="0"/>
              <a:t>3. “</a:t>
            </a:r>
            <a:r>
              <a:rPr lang="zh-CN" altLang="en-US" dirty="0" smtClean="0"/>
              <a:t>不</a:t>
            </a:r>
            <a:r>
              <a:rPr lang="en-US" altLang="zh-CN" dirty="0" smtClean="0"/>
              <a:t>”</a:t>
            </a:r>
            <a:r>
              <a:rPr lang="zh-CN" altLang="en-US" dirty="0" smtClean="0"/>
              <a:t>的变调  </a:t>
            </a:r>
            <a:r>
              <a:rPr lang="en-US" altLang="zh-CN" dirty="0" smtClean="0"/>
              <a:t>tone sandhi of “</a:t>
            </a:r>
            <a:r>
              <a:rPr lang="zh-CN" altLang="en-US" dirty="0" smtClean="0"/>
              <a:t>不</a:t>
            </a:r>
            <a:r>
              <a:rPr lang="en-US" altLang="zh-CN" dirty="0" smtClean="0"/>
              <a:t>”</a:t>
            </a:r>
            <a:endParaRPr lang="en-US" altLang="zh-CN" dirty="0" smtClean="0"/>
          </a:p>
          <a:p>
            <a:r>
              <a:rPr lang="zh-CN" altLang="en-US" dirty="0"/>
              <a:t>不（bù）</a:t>
            </a:r>
            <a:r>
              <a:rPr lang="en-US" altLang="zh-CN" dirty="0"/>
              <a:t>becomes the second tone(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bú</a:t>
            </a:r>
            <a:r>
              <a:rPr lang="en-US" altLang="zh-CN" dirty="0"/>
              <a:t>) when  it is followed by a fourth-tone . For example,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不是（bù shì ）                      </a:t>
            </a:r>
            <a:endParaRPr lang="zh-CN" altLang="en-US" dirty="0"/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3783330" y="4036060"/>
            <a:ext cx="1686560" cy="260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176645" y="3757295"/>
            <a:ext cx="25996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200" dirty="0">
                <a:sym typeface="+mn-ea"/>
              </a:rPr>
              <a:t>不是</a:t>
            </a:r>
            <a:r>
              <a:rPr lang="zh-CN" altLang="en-US" sz="3200" dirty="0">
                <a:sym typeface="+mn-ea"/>
              </a:rPr>
              <a:t>（</a:t>
            </a:r>
            <a:r>
              <a:rPr lang="zh-CN" altLang="en-US" sz="3200" dirty="0">
                <a:solidFill>
                  <a:srgbClr val="FF0000"/>
                </a:solidFill>
                <a:sym typeface="+mn-ea"/>
              </a:rPr>
              <a:t>bú</a:t>
            </a:r>
            <a:r>
              <a:rPr lang="zh-CN" altLang="en-US" sz="3200" dirty="0">
                <a:sym typeface="+mn-ea"/>
              </a:rPr>
              <a:t> shì ）</a:t>
            </a:r>
            <a:endParaRPr lang="zh-CN" altLang="en-US" sz="3200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72895" y="4752340"/>
            <a:ext cx="61074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我不</a:t>
            </a:r>
            <a:r>
              <a:rPr lang="zh-CN" altLang="en-US" sz="3600" dirty="0">
                <a:solidFill>
                  <a:srgbClr val="FF0000"/>
                </a:solidFill>
                <a:sym typeface="+mn-ea"/>
              </a:rPr>
              <a:t>bú</a:t>
            </a:r>
            <a:r>
              <a:rPr lang="zh-CN" altLang="en-US" sz="3600"/>
              <a:t>是中国人。</a:t>
            </a:r>
            <a:endParaRPr lang="zh-CN" altLang="en-US" sz="3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Google Shape;257;p33"/>
          <p:cNvSpPr/>
          <p:nvPr/>
        </p:nvSpPr>
        <p:spPr>
          <a:xfrm>
            <a:off x="0" y="507365"/>
            <a:ext cx="3865245" cy="789305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65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Basic strokes</a:t>
            </a:r>
            <a:endParaRPr lang="en-US" sz="4265" b="1" dirty="0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8432" t="75088" r="8420" b="8194"/>
          <a:stretch>
            <a:fillRect/>
          </a:stretch>
        </p:blipFill>
        <p:spPr>
          <a:xfrm>
            <a:off x="419100" y="2344420"/>
            <a:ext cx="10583545" cy="29190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7"/>
          <p:cNvSpPr>
            <a:spLocks noChangeArrowheads="1" noChangeShapeType="1" noTextEdit="1"/>
          </p:cNvSpPr>
          <p:nvPr/>
        </p:nvSpPr>
        <p:spPr bwMode="auto">
          <a:xfrm>
            <a:off x="1981200" y="274639"/>
            <a:ext cx="8229600" cy="1143000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9991"/>
              </a:avLst>
            </a:prstTxWarp>
          </a:bodyPr>
          <a:lstStyle/>
          <a:p>
            <a:pPr algn="ctr"/>
            <a:endParaRPr lang="zh-CN" altLang="en-US" sz="3600" kern="10">
              <a:ln w="12700">
                <a:solidFill>
                  <a:srgbClr val="B2B2B2"/>
                </a:solidFill>
                <a:round/>
              </a:ln>
              <a:gradFill rotWithShape="1">
                <a:gsLst>
                  <a:gs pos="0">
                    <a:srgbClr val="520402"/>
                  </a:gs>
                  <a:gs pos="100000">
                    <a:srgbClr val="FFCC00"/>
                  </a:gs>
                </a:gsLst>
                <a:lin ang="5400000" scaled="1"/>
              </a:gradFill>
              <a:effectLst>
                <a:outerShdw dist="35921" dir="2700000" sy="50000" rotWithShape="0">
                  <a:srgbClr val="875B0D">
                    <a:alpha val="70000"/>
                  </a:srgbClr>
                </a:outerShdw>
              </a:effectLst>
              <a:latin typeface="+mj-ea"/>
              <a:ea typeface="+mj-ea"/>
              <a:cs typeface="+mj-ea"/>
            </a:endParaRPr>
          </a:p>
        </p:txBody>
      </p:sp>
      <p:sp>
        <p:nvSpPr>
          <p:cNvPr id="2" name="Google Shape;257;p33"/>
          <p:cNvSpPr/>
          <p:nvPr/>
        </p:nvSpPr>
        <p:spPr>
          <a:xfrm>
            <a:off x="0" y="507365"/>
            <a:ext cx="3865245" cy="789305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65" b="1" dirty="0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stroke  order</a:t>
            </a:r>
            <a:endParaRPr lang="en-US" sz="4265" b="1" dirty="0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54075" y="2355215"/>
            <a:ext cx="50184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先里头后封口</a:t>
            </a:r>
            <a:endParaRPr lang="zh-CN" altLang="zh-CN" sz="2400"/>
          </a:p>
          <a:p>
            <a:r>
              <a:rPr lang="en-US" altLang="zh-CN" sz="2400"/>
              <a:t>the stroke inside precedes the sealing stroke</a:t>
            </a:r>
            <a:endParaRPr lang="en-US" altLang="zh-CN" sz="2400"/>
          </a:p>
        </p:txBody>
      </p:sp>
      <p:pic>
        <p:nvPicPr>
          <p:cNvPr id="5" name="图片 4" descr="75391[1]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5110" y="340360"/>
            <a:ext cx="2857500" cy="2857500"/>
          </a:xfrm>
          <a:prstGeom prst="rect">
            <a:avLst/>
          </a:prstGeom>
        </p:spPr>
      </p:pic>
      <p:pic>
        <p:nvPicPr>
          <p:cNvPr id="7" name="图片 6" descr="101017[1]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4060" y="3282950"/>
            <a:ext cx="2857500" cy="2857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5" name="Google Shape;285;p37"/>
          <p:cNvSpPr/>
          <p:nvPr/>
        </p:nvSpPr>
        <p:spPr>
          <a:xfrm>
            <a:off x="13970" y="298450"/>
            <a:ext cx="4967605" cy="815975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GB" sz="3200" b="1">
                <a:latin typeface="Century" panose="02040604050505020304"/>
                <a:ea typeface="宋体" panose="02010600030101010101" pitchFamily="2" charset="-122"/>
                <a:cs typeface="Century" panose="02040604050505020304"/>
                <a:sym typeface="Century" panose="02040604050505020304"/>
              </a:rPr>
              <a:t>写汉</a:t>
            </a:r>
            <a:r>
              <a:rPr lang="en-GB" sz="3200" b="1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字</a:t>
            </a:r>
            <a:r>
              <a:rPr lang="en-US" altLang="en-GB" sz="3200" b="1">
                <a:latin typeface="Century" panose="02040604050505020304"/>
                <a:ea typeface="Century" panose="02040604050505020304"/>
                <a:cs typeface="Century" panose="02040604050505020304"/>
                <a:sym typeface="Century" panose="02040604050505020304"/>
              </a:rPr>
              <a:t>Chracter Writing</a:t>
            </a:r>
            <a:endParaRPr lang="en-US" altLang="en-GB" sz="3200" b="1">
              <a:latin typeface="Century" panose="02040604050505020304"/>
              <a:ea typeface="Century" panose="02040604050505020304"/>
              <a:cs typeface="Century" panose="02040604050505020304"/>
              <a:sym typeface="Century" panose="020406040505050203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65440" y="5226685"/>
            <a:ext cx="16370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习（xí ）</a:t>
            </a:r>
            <a:endParaRPr lang="en-US" altLang="zh-CN" sz="2800"/>
          </a:p>
        </p:txBody>
      </p:sp>
      <p:pic>
        <p:nvPicPr>
          <p:cNvPr id="5" name="图片 4" descr="144040[1]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8045" y="1768475"/>
            <a:ext cx="3169920" cy="3169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512051[1]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7925" y="1287780"/>
            <a:ext cx="2857500" cy="28575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391910" y="4978400"/>
            <a:ext cx="30600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衣（yī ），</a:t>
            </a:r>
            <a:r>
              <a:rPr lang="en-US" altLang="zh-CN" sz="2400"/>
              <a:t>clothes</a:t>
            </a:r>
            <a:endParaRPr lang="en-US" altLang="zh-CN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817959[1]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2200" y="1331595"/>
            <a:ext cx="3223895" cy="32238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359525" y="4999990"/>
            <a:ext cx="38715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语（yǔ），</a:t>
            </a:r>
            <a:r>
              <a:rPr lang="en-US" altLang="zh-CN" sz="2800"/>
              <a:t>language</a:t>
            </a:r>
            <a:endParaRPr lang="en-US" altLang="zh-CN" sz="2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712141[1]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5590" y="1547495"/>
            <a:ext cx="2857500" cy="28575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111240" y="4892040"/>
            <a:ext cx="42335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女（nǚ ）  female</a:t>
            </a:r>
            <a:endParaRPr lang="zh-CN" alt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75391[1]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7305" y="1601470"/>
            <a:ext cx="2857500" cy="28575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909435" y="4504055"/>
            <a:ext cx="37953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国（ɡuó），</a:t>
            </a:r>
            <a:r>
              <a:rPr lang="en-US" altLang="zh-CN" sz="2800"/>
              <a:t>country</a:t>
            </a:r>
            <a:endParaRPr lang="en-US" altLang="zh-CN" sz="2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9861" t="47908" r="14159" b="33281"/>
          <a:stretch>
            <a:fillRect/>
          </a:stretch>
        </p:blipFill>
        <p:spPr>
          <a:xfrm>
            <a:off x="1808480" y="1819275"/>
            <a:ext cx="8575040" cy="2912110"/>
          </a:xfrm>
          <a:prstGeom prst="rect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6991" t="11640" r="5717" b="38258"/>
          <a:stretch>
            <a:fillRect/>
          </a:stretch>
        </p:blipFill>
        <p:spPr>
          <a:xfrm>
            <a:off x="1910080" y="763905"/>
            <a:ext cx="7559040" cy="5330190"/>
          </a:xfrm>
          <a:prstGeom prst="rect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</p:pic>
      <p:cxnSp>
        <p:nvCxnSpPr>
          <p:cNvPr id="3" name="直接连接符 2"/>
          <p:cNvCxnSpPr/>
          <p:nvPr/>
        </p:nvCxnSpPr>
        <p:spPr>
          <a:xfrm>
            <a:off x="1910080" y="2875280"/>
            <a:ext cx="75609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8432" t="62544" r="6991" b="15512"/>
          <a:stretch>
            <a:fillRect/>
          </a:stretch>
        </p:blipFill>
        <p:spPr>
          <a:xfrm>
            <a:off x="730885" y="704850"/>
            <a:ext cx="7758000" cy="2761311"/>
          </a:xfrm>
          <a:prstGeom prst="rect">
            <a:avLst/>
          </a:prstGeom>
          <a:ln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8298" t="7075" r="2000" b="68826"/>
          <a:stretch>
            <a:fillRect/>
          </a:stretch>
        </p:blipFill>
        <p:spPr>
          <a:xfrm>
            <a:off x="730885" y="3293745"/>
            <a:ext cx="775716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8432" t="62544" r="11290" b="5060"/>
          <a:stretch>
            <a:fillRect/>
          </a:stretch>
        </p:blipFill>
        <p:spPr>
          <a:xfrm>
            <a:off x="1518285" y="663575"/>
            <a:ext cx="9580880" cy="53035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文本框 2"/>
          <p:cNvSpPr txBox="1"/>
          <p:nvPr/>
        </p:nvSpPr>
        <p:spPr>
          <a:xfrm>
            <a:off x="4652645" y="2505075"/>
            <a:ext cx="507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呢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4011295" y="3429000"/>
            <a:ext cx="507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吗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3143250" y="4220845"/>
            <a:ext cx="507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谁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3143250" y="5156835"/>
            <a:ext cx="507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哪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8616315" y="2492375"/>
            <a:ext cx="7874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什么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9552305" y="3356610"/>
            <a:ext cx="507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吗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8040370" y="4220845"/>
            <a:ext cx="5073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谁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8976360" y="5085080"/>
            <a:ext cx="7835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什么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4134" t="5060" r="21327" b="59401"/>
          <a:stretch>
            <a:fillRect/>
          </a:stretch>
        </p:blipFill>
        <p:spPr>
          <a:xfrm>
            <a:off x="2110105" y="828040"/>
            <a:ext cx="8109585" cy="530352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5563" t="41631" r="5550" b="24912"/>
          <a:stretch>
            <a:fillRect/>
          </a:stretch>
        </p:blipFill>
        <p:spPr>
          <a:xfrm>
            <a:off x="1806575" y="1214755"/>
            <a:ext cx="8578215" cy="442912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5563" t="77171" r="13744" b="7199"/>
          <a:stretch>
            <a:fillRect/>
          </a:stretch>
        </p:blipFill>
        <p:spPr>
          <a:xfrm>
            <a:off x="1902460" y="532130"/>
            <a:ext cx="7650480" cy="203263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7004" t="6842" r="20887" b="69853"/>
          <a:stretch>
            <a:fillRect/>
          </a:stretch>
        </p:blipFill>
        <p:spPr>
          <a:xfrm>
            <a:off x="1902460" y="2564765"/>
            <a:ext cx="7610400" cy="337436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7004" t="31180" r="2680" b="23871"/>
          <a:stretch>
            <a:fillRect/>
          </a:stretch>
        </p:blipFill>
        <p:spPr>
          <a:xfrm>
            <a:off x="1942465" y="739775"/>
            <a:ext cx="8493760" cy="57988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3215640" y="1268730"/>
            <a:ext cx="1753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学习英语</a:t>
            </a:r>
            <a:r>
              <a:rPr lang="zh-CN" altLang="en-US" sz="2000">
                <a:solidFill>
                  <a:srgbClr val="FF0000"/>
                </a:solidFill>
              </a:rPr>
              <a:t>吗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3519805" y="2996565"/>
            <a:ext cx="1753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学习</a:t>
            </a:r>
            <a:r>
              <a:rPr lang="zh-CN" altLang="en-US" sz="2000">
                <a:solidFill>
                  <a:srgbClr val="FF0000"/>
                </a:solidFill>
              </a:rPr>
              <a:t>法语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287395" y="4364990"/>
            <a:ext cx="1753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学习</a:t>
            </a:r>
            <a:r>
              <a:rPr lang="zh-CN" altLang="en-US" sz="2000">
                <a:solidFill>
                  <a:srgbClr val="FF0000"/>
                </a:solidFill>
              </a:rPr>
              <a:t>汉语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3143250" y="5156835"/>
            <a:ext cx="1753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他呢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7392035" y="1916430"/>
            <a:ext cx="1753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不是美国</a:t>
            </a:r>
            <a:r>
              <a:rPr lang="zh-CN" altLang="en-US" sz="2000">
                <a:solidFill>
                  <a:srgbClr val="FF0000"/>
                </a:solidFill>
              </a:rPr>
              <a:t>人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7607935" y="2492375"/>
            <a:ext cx="1753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哪国人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7536180" y="3860800"/>
            <a:ext cx="1753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是</a:t>
            </a:r>
            <a:r>
              <a:rPr lang="zh-CN" altLang="en-US" sz="2000">
                <a:solidFill>
                  <a:srgbClr val="FF0000"/>
                </a:solidFill>
              </a:rPr>
              <a:t>谁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7680325" y="5012690"/>
            <a:ext cx="1753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一起学习</a:t>
            </a:r>
            <a:r>
              <a:rPr lang="zh-CN" altLang="en-US" sz="2000">
                <a:solidFill>
                  <a:srgbClr val="FF0000"/>
                </a:solidFill>
              </a:rPr>
              <a:t>汉语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209165" y="1647825"/>
            <a:ext cx="8217535" cy="34150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zh-CN" altLang="en-US" sz="3600"/>
              <a:t>我叫</a:t>
            </a:r>
            <a:r>
              <a:rPr lang="en-US" altLang="zh-CN" sz="3600"/>
              <a:t>…………</a:t>
            </a:r>
            <a:r>
              <a:rPr lang="zh-CN" altLang="en-US" sz="3600"/>
              <a:t>，我是</a:t>
            </a:r>
            <a:r>
              <a:rPr lang="en-US" altLang="zh-CN" sz="3600"/>
              <a:t>…………</a:t>
            </a:r>
            <a:r>
              <a:rPr lang="zh-CN" altLang="en-US" sz="3600"/>
              <a:t>人。</a:t>
            </a:r>
            <a:endParaRPr lang="zh-CN" altLang="en-US" sz="3600"/>
          </a:p>
          <a:p>
            <a:r>
              <a:rPr lang="zh-CN" altLang="en-US" sz="3600"/>
              <a:t>她</a:t>
            </a:r>
            <a:r>
              <a:rPr lang="en-US" altLang="zh-CN" sz="3600"/>
              <a:t>/</a:t>
            </a:r>
            <a:r>
              <a:rPr lang="zh-CN" altLang="en-US" sz="3600"/>
              <a:t>他叫</a:t>
            </a:r>
            <a:r>
              <a:rPr lang="en-US" altLang="zh-CN" sz="3600"/>
              <a:t>…………</a:t>
            </a:r>
            <a:r>
              <a:rPr lang="zh-CN" altLang="en-US" sz="3600"/>
              <a:t>，是</a:t>
            </a:r>
            <a:r>
              <a:rPr lang="en-US" altLang="zh-CN" sz="3600"/>
              <a:t>…………</a:t>
            </a:r>
            <a:r>
              <a:rPr lang="zh-CN" altLang="en-US" sz="3600"/>
              <a:t>人。</a:t>
            </a:r>
            <a:endParaRPr lang="zh-CN" altLang="en-US" sz="3600"/>
          </a:p>
          <a:p>
            <a:r>
              <a:rPr lang="zh-CN" altLang="en-US" sz="3600"/>
              <a:t>她</a:t>
            </a:r>
            <a:r>
              <a:rPr lang="en-US" altLang="zh-CN" sz="3600"/>
              <a:t>/</a:t>
            </a:r>
            <a:r>
              <a:rPr lang="zh-CN" altLang="en-US" sz="3600"/>
              <a:t>他是我朋友</a:t>
            </a:r>
            <a:r>
              <a:rPr lang="en-US" altLang="zh-CN" sz="3600"/>
              <a:t>/</a:t>
            </a:r>
            <a:r>
              <a:rPr lang="zh-CN" altLang="en-US" sz="3600"/>
              <a:t>同学。</a:t>
            </a:r>
            <a:endParaRPr lang="zh-CN" altLang="en-US" sz="3600"/>
          </a:p>
          <a:p>
            <a:r>
              <a:rPr lang="zh-CN" altLang="en-US" sz="3600"/>
              <a:t>她</a:t>
            </a:r>
            <a:r>
              <a:rPr lang="en-US" altLang="zh-CN" sz="3600"/>
              <a:t>/</a:t>
            </a:r>
            <a:r>
              <a:rPr lang="zh-CN" altLang="en-US" sz="3600"/>
              <a:t>他说</a:t>
            </a:r>
            <a:r>
              <a:rPr lang="en-US" altLang="zh-CN" sz="3600"/>
              <a:t>……</a:t>
            </a:r>
            <a:r>
              <a:rPr lang="zh-CN" altLang="en-US" sz="3600"/>
              <a:t>，不说</a:t>
            </a:r>
            <a:r>
              <a:rPr lang="en-US" altLang="zh-CN" sz="3600"/>
              <a:t>……</a:t>
            </a:r>
            <a:r>
              <a:rPr lang="zh-CN" altLang="en-US" sz="3600"/>
              <a:t>。</a:t>
            </a:r>
            <a:endParaRPr lang="zh-CN" altLang="en-US" sz="3600"/>
          </a:p>
          <a:p>
            <a:r>
              <a:rPr lang="zh-CN" altLang="en-US" sz="3600"/>
              <a:t>她</a:t>
            </a:r>
            <a:r>
              <a:rPr lang="en-US" altLang="zh-CN" sz="3600"/>
              <a:t>/</a:t>
            </a:r>
            <a:r>
              <a:rPr lang="zh-CN" altLang="en-US" sz="3600"/>
              <a:t>他学习</a:t>
            </a:r>
            <a:r>
              <a:rPr lang="en-US" altLang="zh-CN" sz="3600"/>
              <a:t>……</a:t>
            </a:r>
            <a:r>
              <a:rPr lang="zh-CN" altLang="en-US" sz="3600"/>
              <a:t>，我也学习</a:t>
            </a:r>
            <a:r>
              <a:rPr lang="en-US" altLang="zh-CN" sz="3600"/>
              <a:t>……</a:t>
            </a:r>
            <a:r>
              <a:rPr lang="zh-CN" altLang="en-US" sz="3600"/>
              <a:t>。</a:t>
            </a:r>
            <a:endParaRPr lang="zh-CN" altLang="en-US" sz="3600"/>
          </a:p>
          <a:p>
            <a:r>
              <a:rPr lang="zh-CN" altLang="en-US" sz="3600"/>
              <a:t>我们一起</a:t>
            </a:r>
            <a:r>
              <a:rPr lang="en-US" altLang="zh-CN" sz="3600"/>
              <a:t>……</a:t>
            </a:r>
            <a:r>
              <a:rPr lang="zh-CN" altLang="en-US" sz="3600"/>
              <a:t>，一起</a:t>
            </a:r>
            <a:r>
              <a:rPr lang="en-US" altLang="zh-CN" sz="3600"/>
              <a:t>……</a:t>
            </a:r>
            <a:r>
              <a:rPr lang="zh-CN" altLang="en-US" sz="3600"/>
              <a:t>。</a:t>
            </a:r>
            <a:endParaRPr lang="zh-CN" altLang="en-US" sz="3600"/>
          </a:p>
        </p:txBody>
      </p:sp>
      <p:sp>
        <p:nvSpPr>
          <p:cNvPr id="4" name="文本框 3"/>
          <p:cNvSpPr txBox="1"/>
          <p:nvPr/>
        </p:nvSpPr>
        <p:spPr>
          <a:xfrm>
            <a:off x="0" y="375285"/>
            <a:ext cx="3268980" cy="583565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p>
            <a:r>
              <a:rPr lang="zh-CN" altLang="en-US" sz="3200"/>
              <a:t>说一说   写一写</a:t>
            </a:r>
            <a:endParaRPr lang="zh-CN" altLang="en-US" sz="32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COMMONDATA" val="eyJoZGlkIjoiMjQzYTgzMjY2ODk2ZDhiZGMwNDYyZmE0OWQ1NzIzZWUifQ==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0</TotalTime>
  <Words>1532</Words>
  <Application>WPS 演示</Application>
  <PresentationFormat>全屏显示(4:3)</PresentationFormat>
  <Paragraphs>158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0" baseType="lpstr">
      <vt:lpstr>Arial</vt:lpstr>
      <vt:lpstr>宋体</vt:lpstr>
      <vt:lpstr>Wingdings</vt:lpstr>
      <vt:lpstr>Wingdings 2</vt:lpstr>
      <vt:lpstr>Arial</vt:lpstr>
      <vt:lpstr>Century</vt:lpstr>
      <vt:lpstr>Cambria</vt:lpstr>
      <vt:lpstr>Maiandra GD</vt:lpstr>
      <vt:lpstr>隶书</vt:lpstr>
      <vt:lpstr>微软雅黑</vt:lpstr>
      <vt:lpstr>Arial Unicode MS</vt:lpstr>
      <vt:lpstr>华文楷体</vt:lpstr>
      <vt:lpstr>Calibri</vt:lpstr>
      <vt:lpstr>龙腾四海</vt:lpstr>
      <vt:lpstr>4  你学习法语吗？</vt:lpstr>
      <vt:lpstr>PowerPoint 演示文稿</vt:lpstr>
      <vt:lpstr>PowerPoint 演示文稿</vt:lpstr>
      <vt:lpstr>PowerPoint 演示文稿</vt:lpstr>
      <vt:lpstr>问题（wèn tí ）</vt:lpstr>
      <vt:lpstr>PowerPoint 演示文稿</vt:lpstr>
      <vt:lpstr>PowerPoint 演示文稿</vt:lpstr>
      <vt:lpstr>语音知识 Phonetic Notes</vt:lpstr>
      <vt:lpstr>语音知识 Phonetic Notes</vt:lpstr>
      <vt:lpstr>语音知识 Phonetic Notes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第四课 你学习法语吗？</dc:title>
  <dc:creator>lenovo</dc:creator>
  <cp:lastModifiedBy>沙茜</cp:lastModifiedBy>
  <cp:revision>33</cp:revision>
  <dcterms:created xsi:type="dcterms:W3CDTF">2019-02-27T06:15:00Z</dcterms:created>
  <dcterms:modified xsi:type="dcterms:W3CDTF">2023-10-08T12:01:20Z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2052-12.1.0.15374</vt:lpwstr>
  </property>
  <property fmtid="{D5CDD505-2E9C-101B-9397-08002B2CF9AE}" pid="3" name="ICV">
    <vt:lpwstr>79BD0A8A0A304AE38409FFA88EF48331</vt:lpwstr>
  </property>
</Properties>
</file>