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62" r:id="rId3"/>
    <p:sldId id="433" r:id="rId4"/>
    <p:sldId id="437" r:id="rId5"/>
    <p:sldId id="436" r:id="rId6"/>
    <p:sldId id="438" r:id="rId7"/>
    <p:sldId id="453" r:id="rId8"/>
    <p:sldId id="463" r:id="rId9"/>
    <p:sldId id="467" r:id="rId10"/>
    <p:sldId id="464" r:id="rId11"/>
    <p:sldId id="468" r:id="rId12"/>
    <p:sldId id="479" r:id="rId13"/>
    <p:sldId id="466" r:id="rId14"/>
    <p:sldId id="487" r:id="rId15"/>
    <p:sldId id="450" r:id="rId16"/>
    <p:sldId id="449" r:id="rId17"/>
    <p:sldId id="461" r:id="rId18"/>
    <p:sldId id="469" r:id="rId19"/>
    <p:sldId id="445" r:id="rId20"/>
    <p:sldId id="478" r:id="rId21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57bf833-ce2a-4d46-a832-2c8d79eb88b0}">
          <p14:sldIdLst>
            <p14:sldId id="462"/>
            <p14:sldId id="433"/>
            <p14:sldId id="437"/>
            <p14:sldId id="436"/>
            <p14:sldId id="438"/>
            <p14:sldId id="453"/>
            <p14:sldId id="463"/>
            <p14:sldId id="467"/>
            <p14:sldId id="464"/>
            <p14:sldId id="468"/>
            <p14:sldId id="479"/>
            <p14:sldId id="466"/>
            <p14:sldId id="487"/>
            <p14:sldId id="450"/>
            <p14:sldId id="449"/>
            <p14:sldId id="461"/>
            <p14:sldId id="469"/>
            <p14:sldId id="445"/>
            <p14:sldId id="4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60"/>
        <p:guide pos="384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23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tags" Target="../tags/tag22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jpeg"/><Relationship Id="rId3" Type="http://schemas.openxmlformats.org/officeDocument/2006/relationships/tags" Target="../tags/tag230.xml"/><Relationship Id="rId2" Type="http://schemas.openxmlformats.org/officeDocument/2006/relationships/image" Target="../media/image23.jpeg"/><Relationship Id="rId1" Type="http://schemas.openxmlformats.org/officeDocument/2006/relationships/tags" Target="../tags/tag2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jpeg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microsoft.com/office/2007/relationships/media" Target="../media/media2.mp3"/><Relationship Id="rId2" Type="http://schemas.openxmlformats.org/officeDocument/2006/relationships/audio" Target="../media/media2.mp3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microsoft.com/office/2007/relationships/media" Target="../media/media2.mp3"/><Relationship Id="rId2" Type="http://schemas.openxmlformats.org/officeDocument/2006/relationships/audio" Target="../media/media2.mp3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70" y="2235185"/>
            <a:ext cx="9144000" cy="23868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xiānɡjiāo duōsh</a:t>
            </a: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ao qián yì jīn？ </a:t>
            </a:r>
            <a:b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  香  蕉   多 少   钱   一  斤？ </a:t>
            </a:r>
            <a:b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b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6 </a:t>
            </a: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How much is half a kilogram of bananas?</a:t>
            </a:r>
            <a:br>
              <a:rPr lang="en-US" altLang="zh-CN" sz="3110" b="1"/>
            </a:br>
            <a:r>
              <a:rPr lang="zh-CN" altLang="en-US" sz="22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9755" y="0"/>
            <a:ext cx="1452245" cy="962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8675"/>
            <a:ext cx="949325" cy="94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1129665"/>
            <a:ext cx="3554730" cy="36639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ym typeface="+mn-ea"/>
              </a:rPr>
              <a:t>   </a:t>
            </a:r>
            <a:endParaRPr lang="en-US" altLang="zh-CN" sz="2000" strike="noStrike" noProof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yínɡyèyuán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1 营业员: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attendant,shop assistant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yào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2 要:want,need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miànbāo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3 面包:bread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zhǒnɡ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4 种:kind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79160" y="1129665"/>
            <a:ext cx="3554730" cy="36639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ym typeface="+mn-ea"/>
              </a:rPr>
              <a:t>   </a:t>
            </a:r>
            <a:endParaRPr lang="en-US" altLang="zh-CN" sz="2000" strike="noStrike" noProof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zhè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5 这:this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xièxie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6 谢谢:tha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nks 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búkèqi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7 不客气:you are welcome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kèqi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客气:polite,courteous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6-6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586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257790" y="1129665"/>
            <a:ext cx="495300" cy="4953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1025779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课文二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two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2236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标题 5123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p>
            <a:br>
              <a:rPr lang="zh-CN" altLang="zh-CN" dirty="0"/>
            </a:br>
            <a:endParaRPr lang="zh-CN" altLang="zh-CN" dirty="0"/>
          </a:p>
        </p:txBody>
      </p:sp>
      <p:grpSp>
        <p:nvGrpSpPr>
          <p:cNvPr id="4" name="组合 1"/>
          <p:cNvGrpSpPr/>
          <p:nvPr/>
        </p:nvGrpSpPr>
        <p:grpSpPr>
          <a:xfrm>
            <a:off x="-163830" y="364490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984375" y="497205"/>
            <a:ext cx="457390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yínɡyèyuán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1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营 业员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:attendant,shop assistant</a:t>
            </a:r>
            <a:endParaRPr lang="en-US" altLang="zh-CN" sz="20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9505" y="2253615"/>
            <a:ext cx="3519170" cy="2350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558280" y="1762125"/>
            <a:ext cx="2770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他是营业员。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55435" y="2515235"/>
            <a:ext cx="51200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他没有钱，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他需要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钱。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52590" y="3222625"/>
            <a:ext cx="25761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他很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高兴。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88845" y="162560"/>
            <a:ext cx="4649470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yào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2 要:want,need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xiǎnɡ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想：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want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to,would like to</a:t>
            </a:r>
            <a:r>
              <a:rPr lang="en-US" altLang="zh-CN" sz="2000" b="1">
                <a:sym typeface="宋体" panose="02010600030101010101" pitchFamily="2" charset="-122"/>
              </a:rPr>
              <a:t>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zh-CN" altLang="en-US" b="1"/>
          </a:p>
        </p:txBody>
      </p:sp>
      <p:sp>
        <p:nvSpPr>
          <p:cNvPr id="5" name="矩形 4"/>
          <p:cNvSpPr/>
          <p:nvPr/>
        </p:nvSpPr>
        <p:spPr>
          <a:xfrm>
            <a:off x="2605405" y="2302510"/>
            <a:ext cx="3302000" cy="39693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p>
            <a:pPr algn="l" fontAlgn="base"/>
            <a:r>
              <a:rPr lang="en-US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yào  +  </a:t>
            </a:r>
            <a:r>
              <a:rPr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endParaRPr b="1" strike="noStrike" noProof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要   +  </a:t>
            </a:r>
            <a:r>
              <a:rPr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endParaRPr b="1" strike="noStrike" noProof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endParaRPr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</a:t>
            </a:r>
            <a:r>
              <a:rPr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endParaRPr lang="en-US" b="1" strike="noStrike" noProof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en-US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zh-CN" altLang="en-US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diànnǎo</a:t>
            </a:r>
            <a:endParaRPr lang="zh-CN" altLang="en-US" b="1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 fontAlgn="base"/>
            <a:r>
              <a:rPr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电脑</a:t>
            </a:r>
            <a:endParaRPr lang="zh-CN" b="1" strike="noStrike" noProof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en-US" altLang="zh-CN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shǒu jī </a:t>
            </a:r>
            <a:r>
              <a:rPr lang="en-US" altLang="zh-CN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b="1" strike="noStrike" noProof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en-US" altLang="zh-CN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手机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r>
              <a:rPr lang="en-US" altLang="zh-CN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</a:t>
            </a:r>
            <a:endParaRPr lang="en-US" altLang="zh-CN" b="1" strike="noStrike" noProof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r>
              <a:rPr lang="zh-CN" altLang="en-US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苹果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（pínɡ ɡuǒ）</a:t>
            </a:r>
            <a:endParaRPr lang="zh-CN" altLang="en-US" b="1" strike="noStrike" noProof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r>
              <a:rPr lang="en-US" altLang="zh-CN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b="1" strike="noStrike" noProof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r>
              <a:rPr lang="zh-CN" altLang="en-US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香蕉</a:t>
            </a:r>
            <a:r>
              <a:rPr lang="en-US" altLang="zh-CN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（xiānɡ jiāo ）               </a:t>
            </a:r>
            <a:endParaRPr lang="en-US" altLang="zh-CN" b="1" strike="noStrike" noProof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endParaRPr lang="en-US" altLang="zh-CN" b="1" strike="noStrike" noProof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r>
              <a:rPr lang="zh-CN" altLang="en-US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可乐（kě lè）</a:t>
            </a:r>
            <a:endParaRPr lang="zh-CN" altLang="en-US" b="1" strike="noStrike" noProof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90665" y="2935923"/>
            <a:ext cx="3604260" cy="25533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mpd="sng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p>
            <a:pPr algn="l" fontAlgn="base"/>
            <a:r>
              <a:rPr lang="en-US" altLang="zh-CN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iǎnɡ  </a:t>
            </a:r>
            <a:endParaRPr lang="zh-CN" altLang="en-US" sz="20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想    + </a:t>
            </a:r>
            <a:r>
              <a:rPr lang="zh-CN" altLang="en-US" sz="2000" b="1" strike="noStrike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</a:t>
            </a:r>
            <a:endParaRPr lang="zh-CN" altLang="en-US" sz="2000" b="1" strike="noStrike" noProof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mǎi </a:t>
            </a:r>
            <a:endParaRPr lang="zh-CN" altLang="en-US" sz="20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买  </a:t>
            </a:r>
            <a:endParaRPr lang="zh-CN" altLang="en-US" sz="20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endParaRPr lang="zh-CN" altLang="en-US" sz="20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学</a:t>
            </a:r>
            <a:r>
              <a:rPr lang="zh-CN" altLang="en-US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习</a:t>
            </a:r>
            <a:endParaRPr lang="zh-CN" altLang="en-US" sz="20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en-US" altLang="zh-CN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endParaRPr lang="en-US" altLang="zh-CN" sz="20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en-US" altLang="zh-CN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工作</a:t>
            </a:r>
            <a:endParaRPr lang="zh-CN" altLang="en-US" sz="20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83725" y="325755"/>
            <a:ext cx="2212975" cy="2212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文本占位符 5124"/>
          <p:cNvSpPr>
            <a:spLocks noGrp="1"/>
          </p:cNvSpPr>
          <p:nvPr>
            <p:ph idx="1"/>
          </p:nvPr>
        </p:nvSpPr>
        <p:spPr>
          <a:xfrm>
            <a:off x="3077845" y="504825"/>
            <a:ext cx="6837680" cy="605155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 想   </a:t>
            </a: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学习   汉语。 </a:t>
            </a:r>
            <a:r>
              <a:rPr sz="28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8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sz="2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pínɡɡuǒ。  </a:t>
            </a:r>
            <a:endParaRPr lang="zh-CN" altLang="en-US" sz="2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 想   买   苹 果。   </a:t>
            </a:r>
            <a:endParaRPr lang="zh-CN" altLang="en-US" sz="2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8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8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 want to buy  apples.)</a:t>
            </a:r>
            <a:endParaRPr lang="en-US" altLang="zh-CN" sz="28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8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sz="28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yào</a:t>
            </a: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pínɡɡuǒ。 </a:t>
            </a:r>
            <a:endParaRPr lang="zh-CN" altLang="en-US" sz="2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</a:t>
            </a:r>
            <a:r>
              <a:rPr sz="28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</a:t>
            </a: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苹 果。 </a:t>
            </a:r>
            <a:r>
              <a:rPr sz="28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sz="28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(I want apples.)</a:t>
            </a:r>
            <a:endParaRPr lang="en-US" altLang="zh-CN" sz="28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8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yào</a:t>
            </a: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kāfēi。 </a:t>
            </a:r>
            <a:endParaRPr lang="zh-CN" altLang="en-US" sz="2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</a:t>
            </a:r>
            <a:r>
              <a:rPr sz="28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</a:t>
            </a:r>
            <a:r>
              <a:rPr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咖啡。  </a:t>
            </a:r>
            <a:r>
              <a:rPr sz="28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sz="28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(I want coffee.)</a:t>
            </a:r>
            <a:endParaRPr kumimoji="0" lang="en-US" altLang="zh-CN" sz="28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4" name="组合 1"/>
          <p:cNvGrpSpPr/>
          <p:nvPr/>
        </p:nvGrpSpPr>
        <p:grpSpPr>
          <a:xfrm>
            <a:off x="-173990" y="334010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3" name="图片 2" descr="4e5095bcf2cbb27a1779de7431d2b9f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4595" y="5570855"/>
            <a:ext cx="1882140" cy="1058545"/>
          </a:xfrm>
          <a:prstGeom prst="rect">
            <a:avLst/>
          </a:prstGeom>
        </p:spPr>
      </p:pic>
      <p:pic>
        <p:nvPicPr>
          <p:cNvPr id="5" name="图片 4" descr="3160e413b2840ced74d568bf520d274b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49820" y="3382010"/>
            <a:ext cx="1448435" cy="1448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392045" y="1320800"/>
            <a:ext cx="9373235" cy="34696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miànbāo  </a:t>
            </a: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一个 面  包 </a:t>
            </a: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         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liǎnɡɡè miànbāo。 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我  想   买    两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个 面 包 。 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yào liǎnɡɡè miànbāo </a:t>
            </a: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我 要    两个   面 包。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39645" y="302895"/>
            <a:ext cx="25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miànbāo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3 面包:bread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/>
          </a:p>
        </p:txBody>
      </p:sp>
      <p:pic>
        <p:nvPicPr>
          <p:cNvPr id="3" name="图片 2" descr="70c1562caff1638fd47309918f9712c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400" y="1320800"/>
            <a:ext cx="2978785" cy="1895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内容占位符 2"/>
          <p:cNvSpPr>
            <a:spLocks noGrp="1"/>
          </p:cNvSpPr>
          <p:nvPr>
            <p:ph idx="1"/>
          </p:nvPr>
        </p:nvSpPr>
        <p:spPr>
          <a:xfrm>
            <a:off x="1936750" y="180975"/>
            <a:ext cx="1741805" cy="833120"/>
          </a:xfrm>
        </p:spPr>
        <p:txBody>
          <a:bodyPr anchor="t">
            <a:noAutofit/>
          </a:bodyPr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zhǒnɡ </a:t>
            </a:r>
            <a:endParaRPr lang="zh-CN" altLang="en-US" sz="2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4 </a:t>
            </a:r>
            <a:r>
              <a:rPr lang="zh-CN" altLang="en-US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种</a:t>
            </a: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:kind</a:t>
            </a:r>
            <a:r>
              <a:rPr lang="zh-CN" altLang="en-US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16940" y="1395730"/>
            <a:ext cx="3959225" cy="11988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liǎnɡ zhǒnɡ miànbāo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两    种    面 包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buClrTx/>
              <a:buSz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wo kinds of bread）</a:t>
            </a:r>
            <a:r>
              <a:rPr lang="zh-CN" altLang="en-US" b="1">
                <a:solidFill>
                  <a:schemeClr val="tx1"/>
                </a:solidFill>
                <a:sym typeface="宋体" panose="02010600030101010101" pitchFamily="2" charset="-122"/>
              </a:rPr>
              <a:t> 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8330" y="1395730"/>
            <a:ext cx="2148840" cy="15741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175" y="1395095"/>
            <a:ext cx="1688465" cy="1574800"/>
          </a:xfrm>
          <a:prstGeom prst="rect">
            <a:avLst/>
          </a:prstGeom>
        </p:spPr>
      </p:pic>
      <p:pic>
        <p:nvPicPr>
          <p:cNvPr id="9218" name="图片 173060" descr="t0173ef7b40c09c49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945" y="3942715"/>
            <a:ext cx="1959610" cy="14617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175" y="3972560"/>
            <a:ext cx="1849755" cy="14020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50900" y="3972560"/>
            <a:ext cx="3696335" cy="11988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liǎnɡ zhǒnɡ </a:t>
            </a:r>
            <a:r>
              <a:rPr lang="zh-CN" altLang="en-US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pínɡɡuǒ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两    种    苹果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buClrTx/>
              <a:buSz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wo kinds of 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apples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sz="2000" b="1">
                <a:solidFill>
                  <a:schemeClr val="tx1"/>
                </a:solidFill>
                <a:sym typeface="宋体" panose="02010600030101010101" pitchFamily="2" charset="-122"/>
              </a:rPr>
              <a:t> </a:t>
            </a:r>
            <a:endParaRPr lang="zh-CN" altLang="en-US" sz="2000" b="1">
              <a:solidFill>
                <a:schemeClr val="tx1"/>
              </a:solidFill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内容占位符 2"/>
          <p:cNvSpPr>
            <a:spLocks noGrp="1"/>
          </p:cNvSpPr>
          <p:nvPr>
            <p:ph idx="1"/>
          </p:nvPr>
        </p:nvSpPr>
        <p:spPr>
          <a:xfrm>
            <a:off x="1936750" y="1016635"/>
            <a:ext cx="6393180" cy="30353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indent="0">
              <a:buClrTx/>
              <a:buSzTx/>
              <a:buFontTx/>
              <a:buNone/>
            </a:pPr>
            <a:r>
              <a:rPr lang="zh-CN" altLang="en-US" sz="2000" b="1">
                <a:sym typeface="宋体" panose="02010600030101010101" pitchFamily="2" charset="-122"/>
              </a:rPr>
              <a:t>   </a:t>
            </a:r>
            <a:endParaRPr lang="zh-CN" altLang="en-US" sz="2000" b="1"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zhè</a:t>
            </a: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zhǒnɡ            — —   nàzhǒnɡ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这 种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(this kind)</a:t>
            </a: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— —    那 种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(that kind)</a:t>
            </a: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zhèzhǒnɡ miànbāo     — —   nàzhǒnɡ miànbāo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这 种    面 包       — —   那 种    面 包 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(this kind of bread          that kind of bread)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936750" y="80645"/>
            <a:ext cx="25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zhè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5 这:this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4335" y="4337685"/>
            <a:ext cx="1680210" cy="15671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330" y="4330700"/>
            <a:ext cx="2148840" cy="1574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内容占位符 2"/>
          <p:cNvSpPr>
            <a:spLocks noGrp="1"/>
          </p:cNvSpPr>
          <p:nvPr>
            <p:ph idx="1"/>
          </p:nvPr>
        </p:nvSpPr>
        <p:spPr>
          <a:xfrm>
            <a:off x="2245995" y="997585"/>
            <a:ext cx="5920105" cy="2841625"/>
          </a:xfrm>
        </p:spPr>
        <p:txBody>
          <a:bodyPr anchor="t">
            <a:normAutofit fontScale="60000"/>
          </a:bodyPr>
          <a:p>
            <a:pPr marL="0" indent="0">
              <a:buClrTx/>
              <a:buSzTx/>
              <a:buFontTx/>
              <a:buNone/>
            </a:pPr>
            <a:endParaRPr lang="zh-CN" altLang="en-US" sz="2000" b="1"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333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nǎzhǒnɡ + n</a:t>
            </a:r>
            <a:endParaRPr lang="zh-CN" altLang="en-US" sz="333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333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哪种   + n</a:t>
            </a:r>
            <a:endParaRPr lang="zh-CN" altLang="en-US" sz="333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333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         miànbāo </a:t>
            </a:r>
            <a:endParaRPr lang="zh-CN" altLang="en-US" sz="333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333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         面 包 </a:t>
            </a:r>
            <a:r>
              <a:rPr lang="zh-CN" altLang="en-US" sz="3335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333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 which kind of bread?)</a:t>
            </a:r>
            <a:endParaRPr lang="zh-CN" altLang="en-US" sz="333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333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         pínɡɡuǒ </a:t>
            </a:r>
            <a:endParaRPr lang="zh-CN" altLang="en-US" sz="333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333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         苹 果  </a:t>
            </a:r>
            <a:r>
              <a:rPr lang="en-US" altLang="zh-CN" sz="333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(which kind of apples</a:t>
            </a:r>
            <a:r>
              <a:rPr sz="333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？</a:t>
            </a: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en-US" altLang="zh-CN" sz="285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218" name="图片 173060" descr="t0173ef7b40c09c49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5865" y="4419600"/>
            <a:ext cx="1880870" cy="140271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140" y="4420235"/>
            <a:ext cx="1849755" cy="14020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98370" y="80645"/>
            <a:ext cx="4900295" cy="779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nǎzhǒnɡ </a:t>
            </a:r>
            <a:endParaRPr lang="zh-CN" altLang="en-US" sz="2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哪 种</a:t>
            </a:r>
            <a:r>
              <a:rPr lang="en-US" altLang="zh-CN"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  which kind</a:t>
            </a: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2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995" y="4420235"/>
            <a:ext cx="1913890" cy="14020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825" y="4408170"/>
            <a:ext cx="1528445" cy="1425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内容占位符 2"/>
          <p:cNvSpPr>
            <a:spLocks noGrp="1"/>
          </p:cNvSpPr>
          <p:nvPr>
            <p:ph idx="1"/>
          </p:nvPr>
        </p:nvSpPr>
        <p:spPr>
          <a:xfrm>
            <a:off x="2124075" y="80645"/>
            <a:ext cx="5128895" cy="6045200"/>
          </a:xfrm>
        </p:spPr>
        <p:txBody>
          <a:bodyPr anchor="t">
            <a:normAutofit fontScale="45000"/>
          </a:bodyPr>
          <a:p>
            <a:pPr marL="0" indent="0">
              <a:buClrTx/>
              <a:buSzTx/>
              <a:buFontTx/>
              <a:buNone/>
            </a:pPr>
            <a:endParaRPr lang="zh-CN" altLang="en-US" sz="2000" b="1">
              <a:sym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lang="zh-CN" altLang="en-US" sz="333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444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sz="444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nǐ yào nǎzhǒnɡ pínɡɡuǒ？ </a:t>
            </a:r>
            <a:endParaRPr lang="zh-CN" altLang="en-US" sz="4445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lang="en-US" altLang="zh-CN" sz="444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</a:t>
            </a:r>
            <a:r>
              <a:rPr sz="444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要  哪 种   苹 果？</a:t>
            </a:r>
            <a:r>
              <a:rPr sz="4445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4445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</a:pP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(What kind of apple do you want?)</a:t>
            </a: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wǒ yào zhèzhǒnɡ。 </a:t>
            </a: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</a:t>
            </a: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要  这 种。</a:t>
            </a: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444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</a:pP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(I'd like this kind.)</a:t>
            </a: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nǐ yào nǎzhǒnɡ miànbāo？ </a:t>
            </a: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</a:t>
            </a: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要  哪 种   面 包？</a:t>
            </a: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444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</a:pP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(What kind of bread do you want?)</a:t>
            </a:r>
            <a:endParaRPr lang="en-US" altLang="zh-CN" sz="444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</a:pP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wǒ yào nàzhǒnɡ。 </a:t>
            </a: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</a:t>
            </a: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要  那 种。</a:t>
            </a: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444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</a:pP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(I'd like that kind.)</a:t>
            </a:r>
            <a:endParaRPr lang="en-US" altLang="zh-CN" sz="444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9218" name="图片 173060" descr="t0173ef7b40c09c49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023" y="1000125"/>
            <a:ext cx="1365250" cy="10175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05600" y="1553845"/>
            <a:ext cx="1365885" cy="1035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970" y="4244340"/>
            <a:ext cx="2148840" cy="15741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2970" y="2984500"/>
            <a:ext cx="1680210" cy="1567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5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5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50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0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50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内容占位符 2"/>
          <p:cNvSpPr>
            <a:spLocks noGrp="1"/>
          </p:cNvSpPr>
          <p:nvPr>
            <p:ph idx="1"/>
          </p:nvPr>
        </p:nvSpPr>
        <p:spPr>
          <a:xfrm>
            <a:off x="2025650" y="-15875"/>
            <a:ext cx="3895090" cy="2354580"/>
          </a:xfrm>
        </p:spPr>
        <p:txBody>
          <a:bodyPr anchor="t">
            <a:norm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0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2529" name="内容占位符 2"/>
          <p:cNvSpPr>
            <a:spLocks noGrp="1"/>
          </p:cNvSpPr>
          <p:nvPr/>
        </p:nvSpPr>
        <p:spPr>
          <a:xfrm>
            <a:off x="3051175" y="503555"/>
            <a:ext cx="5700395" cy="60845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nǎzhǒnɡ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：nǐ yào nǎzhǒnɡ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……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？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哪 种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：  你 要  哪 种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……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？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nǎɡuó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： nǐ shì nǎɡuórén？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哪国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：  你 是  哪国 人？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nǎɡè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：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哪个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which one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nǐ shì nǎɡè dàxué de xuéshenɡ？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你 是  哪个 大学  的  学 生？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Which university are you from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?)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wǒ shì </a:t>
            </a: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běihánɡ dàxué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de xuéshenɡ。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我 是  </a:t>
            </a: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北 航   大学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的  学 生。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>
              <a:lnSpc>
                <a:spcPct val="80000"/>
              </a:lnSpc>
              <a:buClrTx/>
              <a:buSz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(I'm a student of </a:t>
            </a: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Beihang University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.)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39200" y="1412875"/>
            <a:ext cx="2992120" cy="22231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25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252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52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内容占位符 2"/>
          <p:cNvSpPr>
            <a:spLocks noGrp="1"/>
          </p:cNvSpPr>
          <p:nvPr>
            <p:ph idx="1"/>
          </p:nvPr>
        </p:nvSpPr>
        <p:spPr>
          <a:xfrm>
            <a:off x="1840865" y="1212215"/>
            <a:ext cx="4853940" cy="2978785"/>
          </a:xfrm>
        </p:spPr>
        <p:txBody>
          <a:bodyPr anchor="t">
            <a:norm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0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xièxie </a:t>
            </a: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6 </a:t>
            </a:r>
            <a:r>
              <a:rPr kumimoji="0" lang="zh-CN" altLang="en-US" sz="28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谢谢</a:t>
            </a:r>
            <a:r>
              <a:rPr kumimoji="0" lang="en-US" altLang="zh-CN" sz="28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:tha</a:t>
            </a:r>
            <a:r>
              <a:rPr kumimoji="0" lang="en-US" altLang="zh-CN" sz="28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nks</a:t>
            </a:r>
            <a:r>
              <a:rPr kumimoji="0" lang="zh-CN" altLang="en-US" sz="28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kumimoji="0" lang="zh-CN" altLang="en-US" sz="28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búkèqi </a:t>
            </a:r>
            <a:endParaRPr kumimoji="0" lang="zh-CN" altLang="en-US" sz="28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7 </a:t>
            </a:r>
            <a:r>
              <a:rPr kumimoji="0" lang="zh-CN" altLang="en-US" sz="28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不客气</a:t>
            </a:r>
            <a:r>
              <a:rPr kumimoji="0" lang="en-US" altLang="zh-CN" sz="28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:you are welcome.</a:t>
            </a:r>
            <a:r>
              <a:rPr kumimoji="0" lang="zh-CN" altLang="en-US" sz="28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kumimoji="0" lang="zh-CN" altLang="en-US" sz="28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8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105" name="图片 10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87715" y="2887980"/>
            <a:ext cx="2533015" cy="15703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44820" y="1478280"/>
            <a:ext cx="3057525" cy="16960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1"/>
          </p:nvPr>
        </p:nvSpPr>
        <p:spPr>
          <a:xfrm>
            <a:off x="2207260" y="629920"/>
            <a:ext cx="7311390" cy="559752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>
              <a:lnSpc>
                <a:spcPts val="3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yínɡyèyuán： 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营  业 员：</a:t>
            </a:r>
            <a:r>
              <a:rPr lang="zh-CN" altLang="en-US" sz="20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你好 ！  请问， 你要  什么？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3000"/>
              </a:lnSpc>
              <a:buClrTx/>
              <a:buSzTx/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马 丁：</a:t>
            </a:r>
            <a:r>
              <a:rPr lang="zh-CN" altLang="en-US" sz="2400">
                <a:solidFill>
                  <a:srgbClr val="0070C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 要  面包。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3000"/>
              </a:lnSpc>
              <a:buClrTx/>
              <a:buSzTx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营  业员：</a:t>
            </a:r>
            <a:r>
              <a:rPr lang="zh-CN" altLang="en-US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你 要  哪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种？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3000"/>
              </a:lnSpc>
              <a:buClrTx/>
              <a:buSzTx/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马 丁：</a:t>
            </a:r>
            <a:r>
              <a:rPr lang="zh-CN" altLang="en-US" sz="2400">
                <a:solidFill>
                  <a:srgbClr val="0070C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 要  这  种，   这 种  多少钱  一个？</a:t>
            </a:r>
            <a:r>
              <a:rPr lang="zh-CN" altLang="en-US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zh-CN" altLang="en-US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营  业 员： </a:t>
            </a:r>
            <a:r>
              <a:rPr lang="zh-CN" altLang="en-US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这 种   四 块五 一个。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马 丁：</a:t>
            </a:r>
            <a:r>
              <a:rPr lang="zh-CN" altLang="en-US" sz="2400">
                <a:solidFill>
                  <a:srgbClr val="0070C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 要  两个。</a:t>
            </a:r>
            <a:r>
              <a:rPr lang="zh-CN" altLang="en-US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营  业 员： </a:t>
            </a:r>
            <a:r>
              <a:rPr lang="zh-CN" altLang="en-US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 共  九块。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马 丁：</a:t>
            </a:r>
            <a:r>
              <a:rPr lang="zh-CN" altLang="en-US" sz="2400">
                <a:solidFill>
                  <a:srgbClr val="0070C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谢谢。</a:t>
            </a: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营  业 员：</a:t>
            </a:r>
            <a:r>
              <a:rPr lang="zh-CN" altLang="en-US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不客气。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课文二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two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095" y="3895090"/>
            <a:ext cx="2824480" cy="2118995"/>
          </a:xfrm>
          <a:prstGeom prst="rect">
            <a:avLst/>
          </a:prstGeom>
        </p:spPr>
      </p:pic>
      <p:pic>
        <p:nvPicPr>
          <p:cNvPr id="6" name="6-7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87050" y="473075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5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49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54" dur="354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1"/>
          </p:nvPr>
        </p:nvSpPr>
        <p:spPr>
          <a:xfrm>
            <a:off x="3293745" y="786130"/>
            <a:ext cx="5579745" cy="518287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 algn="l">
              <a:lnSpc>
                <a:spcPct val="80000"/>
              </a:lnSpc>
              <a:buClrTx/>
              <a:buSz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 yào shénme？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马丁   要   什么？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80000"/>
              </a:lnSpc>
              <a:buClrTx/>
              <a:buSzTx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mǎdīnɡ yào nǎzhǒnɡ？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马丁   要   哪种？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zhèzhǒnɡ miànbāo duōsh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oqián yíɡè？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这种     面包    多 少  钱  一个？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mǎdīnɡ yào jǐɡè miànbāo？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马丁   要  几个  面 包？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miànbāo yíɡònɡ duōshǎoqián？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80000"/>
              </a:lnSpc>
              <a:buClrTx/>
              <a:buSz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面包   一共    多 少 钱？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-15875"/>
            <a:ext cx="2056765" cy="914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问题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Question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1"/>
          </p:nvPr>
        </p:nvSpPr>
        <p:spPr>
          <a:xfrm>
            <a:off x="2273300" y="0"/>
            <a:ext cx="7311390" cy="685863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yínɡyèyuán：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ǐhǎo！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ǐnɡwèn，nǐ yào shénme？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营  业 员：  你好 ！  请 问， 你 要  什么？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mǎdīnɡ： </a:t>
            </a:r>
            <a:r>
              <a:rPr lang="en-US" altLang="zh-CN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 yào miànbāo。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马 丁：  我 要  面 包。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yínɡyèyuán：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ǐ yào nǎzhǒnɡ？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营  业员：   你 要  哪种？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mǎdīnɡ： </a:t>
            </a:r>
            <a:r>
              <a:rPr lang="en-US" altLang="zh-CN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 yào zhèzhǒnɡ，zhèzhǒnɡ duōshǎoqián yíɡè？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马 丁：  我 要  这  种，   这 种    多 少  钱  一个？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yínɡyèyuán：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hèzhǒnɡ sìkuàiwǔ yíɡè。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营  业 员：   这 种   四 块 五 一个。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mǎdīnɡ： </a:t>
            </a:r>
            <a:r>
              <a:rPr lang="en-US" altLang="zh-CN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 yào liǎnɡɡè。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马 丁：  我 要   两  个。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yínɡyèyuán：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íɡònɡ jiǔkuài 。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营  业 员：  一 共   九块。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mǎdīnɡ： </a:t>
            </a:r>
            <a:r>
              <a:rPr lang="en-US" altLang="zh-CN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ièxiè。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马 丁：  谢谢。 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yínɡyèyuán：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úkèqi。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营  业 员： 不客气。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课文二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two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0210" y="4739640"/>
            <a:ext cx="2824480" cy="2118995"/>
          </a:xfrm>
          <a:prstGeom prst="rect">
            <a:avLst/>
          </a:prstGeom>
        </p:spPr>
      </p:pic>
      <p:pic>
        <p:nvPicPr>
          <p:cNvPr id="6" name="6-7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87050" y="473075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5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5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5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5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5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5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5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5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52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52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52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52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52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52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52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52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93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98" dur="354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内容占位符 2"/>
          <p:cNvSpPr>
            <a:spLocks noGrp="1"/>
          </p:cNvSpPr>
          <p:nvPr>
            <p:ph idx="1"/>
          </p:nvPr>
        </p:nvSpPr>
        <p:spPr>
          <a:xfrm>
            <a:off x="3557270" y="635"/>
            <a:ext cx="5487670" cy="685736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>
              <a:lnSpc>
                <a:spcPct val="80000"/>
              </a:lnSpc>
            </a:pPr>
            <a:endParaRPr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yínɡyèyuán：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营  业 员：  你好 ！ </a:t>
            </a:r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我 要  面 包。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yínɡyèyuán： </a:t>
            </a:r>
            <a:endParaRPr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营  业员：   </a:t>
            </a:r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我 要  这  种，  </a:t>
            </a:r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yínɡyèyuán： 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营  业 员：   这 种   四 块 五 一个。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我 要   两  个。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yínɡyèyuán：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营  业 员：  </a:t>
            </a:r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谢谢。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yínɡyèyuán：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营  业 员： </a:t>
            </a:r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</a:t>
            </a:r>
            <a:endParaRPr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完成对话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the dialogues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内容占位符 2"/>
          <p:cNvSpPr>
            <a:spLocks noGrp="1"/>
          </p:cNvSpPr>
          <p:nvPr>
            <p:ph idx="1"/>
          </p:nvPr>
        </p:nvSpPr>
        <p:spPr>
          <a:xfrm>
            <a:off x="3110230" y="923290"/>
            <a:ext cx="7363460" cy="445262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20000"/>
          </a:bodyPr>
          <a:p>
            <a:pPr fontAlgn="base"/>
            <a:endParaRPr lang="zh-CN" altLang="en-US" sz="2400" b="1" strike="noStrike" noProof="1"/>
          </a:p>
          <a:p>
            <a:pPr fontAlgn="base"/>
            <a:r>
              <a:rPr lang="zh-CN" altLang="en-US" sz="2000" b="1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     +   duōshǎoqián   +  yī   +  measure word?</a:t>
            </a:r>
            <a:endParaRPr lang="zh-CN" altLang="en-US" sz="2000" b="1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zh-CN" altLang="en-US" sz="2000" b="1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     +    多 少  钱    +  一   +  measure word?</a:t>
            </a:r>
            <a:endParaRPr lang="zh-CN" altLang="en-US" sz="2000" b="1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buNone/>
            </a:pP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buNone/>
            </a:pP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miànbāo     duōshǎoqián      yí          ɡè？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buNone/>
            </a:pP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面 包       多 少  钱       一          个？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buNone/>
            </a:pP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pínɡɡuǒ     duōshǎoqián      yí          ɡè？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buNone/>
            </a:pP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苹 果       多 少  钱       一          个？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buNone/>
            </a:pPr>
            <a:endParaRPr lang="zh-CN" altLang="en-US" sz="2000" strike="noStrike" noProof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endParaRPr lang="zh-CN" altLang="en-US" sz="2400" b="1" strike="noStrike" noProof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pPr fontAlgn="base"/>
            <a:endParaRPr lang="zh-CN" altLang="en-US" sz="2400" b="1" strike="noStrike" noProof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pPr fontAlgn="base"/>
            <a:endParaRPr lang="zh-CN" altLang="en-US" sz="2400" b="1" strike="noStrike" noProof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pPr fontAlgn="base"/>
            <a:endParaRPr lang="zh-CN" altLang="en-US" sz="2400" b="1" strike="noStrike" noProof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01295" y="80645"/>
            <a:ext cx="3188335" cy="2363470"/>
            <a:chOff x="-362277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2277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语法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Grammar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内容占位符 2"/>
          <p:cNvSpPr>
            <a:spLocks noGrp="1"/>
          </p:cNvSpPr>
          <p:nvPr>
            <p:ph idx="1"/>
          </p:nvPr>
        </p:nvSpPr>
        <p:spPr>
          <a:xfrm>
            <a:off x="2707640" y="3402965"/>
            <a:ext cx="2416810" cy="195453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19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yínɡyèyuán： …… </a:t>
            </a:r>
            <a:endParaRPr sz="19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19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营  业 员 ： …… </a:t>
            </a:r>
            <a:endParaRPr sz="19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sz="19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19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wǒ： …… </a:t>
            </a:r>
            <a:endParaRPr sz="19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19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我： …… </a:t>
            </a:r>
            <a:endParaRPr sz="19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15330" y="3746500"/>
            <a:ext cx="1621790" cy="14116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57515" y="3746500"/>
            <a:ext cx="1521460" cy="14198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99005" y="889635"/>
            <a:ext cx="9309100" cy="2368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You're in a bookstore, and want to buy an electronic dictionary.Please complete the dialogue with the following words.</a:t>
            </a:r>
            <a:endParaRPr lang="en-US" sz="2000" b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endParaRPr lang="en-US" sz="2000" b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 qǐnɡwèn   yào   nǎzhǒnɡ     zhèzhǒnɡ    nàzhǒnɡ    duōshǎoqián ） </a:t>
            </a:r>
            <a:endParaRPr sz="20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 请 问     要     哪种        这 种       那种       多  少 钱 ） </a:t>
            </a:r>
            <a:endParaRPr sz="20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/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/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229.xml><?xml version="1.0" encoding="utf-8"?>
<p:tagLst xmlns:p="http://schemas.openxmlformats.org/presentationml/2006/main">
  <p:tag name="KSO_WM_UNIT_PLACING_PICTURE_USER_VIEWPORT" val="{&quot;height&quot;:8640,&quot;width&quot;:15360}"/>
</p:tagLst>
</file>

<file path=ppt/tags/tag230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231.xml><?xml version="1.0" encoding="utf-8"?>
<p:tagLst xmlns:p="http://schemas.openxmlformats.org/presentationml/2006/main">
  <p:tag name="KSO_WPP_MARK_KEY" val="6767eba5-da98-49fd-9259-4171efec0cfe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4031</Words>
  <Application>WPS 演示</Application>
  <PresentationFormat>宽屏</PresentationFormat>
  <Paragraphs>307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华文楷体</vt:lpstr>
      <vt:lpstr>Times New Roman</vt:lpstr>
      <vt:lpstr>Arial Unicode MS</vt:lpstr>
      <vt:lpstr>Office 主题​​</vt:lpstr>
      <vt:lpstr>    xiānɡjiāo duōshao qián yì jīn？  6   香  蕉   多 少   钱   一  斤？   Lesson 6 How much is half a kilogram of bananas?          　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94</cp:revision>
  <dcterms:created xsi:type="dcterms:W3CDTF">2019-08-11T11:31:00Z</dcterms:created>
  <dcterms:modified xsi:type="dcterms:W3CDTF">2024-04-12T01:33:35Z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E76B539FFFDF494B9C708B8830710D62</vt:lpwstr>
  </property>
</Properties>
</file>