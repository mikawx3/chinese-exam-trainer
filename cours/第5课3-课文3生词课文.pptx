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32" r:id="rId3"/>
    <p:sldId id="433" r:id="rId4"/>
    <p:sldId id="437" r:id="rId5"/>
    <p:sldId id="436" r:id="rId6"/>
    <p:sldId id="438" r:id="rId7"/>
    <p:sldId id="461" r:id="rId8"/>
    <p:sldId id="504" r:id="rId9"/>
    <p:sldId id="448" r:id="rId10"/>
    <p:sldId id="485" r:id="rId11"/>
    <p:sldId id="449" r:id="rId12"/>
    <p:sldId id="450" r:id="rId13"/>
    <p:sldId id="476" r:id="rId14"/>
    <p:sldId id="451" r:id="rId15"/>
    <p:sldId id="452" r:id="rId16"/>
    <p:sldId id="463" r:id="rId17"/>
    <p:sldId id="445" r:id="rId18"/>
    <p:sldId id="498" r:id="rId19"/>
    <p:sldId id="500" r:id="rId20"/>
    <p:sldId id="501" r:id="rId21"/>
    <p:sldId id="502" r:id="rId22"/>
    <p:sldId id="503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37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16"/>
        <p:guide pos="377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47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image" Target="../media/image12.png"/><Relationship Id="rId6" Type="http://schemas.openxmlformats.org/officeDocument/2006/relationships/tags" Target="../tags/tag235.xml"/><Relationship Id="rId5" Type="http://schemas.openxmlformats.org/officeDocument/2006/relationships/image" Target="../media/image11.png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image" Target="../media/image30.png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42.xml"/><Relationship Id="rId14" Type="http://schemas.openxmlformats.org/officeDocument/2006/relationships/tags" Target="../tags/tag241.xml"/><Relationship Id="rId13" Type="http://schemas.openxmlformats.org/officeDocument/2006/relationships/tags" Target="../tags/tag240.xml"/><Relationship Id="rId12" Type="http://schemas.openxmlformats.org/officeDocument/2006/relationships/image" Target="../media/image31.png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tags" Target="../tags/tag2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3.xml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4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45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70" y="2235185"/>
            <a:ext cx="9144000" cy="2386800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r>
              <a:rPr lang="en-US" altLang="zh-CN" sz="3110" err="1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sym typeface="+mn-ea"/>
              </a:rPr>
              <a:t>        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nǐ jiā yǒu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宋体" panose="02010600030101010101" pitchFamily="2" charset="-122"/>
              </a:rPr>
              <a:t>j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ǐ kǒu rén ？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5       你 家  有  </a:t>
            </a:r>
            <a:r>
              <a:rPr lang="zh-CN" altLang="en-US" sz="3110">
                <a:solidFill>
                  <a:schemeClr val="bg2">
                    <a:lumMod val="10000"/>
                  </a:schemeClr>
                </a:solidFill>
                <a:sym typeface="+mn-ea"/>
              </a:rPr>
              <a:t>几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 口  人  ？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zh-CN" altLang="en-US" sz="35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Lesson 5    </a:t>
            </a:r>
            <a:r>
              <a:rPr lang="en-US" altLang="zh-CN" sz="2220">
                <a:solidFill>
                  <a:schemeClr val="bg2">
                    <a:lumMod val="10000"/>
                  </a:schemeClr>
                </a:solidFill>
                <a:sym typeface="+mn-ea"/>
              </a:rPr>
              <a:t>How many people are there in your family?</a:t>
            </a:r>
            <a:br>
              <a:rPr lang="en-US" altLang="zh-CN" sz="2220" b="1"/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8060"/>
            <a:ext cx="3092450" cy="2059940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045" y="0"/>
            <a:ext cx="2814955" cy="18751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73630" y="0"/>
            <a:ext cx="4178300" cy="685863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/>
          </a:bodyPr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sz="2400" b="1">
                <a:latin typeface="+mn-lt"/>
                <a:ea typeface="+mn-ea"/>
                <a:sym typeface="+mn-ea"/>
              </a:rPr>
              <a:t> </a:t>
            </a:r>
            <a:r>
              <a:rPr sz="2000">
                <a:effectLst/>
                <a:latin typeface="+mn-lt"/>
                <a:ea typeface="+mn-ea"/>
                <a:sym typeface="+mn-ea"/>
              </a:rPr>
              <a:t> </a:t>
            </a:r>
            <a:r>
              <a:rPr sz="2000" b="1">
                <a:ln>
                  <a:noFill/>
                </a:ln>
                <a:effectLst/>
                <a:uLnTx/>
                <a:latin typeface="+mn-lt"/>
                <a:ea typeface="+mn-ea"/>
                <a:sym typeface="+mn-ea"/>
              </a:rPr>
              <a:t>  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nǐmen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1 你们: pron.  you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bān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2 班:n.  class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duōsh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ao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3 多 少:pron.how much, how many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ɡè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4 个: m.a measure word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xuéshenɡ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5 学  生:n. student   </a:t>
            </a: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wǒmen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6 我们:pron.we,us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188835" y="2677795"/>
            <a:ext cx="3797935" cy="1501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  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liǎnɡ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 两: num.two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zh-CN" altLang="en-US"/>
          </a:p>
        </p:txBody>
      </p:sp>
      <p:pic>
        <p:nvPicPr>
          <p:cNvPr id="2" name="5-8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274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225915" y="1405890"/>
            <a:ext cx="495300" cy="49530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257790" y="-70485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课文三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three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5123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p>
            <a:br>
              <a:rPr lang="zh-CN" altLang="zh-CN" dirty="0"/>
            </a:br>
            <a:endParaRPr lang="zh-CN" altLang="zh-CN" dirty="0"/>
          </a:p>
        </p:txBody>
      </p:sp>
      <p:grpSp>
        <p:nvGrpSpPr>
          <p:cNvPr id="4" name="组合 1"/>
          <p:cNvGrpSpPr/>
          <p:nvPr/>
        </p:nvGrpSpPr>
        <p:grpSpPr>
          <a:xfrm>
            <a:off x="-163830" y="364490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402070" y="2307590"/>
            <a:ext cx="5506720" cy="2295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nǐmen bān yǒu </a:t>
            </a:r>
            <a:r>
              <a:rPr lang="en-US" altLang="zh-CN"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duōsh</a:t>
            </a:r>
            <a:r>
              <a:rPr lang="en-US" altLang="zh-CN"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ao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ɡè xuéshenɡ？  </a:t>
            </a:r>
            <a:endParaRPr kumimoji="0" lang="en-US" altLang="zh-CN" sz="20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 你们  班  有   </a:t>
            </a:r>
            <a:r>
              <a:rPr lang="en-US" altLang="zh-CN"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 少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  学 生？</a:t>
            </a:r>
            <a:endParaRPr lang="en-US" altLang="zh-CN"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（How many students are there in your class?）</a:t>
            </a:r>
            <a:endParaRPr lang="en-US" altLang="zh-CN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endParaRPr lang="en-US" altLang="zh-CN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men bān yǒu </a:t>
            </a:r>
            <a:r>
              <a:rPr lang="en-US" altLang="zh-CN" sz="2000">
                <a:ln>
                  <a:noFill/>
                </a:ln>
                <a:solidFill>
                  <a:schemeClr val="tx1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ɡè xuéshenɡ</a:t>
            </a:r>
            <a:r>
              <a:rPr lang="zh-CN" altLang="en-US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zh-CN" altLang="en-US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我们  班  有  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 </a:t>
            </a:r>
            <a:r>
              <a:rPr lang="zh-CN" altLang="en-US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  学 生。</a:t>
            </a:r>
            <a:endParaRPr lang="en-US" altLang="zh-CN"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（There  are  20 students in our  class.）</a:t>
            </a:r>
            <a:endParaRPr lang="en-US" altLang="zh-CN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2056130" y="0"/>
            <a:ext cx="4178300" cy="6858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sz="2400" b="1">
                <a:latin typeface="+mn-lt"/>
                <a:ea typeface="+mn-ea"/>
                <a:sym typeface="+mn-ea"/>
              </a:rPr>
              <a:t> </a:t>
            </a:r>
            <a:r>
              <a:rPr sz="2000">
                <a:effectLst/>
                <a:latin typeface="+mn-lt"/>
                <a:ea typeface="+mn-ea"/>
                <a:sym typeface="+mn-ea"/>
              </a:rPr>
              <a:t> </a:t>
            </a:r>
            <a:r>
              <a:rPr sz="2000" b="1">
                <a:ln>
                  <a:noFill/>
                </a:ln>
                <a:effectLst/>
                <a:uLnTx/>
                <a:latin typeface="+mn-lt"/>
                <a:ea typeface="+mn-ea"/>
                <a:sym typeface="+mn-ea"/>
              </a:rPr>
              <a:t>  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nǐmen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1 你们:you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bān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2 班:class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duōsh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ao </a:t>
            </a:r>
            <a:endParaRPr kumimoji="0" lang="en-US" altLang="zh-CN" sz="2000" b="1" i="0" u="none" strike="noStrike" kern="1200" cap="none" spc="0" normalizeH="0" baseline="0" noProof="1">
              <a:solidFill>
                <a:srgbClr val="FF0000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3 多 少:how much, how many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ɡè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4 个: a measure word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xuéshenɡ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5 学  生:student   </a:t>
            </a: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wǒmen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6 我们:we,us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文本占位符 5124"/>
          <p:cNvSpPr>
            <a:spLocks noGrp="1"/>
          </p:cNvSpPr>
          <p:nvPr>
            <p:ph idx="1"/>
          </p:nvPr>
        </p:nvSpPr>
        <p:spPr>
          <a:xfrm>
            <a:off x="2079625" y="709295"/>
            <a:ext cx="8670290" cy="423799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10000"/>
          </a:bodyPr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  <a:defRPr/>
            </a:pPr>
            <a:r>
              <a:rPr lang="en-US" altLang="zh-CN" sz="2800" b="1" strike="noStrike" noProof="1" dirty="0"/>
              <a:t> </a:t>
            </a:r>
            <a:r>
              <a:rPr lang="en-US" altLang="zh-CN" sz="2400" b="1" strike="noStrike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   </a:t>
            </a: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duōsh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 </a:t>
            </a:r>
            <a:endParaRPr kumimoji="0" lang="zh-CN" altLang="en-US" sz="20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 多 少:how much, how many</a:t>
            </a:r>
            <a:endParaRPr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kumimoji="0" lang="zh-CN" altLang="en-US" sz="20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fontAlgn="base">
              <a:lnSpc>
                <a:spcPct val="90000"/>
              </a:lnSpc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jǐ </a:t>
            </a:r>
            <a:endParaRPr kumimoji="0" lang="zh-CN" altLang="en-US" sz="20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fontAlgn="base">
              <a:lnSpc>
                <a:spcPct val="90000"/>
              </a:lnSpc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几: h</a:t>
            </a:r>
            <a:r>
              <a:rPr lang="en-US" altLang="zh-CN"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ow much, how many</a:t>
            </a: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sz="2000">
              <a:ln>
                <a:noFill/>
              </a:ln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fontAlgn="base">
              <a:lnSpc>
                <a:spcPct val="9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algn="l" defTabSz="914400" rtl="0" fontAlgn="base">
              <a:lnSpc>
                <a:spcPct val="90000"/>
              </a:lnSpc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多少 </a:t>
            </a:r>
            <a:r>
              <a:rPr lang="en-US" altLang="zh-CN"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&amp; </a:t>
            </a:r>
            <a:r>
              <a:rPr sz="2000" b="1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几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0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sz="2000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多少 </a:t>
            </a:r>
            <a:r>
              <a:rPr sz="2000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ln>
                  <a:noFill/>
                </a:ln>
                <a:solidFill>
                  <a:srgbClr val="FF0000"/>
                </a:solidFill>
                <a:uLnTx/>
                <a:ea typeface="+mn-ea"/>
                <a:cs typeface="Arial" panose="020B0604020202020204" pitchFamily="34" charset="0"/>
                <a:sym typeface="+mn-ea"/>
              </a:rPr>
              <a:t>≥</a:t>
            </a:r>
            <a:r>
              <a:rPr sz="2000" b="1">
                <a:ln>
                  <a:noFill/>
                </a:ln>
                <a:solidFill>
                  <a:srgbClr val="FF0000"/>
                </a:solidFill>
                <a:uLnTx/>
                <a:latin typeface="+mn-lt"/>
                <a:ea typeface="+mn-ea"/>
                <a:cs typeface="Arial" panose="020B0604020202020204" pitchFamily="34" charset="0"/>
                <a:sym typeface="+mn-ea"/>
              </a:rPr>
              <a:t> </a:t>
            </a:r>
            <a:r>
              <a:rPr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</a:t>
            </a:r>
            <a:r>
              <a:rPr sz="2000" b="1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 the expected number is above 10</a:t>
            </a:r>
            <a:r>
              <a:rPr sz="2000" b="1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en-US" altLang="zh-CN" sz="2000" b="1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 ≤ </a:t>
            </a:r>
            <a:r>
              <a:rPr sz="2000" b="1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几  </a:t>
            </a:r>
            <a:r>
              <a:rPr lang="en-US" altLang="zh-CN" sz="2000" b="1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≤10</a:t>
            </a:r>
            <a:r>
              <a:rPr lang="en-US" altLang="zh-CN" sz="200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 b="1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 the expected number is less than 10</a:t>
            </a:r>
            <a:r>
              <a:rPr sz="2000" b="1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5123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p>
            <a:br>
              <a:rPr lang="zh-CN" altLang="zh-CN" dirty="0"/>
            </a:br>
            <a:endParaRPr lang="zh-CN" altLang="zh-CN" dirty="0"/>
          </a:p>
        </p:txBody>
      </p:sp>
      <p:sp>
        <p:nvSpPr>
          <p:cNvPr id="6146" name="文本占位符 5124"/>
          <p:cNvSpPr>
            <a:spLocks noGrp="1"/>
          </p:cNvSpPr>
          <p:nvPr>
            <p:ph idx="1"/>
          </p:nvPr>
        </p:nvSpPr>
        <p:spPr>
          <a:xfrm>
            <a:off x="2180590" y="1591945"/>
            <a:ext cx="4857750" cy="429133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90000"/>
          </a:bodyPr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zh-CN" sz="2220" b="1">
                <a:ln>
                  <a:noFill/>
                </a:ln>
                <a:uLnTx/>
                <a:latin typeface="+mn-lt"/>
                <a:ea typeface="+mn-ea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r>
              <a:rPr lang="en-US" altLang="zh-CN" sz="2220" b="1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jǐ</a:t>
            </a: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 你 家  有 </a:t>
            </a:r>
            <a:r>
              <a:rPr lang="en-US" altLang="zh-CN" sz="2220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20" b="1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几</a:t>
            </a:r>
            <a:r>
              <a:rPr lang="en-US" altLang="zh-CN" sz="2220">
                <a:ln>
                  <a:noFill/>
                </a:ln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口  人？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 </a:t>
            </a:r>
            <a:r>
              <a:rPr lang="en-US" altLang="zh-CN" sz="2220" b="1">
                <a:ln>
                  <a:noFill/>
                </a:ln>
                <a:solidFill>
                  <a:srgbClr val="00B05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</a:t>
            </a: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口  人。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bān     </a:t>
            </a:r>
            <a:r>
              <a:rPr lang="en-US" altLang="zh-CN" sz="222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duōsh</a:t>
            </a:r>
            <a:r>
              <a:rPr lang="en-US" altLang="zh-CN" sz="222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ao</a:t>
            </a: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ɡè xuéshenɡ？  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你们  班  有   </a:t>
            </a:r>
            <a:r>
              <a:rPr lang="en-US" altLang="zh-CN" sz="222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 少</a:t>
            </a:r>
            <a:r>
              <a:rPr lang="en-US" altLang="zh-CN" sz="2220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  学 生？ 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en-US" altLang="zh-CN" sz="2220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20</a:t>
            </a:r>
            <a:r>
              <a:rPr lang="en-US" altLang="zh-CN" sz="222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个 学 生。 </a:t>
            </a:r>
            <a:endParaRPr kumimoji="0" lang="en-US" altLang="zh-CN" sz="222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220" i="0" u="none" strike="noStrike" kern="1200" cap="none" spc="0" normalizeH="0" baseline="0" noProof="1" dirty="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173990" y="334010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8681403" y="581660"/>
            <a:ext cx="2117725" cy="1628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多少 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≥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  <a:sym typeface="+mn-ea"/>
              </a:rPr>
              <a:t>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  <a:sym typeface="+mn-ea"/>
              </a:rPr>
              <a:t>10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  <a:sym typeface="+mn-ea"/>
              </a:rPr>
              <a:t> 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0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  <a:sym typeface="+mn-ea"/>
              </a:rPr>
              <a:t>≤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  <a:sym typeface="+mn-ea"/>
              </a:rPr>
              <a:t>几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  <a:sym typeface="+mn-ea"/>
              </a:rPr>
              <a:t>≤10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 descr="86b53fd8d6790940bc95d00d4ad00c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190" y="2946400"/>
            <a:ext cx="4663440" cy="3602990"/>
          </a:xfrm>
          <a:prstGeom prst="round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1541780"/>
            <a:ext cx="8930005" cy="303403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88055" y="2171700"/>
            <a:ext cx="187833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你有几个哥哥？</a:t>
            </a:r>
            <a:endParaRPr lang="zh-CN" altLang="en-US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88055" y="3343910"/>
            <a:ext cx="187833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你家有几口人</a:t>
            </a:r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zh-CN" altLang="en-US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43825" y="2171700"/>
            <a:ext cx="187833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你有多少个同学</a:t>
            </a:r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zh-CN" altLang="en-US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99045" y="3429000"/>
            <a:ext cx="2506345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你们班有多少个学生</a:t>
            </a:r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zh-CN" altLang="en-US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1541780"/>
            <a:ext cx="8930005" cy="3034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/>
        </p:nvSpPr>
        <p:spPr>
          <a:xfrm>
            <a:off x="1107440" y="1476375"/>
            <a:ext cx="10877550" cy="1867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</a:t>
            </a:r>
            <a:r>
              <a:rPr lang="en-US" altLang="zh-CN"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The number “2”can be pronounced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as </a:t>
            </a:r>
            <a:r>
              <a:rPr lang="en-US" altLang="zh-CN"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</a:t>
            </a:r>
            <a:r>
              <a:rPr lang="en-US" altLang="zh-CN"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（èr)”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or 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两（liǎnɡ）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altLang="zh-CN"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</a:t>
            </a:r>
            <a:r>
              <a:rPr lang="en-US" altLang="zh-CN" sz="2000" b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（èr)”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is used when counting or reading a number,while 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两（liǎnɡ）</a:t>
            </a:r>
            <a:r>
              <a:rPr lang="en-US" alt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is used in front of a measure word. eg: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8910" y="3705225"/>
            <a:ext cx="2703195" cy="19380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      </a:t>
            </a:r>
            <a:r>
              <a:rPr lang="zh-CN" altLang="en-US" sz="20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èr</a:t>
            </a:r>
            <a:endParaRPr lang="zh-CN" altLang="en-US" sz="20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82     </a:t>
            </a:r>
            <a:r>
              <a:rPr lang="zh-CN" altLang="en-US" sz="20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bāshí</a:t>
            </a:r>
            <a:r>
              <a:rPr lang="en-US" altLang="zh-CN" sz="20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'</a:t>
            </a:r>
            <a:r>
              <a:rPr lang="zh-CN" altLang="en-US" sz="20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èr</a:t>
            </a:r>
            <a:endParaRPr lang="zh-CN" altLang="en-US" sz="20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0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 dirty="0" smtClean="0">
                <a:sym typeface="+mn-ea"/>
              </a:rPr>
              <a:t>22        </a:t>
            </a:r>
            <a:r>
              <a:rPr lang="en-US" sz="2000" dirty="0" err="1" smtClean="0">
                <a:sym typeface="+mn-ea"/>
              </a:rPr>
              <a:t>èrshí</a:t>
            </a:r>
            <a:r>
              <a:rPr lang="en-US" altLang="zh-CN" sz="20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'</a:t>
            </a:r>
            <a:r>
              <a:rPr lang="en-US" sz="2000" dirty="0" smtClean="0">
                <a:sym typeface="+mn-ea"/>
              </a:rPr>
              <a:t> </a:t>
            </a:r>
            <a:r>
              <a:rPr lang="en-US" sz="2000" dirty="0" err="1" smtClean="0">
                <a:sym typeface="+mn-ea"/>
              </a:rPr>
              <a:t>èr</a:t>
            </a:r>
            <a:endParaRPr lang="zh-CN" altLang="en-US" sz="2000" dirty="0" smtClean="0"/>
          </a:p>
          <a:p>
            <a:endParaRPr lang="zh-CN" altLang="en-US" sz="20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5875" y="3695700"/>
            <a:ext cx="5124450" cy="11372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 个 弟弟      liǎnɡ ɡè dìdi</a:t>
            </a:r>
            <a:endParaRPr sz="2000" b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 口 人 </a:t>
            </a:r>
            <a:r>
              <a:rPr sz="20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liǎnɡ kǒu rén</a:t>
            </a:r>
            <a:endParaRPr lang="zh-CN" sz="2000" b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472690" y="394335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>
                <a:ln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sym typeface="+mn-ea"/>
              </a:rPr>
              <a:t> </a:t>
            </a:r>
            <a:r>
              <a:rPr lang="en-US" altLang="zh-CN" sz="200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liǎnɡ </a:t>
            </a:r>
            <a:endParaRPr kumimoji="0" lang="zh-CN" altLang="en-US" sz="20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</a:t>
            </a:r>
            <a:r>
              <a:rPr lang="zh-CN" altLang="en-US" sz="200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</a:t>
            </a:r>
            <a:r>
              <a:rPr lang="en-US" altLang="zh-CN" sz="200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 two</a:t>
            </a:r>
            <a:r>
              <a:rPr lang="zh-CN" altLang="en-US" sz="200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103" y="680760"/>
            <a:ext cx="3456384" cy="2447120"/>
          </a:xfr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15" y="3977005"/>
            <a:ext cx="2628900" cy="1745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313" y="3555360"/>
            <a:ext cx="1897665" cy="28540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808" y="253787"/>
            <a:ext cx="2289217" cy="35348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4210" y="2988945"/>
            <a:ext cx="1470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两个人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164705" y="2885440"/>
            <a:ext cx="3390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两本书（liǎnɡ běn shū ）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2110" y="6041390"/>
            <a:ext cx="3240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两杯咖啡（liǎnɡ bēi kā fēi）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34985" y="537210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两瓶水（liǎnɡ pínɡ shuǐ 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2445385" y="446405"/>
            <a:ext cx="7920990" cy="605663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zhūyún：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ínnà，nǐmen bān yǒu duōsh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 ɡè xuéshenɡ？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 云： 林娜， 你们  班  有  多 少   个  学生？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línnà：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híliù ɡè。 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 娜： 十 六 个。 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zhūyún：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ǐmen bān yǒu jǐ ɡè fǎɡuórén？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 云： 你们  班  有  几 个  法国人？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línnà：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ǒmen bān yǒu liǎnɡ ɡè fǎɡuórén。 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 娜： 我们  班  有  两    个 法国人。 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zhūyún：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 men bān yǒu hán ɡuó rén mɑ 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 云： 你 们  班  有  韩  国  人  吗 ？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ǒu 。 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有  。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zhūyún：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ǒu jǐ ɡè hánɡuórén？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朱 云： 有  几 个 韩 国 人？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ǒu sì ɡè hánɡuórén。 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有  四 个 韩 国 人。 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课文三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three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5" name="5-9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34420" y="44640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3303905" y="1181735"/>
            <a:ext cx="5457825" cy="435229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10000"/>
          </a:bodyPr>
          <a:p>
            <a:pPr algn="l" eaLnBrk="1" hangingPunct="1">
              <a:buClrTx/>
              <a:buSzTx/>
            </a:pPr>
            <a:r>
              <a:rPr lang="en-US" altLang="zh-CN" sz="2000" b="1"/>
              <a:t>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  de bān yǒu duōsh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ɡè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xuéshenɡ？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1" hangingPunct="1"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林娜  的  班  有  多 少 个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学 生？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1" hangingPunct="1">
              <a:buClrTx/>
              <a:buSzTx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1" hangingPunct="1"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línnà de bān yǒu jǐɡè fǎɡuórén？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1" hangingPunct="1"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林娜  的  班 有  几个 法国人？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1" hangingPunct="1">
              <a:buClrTx/>
              <a:buSzTx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1" hangingPunct="1"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línnà de bān yǒu jǐɡè hánɡuórén？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1" hangingPunct="1">
              <a:buClrTx/>
              <a:buSzTx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林娜  的 班  有  几个  韩国人？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-15875"/>
            <a:ext cx="2056765" cy="914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问题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Question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2445385" y="446405"/>
            <a:ext cx="7920990" cy="585152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>
              <a:lnSpc>
                <a:spcPct val="80000"/>
              </a:lnSpc>
            </a:pP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朱 云： 林娜， 你们班  有  多少</a:t>
            </a:r>
            <a:r>
              <a:rPr lang="en-US" altLang="zh-CN" sz="2400">
                <a:solidFill>
                  <a:srgbClr val="FF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2400">
                <a:solidFill>
                  <a:srgbClr val="FF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  学生？ 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林 娜： 十 六 个。 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朱 云： 你们  班  有  几 个  法国人？ 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林 娜： 我们 班  有  两个 法国人。 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朱 云： 你们 班  有  韩国人  吗 ？</a:t>
            </a:r>
            <a:r>
              <a:rPr sz="2400">
                <a:solidFill>
                  <a:srgbClr val="FF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sz="2400">
              <a:solidFill>
                <a:srgbClr val="FF0000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有。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sz="2400">
                <a:solidFill>
                  <a:srgbClr val="FF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朱 云： 有  几 个 韩国人？</a:t>
            </a:r>
            <a:endParaRPr lang="zh-CN" altLang="en-US" sz="2400">
              <a:solidFill>
                <a:srgbClr val="FF0000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有  四 个 韩国人。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课文三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three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5" name="5-9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34420" y="446405"/>
            <a:ext cx="495300" cy="495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61740" y="75120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lín nà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0190" y="3535045"/>
            <a:ext cx="1219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/>
              <a:t>H</a:t>
            </a:r>
            <a:r>
              <a:rPr lang="zh-CN" altLang="en-US" sz="1400"/>
              <a:t>án ɡuó</a:t>
            </a:r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4924425" y="5472430"/>
            <a:ext cx="1219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/>
              <a:t>H</a:t>
            </a:r>
            <a:r>
              <a:rPr lang="zh-CN" altLang="en-US" sz="1400"/>
              <a:t>án ɡuó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2404110" y="2672715"/>
            <a:ext cx="8182610" cy="294259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 number + measure word + noun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yí         ɡè         xuéshenɡ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00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一         个          学 生   （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 student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liǎnɡ        ɡè         dìdi             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两         个         弟弟     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two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younger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brothers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sì         kǒu         rén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四         口          人      （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our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family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members）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01295" y="80645"/>
            <a:ext cx="3188335" cy="2363470"/>
            <a:chOff x="-362277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2277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语法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Grammar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378710" y="1302385"/>
            <a:ext cx="82080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 modern Chinese, there is usually a measure word between a numberal and a noun or between a demonstrative pronoun and a noun.”</a:t>
            </a:r>
            <a:r>
              <a:rPr lang="zh-CN" altLang="en-US"/>
              <a:t>个</a:t>
            </a:r>
            <a:r>
              <a:rPr lang="en-US" altLang="zh-CN"/>
              <a:t>”</a:t>
            </a:r>
            <a:r>
              <a:rPr lang="en-US" altLang="zh-CN"/>
              <a:t>is the most commonly used measure word. For example,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01295" y="80645"/>
            <a:ext cx="3188335" cy="2363470"/>
            <a:chOff x="-362277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2277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语法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Grammar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70" y="1811655"/>
            <a:ext cx="10713720" cy="32346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642360" y="2948305"/>
            <a:ext cx="80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个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286125" y="3931285"/>
            <a:ext cx="80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口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38465" y="3075305"/>
            <a:ext cx="80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个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575675" y="3931285"/>
            <a:ext cx="80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个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完成对话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the dialogues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480" y="1341755"/>
            <a:ext cx="5204460" cy="5176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815" y="2003425"/>
            <a:ext cx="4456430" cy="30175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483485" y="1341755"/>
            <a:ext cx="187833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你家有几口人</a:t>
            </a:r>
            <a:endParaRPr lang="zh-CN" altLang="en-US" sz="20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83485" y="2367280"/>
            <a:ext cx="2516505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你爸爸做什么工作</a:t>
            </a:r>
            <a:endParaRPr lang="zh-CN" altLang="en-US" sz="20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3485" y="3359785"/>
            <a:ext cx="121920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你妈妈呢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55010" y="3777615"/>
            <a:ext cx="133096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也是老师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3485" y="4307205"/>
            <a:ext cx="1482725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你有哥哥吗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83485" y="5879465"/>
            <a:ext cx="174625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我哥哥是医生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91475" y="2672715"/>
            <a:ext cx="175514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我是</a:t>
            </a:r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法国人。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91475" y="3665220"/>
            <a:ext cx="1878330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她也是</a:t>
            </a:r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法国人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91475" y="4602480"/>
            <a:ext cx="2352675" cy="305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对，我们都是学生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7" grpId="0" animBg="1"/>
      <p:bldP spid="8" grpId="0" animBg="1"/>
      <p:bldP spid="9" grpId="0" animBg="1"/>
      <p:bldP spid="10" grpId="0" bldLvl="0" animBg="1"/>
      <p:bldP spid="11" grpId="0" bldLvl="0" animBg="1"/>
      <p:bldP spid="12" grpId="0" animBg="1"/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3498215" y="2559685"/>
            <a:ext cx="6505575" cy="176022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sz="24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qǐnɡ jièshào nǐ de bān。 </a:t>
            </a:r>
            <a:endParaRPr kumimoji="0" lang="zh-CN" altLang="en-US" sz="24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sz="2400">
                <a:ln>
                  <a:noFill/>
                </a:ln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请   介绍   你 的 班。</a:t>
            </a:r>
            <a:endParaRPr kumimoji="0" lang="zh-CN" altLang="en-US" sz="24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400">
                <a:ln>
                  <a:noFill/>
                </a:ln>
                <a:solidFill>
                  <a:schemeClr val="tx1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ln>
                  <a:noFill/>
                </a:ln>
                <a:solidFill>
                  <a:schemeClr val="tx1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Please introudce your class</a:t>
            </a:r>
            <a:r>
              <a:rPr sz="2400">
                <a:ln>
                  <a:noFill/>
                </a:ln>
                <a:solidFill>
                  <a:schemeClr val="tx1"/>
                </a:solidFill>
                <a:effectLst/>
                <a:uLn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sz="2400">
              <a:ln>
                <a:noFill/>
              </a:ln>
              <a:solidFill>
                <a:schemeClr val="tx1"/>
              </a:solidFill>
              <a:effectLst/>
              <a:uLn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442720" cy="139446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rot="10800000">
            <a:off x="10749280" y="5463540"/>
            <a:ext cx="1442720" cy="13944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0" y="-635"/>
            <a:ext cx="12192000" cy="6858635"/>
          </a:xfrm>
          <a:prstGeom prst="rect">
            <a:avLst/>
          </a:prstGeom>
          <a:pattFill prst="dkHorz">
            <a:fgClr>
              <a:schemeClr val="accent1">
                <a:lumMod val="20000"/>
                <a:lumOff val="80000"/>
              </a:schemeClr>
            </a:fgClr>
            <a:bgClr>
              <a:schemeClr val="l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image 190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1457325" y="205740"/>
            <a:ext cx="9291955" cy="5835015"/>
          </a:xfrm>
          <a:prstGeom prst="rect">
            <a:avLst/>
          </a:prstGeom>
          <a:ln>
            <a:noFill/>
          </a:ln>
          <a:effectLst>
            <a:outerShdw blurRad="152400" dist="381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3649961" y="885159"/>
            <a:ext cx="5181638" cy="676717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200" dirty="0">
                <a:solidFill>
                  <a:schemeClr val="accent1"/>
                </a:solidFill>
                <a:uFillTx/>
                <a:latin typeface="汉仪旗黑-85S" panose="00020600040101010101" charset="-122"/>
                <a:ea typeface="汉仪旗黑-85S" panose="00020600040101010101" charset="-122"/>
              </a:rPr>
              <a:t>说一说（我们的班）</a:t>
            </a:r>
            <a:endParaRPr lang="zh-CN" altLang="en-US" sz="3600" b="1" spc="200" dirty="0">
              <a:solidFill>
                <a:schemeClr val="accent1"/>
              </a:solidFill>
              <a:uFillTx/>
              <a:latin typeface="汉仪旗黑-85S" panose="00020600040101010101" charset="-122"/>
              <a:ea typeface="汉仪旗黑-85S" panose="00020600040101010101" charset="-122"/>
            </a:endParaRPr>
          </a:p>
        </p:txBody>
      </p:sp>
      <p:sp>
        <p:nvSpPr>
          <p:cNvPr id="15" name="Title 6"/>
          <p:cNvSpPr txBox="1"/>
          <p:nvPr>
            <p:custDataLst>
              <p:tags r:id="rId14"/>
            </p:custDataLst>
          </p:nvPr>
        </p:nvSpPr>
        <p:spPr>
          <a:xfrm>
            <a:off x="2874010" y="1405255"/>
            <a:ext cx="7152005" cy="468249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我是北航的留学生。</a:t>
            </a:r>
            <a:endParaRPr lang="zh-CN" altLang="en-US" sz="24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（zài）北航学习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汉语。</a:t>
            </a:r>
            <a:endParaRPr lang="zh-CN" altLang="en-US" sz="24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我们班的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汉语老师是沙（shā）老师。</a:t>
            </a:r>
            <a:endParaRPr lang="zh-CN" altLang="en-US" sz="24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我们班有 </a:t>
            </a:r>
            <a:r>
              <a:rPr altLang="zh-CN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个学生。</a:t>
            </a:r>
            <a:endParaRPr lang="zh-CN" altLang="en-US" sz="24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三个塞拉利昂人，一个孟加拉国人，一个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科特迪瓦人，一个塔吉克斯坦人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和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一个约旦人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lang="zh-CN" altLang="en-US" sz="24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我们都学习汉语。</a:t>
            </a:r>
            <a:endParaRPr lang="zh-CN" altLang="en-US" sz="24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我们一起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上课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，一起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学习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，一起说</a:t>
            </a:r>
            <a:r>
              <a:rPr lang="zh-CN" altLang="en-US" sz="2400" spc="6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汉语。</a:t>
            </a:r>
            <a:endParaRPr lang="zh-CN" altLang="en-US" sz="24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79400" lvl="0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endParaRPr lang="en-US" altLang="zh-CN" sz="2000" spc="6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内容占位符 11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638810" y="1066800"/>
            <a:ext cx="10666730" cy="48793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92985" y="251269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都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04945" y="3276600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是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92780" y="3928110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口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20035" y="465264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多少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89325" y="534352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和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69225" y="2589530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两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69225" y="3049905"/>
            <a:ext cx="60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zài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69225" y="3736975"/>
            <a:ext cx="60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zài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776720" y="3928110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也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81545" y="465264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几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1798955" y="813435"/>
            <a:ext cx="8594090" cy="52311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84295" y="190944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几口人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71740" y="269938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和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57675" y="3335655"/>
            <a:ext cx="2007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做什么</a:t>
            </a:r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工作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67120" y="412559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医生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9410" y="4761865"/>
            <a:ext cx="1925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做什么</a:t>
            </a:r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工作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31790" y="5442585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都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705" y="490855"/>
            <a:ext cx="5617845" cy="18230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705" y="2313940"/>
            <a:ext cx="5617210" cy="3975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696460" y="910590"/>
            <a:ext cx="2007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学习</a:t>
            </a:r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汉语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61305" y="2313940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多少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64025" y="5036820"/>
            <a:ext cx="109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几个</a:t>
            </a:r>
            <a:endParaRPr lang="zh-CN" altLang="en-US" sz="240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238.xml><?xml version="1.0" encoding="utf-8"?>
<p:tagLst xmlns:p="http://schemas.openxmlformats.org/presentationml/2006/main">
  <p:tag name="KSO_WM_UNIT_BLOCK" val="0"/>
  <p:tag name="KSO_WM_UNIT_SM_LIMIT_TYPE" val="2"/>
  <p:tag name="KSO_WM_UNIT_DEC_AREA_ID" val="97f9ecc0672748c6a4c8250db3ac7837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456_1*i*1"/>
  <p:tag name="KSO_WM_TEMPLATE_CATEGORY" val="diagram"/>
  <p:tag name="KSO_WM_TEMPLATE_INDEX" val="20212456"/>
  <p:tag name="KSO_WM_UNIT_LAYERLEVEL" val="1"/>
  <p:tag name="KSO_WM_TAG_VERSION" val="1.0"/>
  <p:tag name="KSO_WM_BEAUTIFY_FLAG" val="#wm#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f2230a6c4814ce96fb13bbd"/>
  <p:tag name="KSO_WM_CHIP_XID" val="5f2230a6c4814ce96fb13bbe"/>
  <p:tag name="KSO_WM_UNIT_FILL_FORE_SCHEMECOLOR_INDEX_BRIGHTNESS" val="0.8"/>
  <p:tag name="KSO_WM_UNIT_FILL_FORE_SCHEMECOLOR_INDEX" val="5"/>
  <p:tag name="KSO_WM_UNIT_FILL_BACK_SCHEMECOLOR_INDEX_BRIGHTNESS" val="0"/>
  <p:tag name="KSO_WM_UNIT_FILL_BACK_SCHEMECOLOR_INDEX" val="16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1325"/>
  <p:tag name="KSO_WM_TEMPLATE_ASSEMBLE_XID" val="60656f444054ed1e2fb80691"/>
  <p:tag name="KSO_WM_TEMPLATE_ASSEMBLE_GROUPID" val="60656f444054ed1e2fb80691"/>
</p:tagLst>
</file>

<file path=ppt/tags/tag239.xml><?xml version="1.0" encoding="utf-8"?>
<p:tagLst xmlns:p="http://schemas.openxmlformats.org/presentationml/2006/main">
  <p:tag name="KSO_WM_UNIT_BLOCK" val="0"/>
  <p:tag name="KSO_WM_UNIT_SM_LIMIT_TYPE" val="2"/>
  <p:tag name="KSO_WM_UNIT_DEC_AREA_ID" val="41a7af44fd974ad9b00b4d7fa7fa971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456_1*i*2"/>
  <p:tag name="KSO_WM_TEMPLATE_CATEGORY" val="diagram"/>
  <p:tag name="KSO_WM_TEMPLATE_INDEX" val="20212456"/>
  <p:tag name="KSO_WM_UNIT_LAYERLEVEL" val="1"/>
  <p:tag name="KSO_WM_TAG_VERSION" val="1.0"/>
  <p:tag name="KSO_WM_BEAUTIFY_FLAG" val="#wm#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f2230a6c4814ce96fb13bbd"/>
  <p:tag name="KSO_WM_CHIP_XID" val="5f2230a6c4814ce96fb13bbe"/>
  <p:tag name="KSO_WM_TEMPLATE_ASSEMBLE_XID" val="60656f444054ed1e2fb80691"/>
  <p:tag name="KSO_WM_TEMPLATE_ASSEMBLE_GROUPID" val="60656f444054ed1e2fb80691"/>
</p:tagLst>
</file>

<file path=ppt/tags/tag2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456_1*a*1"/>
  <p:tag name="KSO_WM_TEMPLATE_CATEGORY" val="diagram"/>
  <p:tag name="KSO_WM_TEMPLATE_INDEX" val="20212456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652eb6250f64ae1b056ecfcf67ffb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e0643eabf93742118d9b82b96f332717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f444054ed1e2fb80691"/>
  <p:tag name="KSO_WM_TEMPLATE_ASSEMBLE_GROUPID" val="60656f444054ed1e2fb80691"/>
</p:tagLst>
</file>

<file path=ppt/tags/tag24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12456_1*f*1"/>
  <p:tag name="KSO_WM_TEMPLATE_CATEGORY" val="diagram"/>
  <p:tag name="KSO_WM_TEMPLATE_INDEX" val="20212456"/>
  <p:tag name="KSO_WM_UNIT_LAYERLEVEL" val="1"/>
  <p:tag name="KSO_WM_TAG_VERSION" val="1.0"/>
  <p:tag name="KSO_WM_UNIT_DEFAULT_FONT" val="14;20;2"/>
  <p:tag name="KSO_WM_UNIT_BLOCK" val="0"/>
  <p:tag name="KSO_WM_UNIT_VALUE" val="100"/>
  <p:tag name="KSO_WM_UNIT_SHOW_EDIT_AREA_INDICATION" val="1"/>
  <p:tag name="KSO_WM_CHIP_GROUPID" val="5e6b05596848fb12bee65ac8"/>
  <p:tag name="KSO_WM_CHIP_XID" val="5e6b05596848fb12bee65aca"/>
  <p:tag name="KSO_WM_UNIT_DEC_AREA_ID" val="ccd251dd47cd48f6a7a1dc8a0087874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0484a8d5ebf4fa7bfeb420c94df44d8"/>
  <p:tag name="KSO_WM_UNIT_SUPPORT_BIG_FONT" val="1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f444054ed1e2fb80691"/>
  <p:tag name="KSO_WM_TEMPLATE_ASSEMBLE_GROUPID" val="60656f444054ed1e2fb80691"/>
</p:tagLst>
</file>

<file path=ppt/tags/tag242.xml><?xml version="1.0" encoding="utf-8"?>
<p:tagLst xmlns:p="http://schemas.openxmlformats.org/presentationml/2006/main">
  <p:tag name="KSO_WM_BEAUTIFY_FLAG" val="#wm#"/>
  <p:tag name="KSO_WM_TEMPLATE_CATEGORY" val="diagram"/>
  <p:tag name="KSO_WM_TEMPLATE_INDEX" val="20212456"/>
  <p:tag name="KSO_WM_SLIDE_LAYOUT_INFO" val="{&quot;id&quot;:&quot;2021-04-01T15:36:44&quot;,&quot;maxSize&quot;:{&quot;size1&quot;:55.6},&quot;minSize&quot;:{&quot;size1&quot;:40},&quot;normalSize&quot;:{&quot;size1&quot;:40.00018518518518},&quot;subLayout&quot;:[{&quot;id&quot;:&quot;2021-04-01T15:36:44&quot;,&quot;margin&quot;:{&quot;bottom&quot;:0.3970000147819519,&quot;left&quot;:9.737000465393066,&quot;right&quot;:9.737000465393066,&quot;top&quot;:5.079999923706055},&quot;type&quot;:0},{&quot;id&quot;:&quot;2021-04-01T15:36:44&quot;,&quot;margin&quot;:{&quot;bottom&quot;:2.9629998207092285,&quot;left&quot;:9.737000465393066,&quot;right&quot;:9.737000465393066,&quot;top&quot;:0.02600000612437725},&quot;type&quot;:0}],&quot;type&quot;:0}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true,&quot;picture_toward&quot;:0,&quot;picture_dockside&quot;:[],&quot;fill_id&quot;:&quot;af2015d2954c43fe83e1bddafbc45fc3&quot;,&quot;fill_align&quot;:&quot;cm&quot;,&quot;chip_types&quot;:[&quot;header&quot;]},{&quot;text_align&quot;:&quot;lm&quot;,&quot;text_direction&quot;:&quot;horizontal&quot;,&quot;support_big_font&quot;:true,&quot;picture_toward&quot;:0,&quot;picture_dockside&quot;:[],&quot;fill_id&quot;:&quot;1d47bf39492f437c8f915c61c5dd4b40&quot;,&quot;fill_align&quot;:&quot;cm&quot;,&quot;chip_types&quot;:[&quot;text&quot;,&quot;picture&quot;]}]]"/>
  <p:tag name="KSO_WM_CHIP_XID" val="5f2230a6c4814ce96fb13bbe"/>
  <p:tag name="KSO_WM_SLIDE_ID" val="diagram20212456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40"/>
  <p:tag name="KSO_WM_SLIDE_POSITION" val="0*0"/>
  <p:tag name="KSO_WM_TAG_VERSION" val="1.0"/>
  <p:tag name="KSO_WM_SLIDE_LAYOUT" val="a_f"/>
  <p:tag name="KSO_WM_SLIDE_LAYOUT_CNT" val="1_1"/>
  <p:tag name="KSO_WM_CHIP_DECFILLPROP" val="[]"/>
  <p:tag name="KSO_WM_SLIDE_CAN_ADD_NAVIGATION" val="1"/>
  <p:tag name="KSO_WM_CHIP_GROUPID" val="5f2230a6c4814ce96fb13bbd"/>
  <p:tag name="KSO_WM_SLIDE_BK_DARK_LIGHT" val="2"/>
  <p:tag name="KSO_WM_SLIDE_BACKGROUND_TYPE" val="general"/>
  <p:tag name="KSO_WM_SLIDE_SUPPORT_FEATURE_TYPE" val="0"/>
  <p:tag name="KSO_WM_TEMPLATE_ASSEMBLE_XID" val="60656f444054ed1e2fb80691"/>
  <p:tag name="KSO_WM_TEMPLATE_ASSEMBLE_GROUPID" val="60656f444054ed1e2fb80691"/>
</p:tagLst>
</file>

<file path=ppt/tags/tag243.xml><?xml version="1.0" encoding="utf-8"?>
<p:tagLst xmlns:p="http://schemas.openxmlformats.org/presentationml/2006/main">
  <p:tag name="KSO_WM_BEAUTIFY_FLAG" val="#wm#"/>
  <p:tag name="KSO_WM_TEMPLATE_CATEGORY" val="diagram"/>
  <p:tag name="KSO_WM_TEMPLATE_INDEX" val="20212456"/>
</p:tagLst>
</file>

<file path=ppt/tags/tag244.xml><?xml version="1.0" encoding="utf-8"?>
<p:tagLst xmlns:p="http://schemas.openxmlformats.org/presentationml/2006/main">
  <p:tag name="KSO_WM_BEAUTIFY_FLAG" val="#wm#"/>
  <p:tag name="KSO_WM_TEMPLATE_CATEGORY" val="diagram"/>
  <p:tag name="KSO_WM_TEMPLATE_INDEX" val="20212456"/>
</p:tagLst>
</file>

<file path=ppt/tags/tag245.xml><?xml version="1.0" encoding="utf-8"?>
<p:tagLst xmlns:p="http://schemas.openxmlformats.org/presentationml/2006/main">
  <p:tag name="KSO_WM_BEAUTIFY_FLAG" val="#wm#"/>
  <p:tag name="KSO_WM_TEMPLATE_CATEGORY" val="diagram"/>
  <p:tag name="KSO_WM_TEMPLATE_INDEX" val="20212456"/>
</p:tagLst>
</file>

<file path=ppt/tags/tag246.xml><?xml version="1.0" encoding="utf-8"?>
<p:tagLst xmlns:p="http://schemas.openxmlformats.org/presentationml/2006/main">
  <p:tag name="KSO_WM_BEAUTIFY_FLAG" val="#wm#"/>
  <p:tag name="KSO_WM_TEMPLATE_CATEGORY" val="diagram"/>
  <p:tag name="KSO_WM_TEMPLATE_INDEX" val="20212456"/>
</p:tagLst>
</file>

<file path=ppt/tags/tag247.xml><?xml version="1.0" encoding="utf-8"?>
<p:tagLst xmlns:p="http://schemas.openxmlformats.org/presentationml/2006/main">
  <p:tag name="COMMONDATA" val="eyJoZGlkIjoiMjQzYTgzMjY2ODk2ZDhiZGMwNDYyZmE0OWQ1NzIzZWUifQ=="/>
  <p:tag name="KSO_WPP_MARK_KEY" val="7f5617d2-3618-4354-96d5-fc2a79077048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3244</Words>
  <Application>WPS 演示</Application>
  <PresentationFormat>宽屏</PresentationFormat>
  <Paragraphs>294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Arial Unicode MS</vt:lpstr>
      <vt:lpstr>Segoe UI</vt:lpstr>
      <vt:lpstr>Wingdings</vt:lpstr>
      <vt:lpstr>汉仪雅酷黑简</vt:lpstr>
      <vt:lpstr>Office 主题​​</vt:lpstr>
      <vt:lpstr>              nǐ jiā yǒujǐ kǒu rén ？  5       你 家  有  几  口  人  ？      Lesson 5    How many people are there in your family?          　</vt:lpstr>
      <vt:lpstr>PowerPoint 演示文稿</vt:lpstr>
      <vt:lpstr> 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106</cp:revision>
  <dcterms:created xsi:type="dcterms:W3CDTF">2019-08-11T11:31:00Z</dcterms:created>
  <dcterms:modified xsi:type="dcterms:W3CDTF">2025-10-09T01:35:02Z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38EA47957C9A4DF4A6B842A0857A1411</vt:lpwstr>
  </property>
</Properties>
</file>